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16"/>
  </p:notesMasterIdLst>
  <p:sldIdLst>
    <p:sldId id="256" r:id="rId2"/>
    <p:sldId id="257" r:id="rId3"/>
    <p:sldId id="263" r:id="rId4"/>
    <p:sldId id="271" r:id="rId5"/>
    <p:sldId id="270" r:id="rId6"/>
    <p:sldId id="269" r:id="rId7"/>
    <p:sldId id="262" r:id="rId8"/>
    <p:sldId id="261" r:id="rId9"/>
    <p:sldId id="264" r:id="rId10"/>
    <p:sldId id="266" r:id="rId11"/>
    <p:sldId id="268" r:id="rId12"/>
    <p:sldId id="265" r:id="rId13"/>
    <p:sldId id="267" r:id="rId14"/>
    <p:sldId id="259" r:id="rId15"/>
  </p:sldIdLst>
  <p:sldSz cx="18288000" cy="1828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712" userDrawn="1">
          <p15:clr>
            <a:srgbClr val="A4A3A4"/>
          </p15:clr>
        </p15:guide>
        <p15:guide id="2" pos="573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266"/>
    <p:restoredTop sz="96932"/>
  </p:normalViewPr>
  <p:slideViewPr>
    <p:cSldViewPr snapToGrid="0" showGuides="1">
      <p:cViewPr varScale="1">
        <p:scale>
          <a:sx n="47" d="100"/>
          <a:sy n="47" d="100"/>
        </p:scale>
        <p:origin x="3400" y="280"/>
      </p:cViewPr>
      <p:guideLst>
        <p:guide orient="horz" pos="5712"/>
        <p:guide pos="573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B44AB8-C8D2-6C48-A188-05D311D83888}" type="datetimeFigureOut">
              <a:rPr lang="en-US" smtClean="0"/>
              <a:t>4/10/26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885950" y="1143000"/>
            <a:ext cx="30861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CACE96-7AB2-B243-B3F0-FB78F0A5C4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7073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885950" y="1143000"/>
            <a:ext cx="30861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Figure 1. </a:t>
            </a:r>
            <a:r>
              <a:rPr lang="en-US" b="1" dirty="0" err="1"/>
              <a:t>DeepAgent</a:t>
            </a:r>
            <a:r>
              <a:rPr lang="en-US" b="1" dirty="0"/>
              <a:t>: A deep multi-agent system for autonomous ST data and CCI analysis.</a:t>
            </a:r>
            <a:endParaRPr lang="en-US" dirty="0"/>
          </a:p>
          <a:p>
            <a:r>
              <a:rPr lang="en-US" b="1" dirty="0"/>
              <a:t>(A)</a:t>
            </a:r>
            <a:r>
              <a:rPr lang="en-US" dirty="0"/>
              <a:t> Schematic</a:t>
            </a:r>
            <a:r>
              <a:rPr lang="ko-KR" altLang="en-US" dirty="0"/>
              <a:t> </a:t>
            </a:r>
            <a:r>
              <a:rPr lang="en-US" altLang="ko-KR" dirty="0"/>
              <a:t>overview </a:t>
            </a:r>
            <a:r>
              <a:rPr lang="en-US" dirty="0"/>
              <a:t>of </a:t>
            </a:r>
            <a:r>
              <a:rPr lang="en-US" dirty="0" err="1"/>
              <a:t>DeepAgent</a:t>
            </a:r>
            <a:r>
              <a:rPr lang="en-US" dirty="0"/>
              <a:t> The system integrates ST data with single-cell reference data to perform ST data analysis, CCI analysis, and biological interpretation.</a:t>
            </a:r>
          </a:p>
          <a:p>
            <a:r>
              <a:rPr lang="en-US" b="1" dirty="0"/>
              <a:t>(B)</a:t>
            </a:r>
            <a:r>
              <a:rPr lang="en-US" dirty="0"/>
              <a:t> Architecture of </a:t>
            </a:r>
            <a:r>
              <a:rPr lang="en-US" dirty="0" err="1"/>
              <a:t>DeepAgent</a:t>
            </a:r>
            <a:r>
              <a:rPr lang="en-US" dirty="0"/>
              <a:t>. A Supervisor Agent coordinates three Expert Agents (Pipeline builder, Pipeline Executor, and Biological interpreter). These agents interact with five MCP Servers via MCP Client: Article-download for literature download, MAST-RAG for literature retrieval, </a:t>
            </a:r>
            <a:r>
              <a:rPr lang="en-US" dirty="0" err="1"/>
              <a:t>rMCPAgent</a:t>
            </a:r>
            <a:r>
              <a:rPr lang="en-US" dirty="0"/>
              <a:t> for R function integration, SC-reference-selector for single-cell reference dataset selection, and ST-CCI for spatial CCI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CACE96-7AB2-B243-B3F0-FB78F0A5C4C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31598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 </a:t>
            </a:r>
            <a:r>
              <a:rPr lang="en-US" altLang="ko-KR" dirty="0"/>
              <a:t>- </a:t>
            </a:r>
            <a:r>
              <a:rPr lang="ko-KR" altLang="en-US" dirty="0"/>
              <a:t>본문에 **통합 멀티패널 </a:t>
            </a:r>
            <a:r>
              <a:rPr lang="en-US" altLang="ko-KR" dirty="0"/>
              <a:t>1</a:t>
            </a:r>
            <a:r>
              <a:rPr lang="ko-KR" altLang="en-US" dirty="0"/>
              <a:t>개</a:t>
            </a:r>
            <a:r>
              <a:rPr lang="en-US" altLang="ko-KR" dirty="0"/>
              <a:t>(</a:t>
            </a:r>
            <a:r>
              <a:rPr lang="en-US" dirty="0" err="1"/>
              <a:t>Fig.Xa</a:t>
            </a:r>
            <a:r>
              <a:rPr lang="en-US" dirty="0"/>
              <a:t>/b/c)**</a:t>
            </a:r>
            <a:r>
              <a:rPr lang="ko-KR" altLang="en-US" dirty="0"/>
              <a:t>만 둡니다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1. </a:t>
            </a:r>
            <a:r>
              <a:rPr lang="en-US" dirty="0"/>
              <a:t>Panel a: </a:t>
            </a:r>
            <a:r>
              <a:rPr lang="en-US" dirty="0" err="1"/>
              <a:t>fig_composite_cov_boxplot_case_mean.png</a:t>
            </a:r>
            <a:endParaRPr lang="en-US" dirty="0"/>
          </a:p>
          <a:p>
            <a:r>
              <a:rPr lang="en-US" dirty="0"/>
              <a:t>     </a:t>
            </a:r>
            <a:r>
              <a:rPr lang="ko-KR" altLang="en-US" dirty="0"/>
              <a:t>목적</a:t>
            </a:r>
            <a:r>
              <a:rPr lang="en-US" altLang="ko-KR" dirty="0"/>
              <a:t>: “</a:t>
            </a:r>
            <a:r>
              <a:rPr lang="ko-KR" altLang="en-US" dirty="0"/>
              <a:t>찾아내는 양</a:t>
            </a:r>
            <a:r>
              <a:rPr lang="en-US" altLang="ko-KR" dirty="0"/>
              <a:t>(</a:t>
            </a:r>
            <a:r>
              <a:rPr lang="en-US" dirty="0"/>
              <a:t>coverage) </a:t>
            </a:r>
            <a:r>
              <a:rPr lang="ko-KR" altLang="en-US" dirty="0"/>
              <a:t>자체가 </a:t>
            </a:r>
            <a:r>
              <a:rPr lang="en-US" dirty="0"/>
              <a:t>baseline</a:t>
            </a:r>
            <a:r>
              <a:rPr lang="ko-KR" altLang="en-US" dirty="0"/>
              <a:t>보다 충분히 높다”</a:t>
            </a:r>
          </a:p>
          <a:p>
            <a:r>
              <a:rPr lang="ko-KR" altLang="en-US" dirty="0"/>
              <a:t>  </a:t>
            </a:r>
            <a:r>
              <a:rPr lang="en-US" altLang="ko-KR" dirty="0"/>
              <a:t>2. </a:t>
            </a:r>
            <a:r>
              <a:rPr lang="en-US" dirty="0"/>
              <a:t>Panel b: </a:t>
            </a:r>
            <a:r>
              <a:rPr lang="en-US" dirty="0" err="1"/>
              <a:t>fig_contamination_boxplot_case_mean.png</a:t>
            </a:r>
            <a:endParaRPr lang="en-US" dirty="0"/>
          </a:p>
          <a:p>
            <a:r>
              <a:rPr lang="en-US" dirty="0"/>
              <a:t>     </a:t>
            </a:r>
            <a:r>
              <a:rPr lang="ko-KR" altLang="en-US" dirty="0"/>
              <a:t>목적</a:t>
            </a:r>
            <a:r>
              <a:rPr lang="en-US" altLang="ko-KR" dirty="0"/>
              <a:t>: “</a:t>
            </a:r>
            <a:r>
              <a:rPr lang="ko-KR" altLang="en-US" dirty="0"/>
              <a:t>질병 필터가 오염</a:t>
            </a:r>
            <a:r>
              <a:rPr lang="en-US" altLang="ko-KR" dirty="0"/>
              <a:t>(</a:t>
            </a:r>
            <a:r>
              <a:rPr lang="ko-KR" altLang="en-US" dirty="0" err="1"/>
              <a:t>할루시네이션성</a:t>
            </a:r>
            <a:r>
              <a:rPr lang="ko-KR" altLang="en-US" dirty="0"/>
              <a:t> 문맥 미스매치</a:t>
            </a:r>
            <a:r>
              <a:rPr lang="en-US" altLang="ko-KR" dirty="0"/>
              <a:t>)</a:t>
            </a:r>
            <a:r>
              <a:rPr lang="ko-KR" altLang="en-US" dirty="0"/>
              <a:t>을 강하게 억제한다”</a:t>
            </a:r>
          </a:p>
          <a:p>
            <a:r>
              <a:rPr lang="ko-KR" altLang="en-US" dirty="0"/>
              <a:t>  </a:t>
            </a:r>
            <a:r>
              <a:rPr lang="en-US" altLang="ko-KR" dirty="0"/>
              <a:t>3. </a:t>
            </a:r>
            <a:r>
              <a:rPr lang="en-US" dirty="0"/>
              <a:t>Panel c: fig_dynamic_repro_top10_vs_tail20_case_boxplot.png</a:t>
            </a:r>
          </a:p>
          <a:p>
            <a:r>
              <a:rPr lang="en-US" dirty="0"/>
              <a:t>     </a:t>
            </a:r>
            <a:r>
              <a:rPr lang="ko-KR" altLang="en-US" dirty="0"/>
              <a:t>목적</a:t>
            </a:r>
            <a:r>
              <a:rPr lang="en-US" altLang="ko-KR" dirty="0"/>
              <a:t>: “</a:t>
            </a:r>
            <a:r>
              <a:rPr lang="en-US" dirty="0"/>
              <a:t>Top-10</a:t>
            </a:r>
            <a:r>
              <a:rPr lang="ko-KR" altLang="en-US" dirty="0"/>
              <a:t>은 안정적</a:t>
            </a:r>
            <a:r>
              <a:rPr lang="en-US" altLang="ko-KR" dirty="0"/>
              <a:t>(</a:t>
            </a:r>
            <a:r>
              <a:rPr lang="ko-KR" altLang="en-US" dirty="0"/>
              <a:t>재현성 높음</a:t>
            </a:r>
            <a:r>
              <a:rPr lang="en-US" altLang="ko-KR" dirty="0"/>
              <a:t>), </a:t>
            </a:r>
            <a:r>
              <a:rPr lang="en-US" dirty="0"/>
              <a:t>Tail-20</a:t>
            </a:r>
            <a:r>
              <a:rPr lang="ko-KR" altLang="en-US" dirty="0"/>
              <a:t>은 다양성 유지”</a:t>
            </a:r>
          </a:p>
          <a:p>
            <a:endParaRPr lang="ko-KR" altLang="en-US" dirty="0"/>
          </a:p>
          <a:p>
            <a:r>
              <a:rPr lang="ko-KR" altLang="en-US" dirty="0"/>
              <a:t>  왜 이 구성이 맞나</a:t>
            </a:r>
          </a:p>
          <a:p>
            <a:endParaRPr lang="ko-KR" altLang="en-US" dirty="0"/>
          </a:p>
          <a:p>
            <a:r>
              <a:rPr lang="ko-KR" altLang="en-US" dirty="0"/>
              <a:t>  </a:t>
            </a:r>
            <a:r>
              <a:rPr lang="en-US" altLang="ko-KR" dirty="0"/>
              <a:t>- </a:t>
            </a:r>
            <a:r>
              <a:rPr lang="en-US" dirty="0" err="1"/>
              <a:t>a+b</a:t>
            </a:r>
            <a:r>
              <a:rPr lang="ko-KR" altLang="en-US" dirty="0"/>
              <a:t>가 “정확도</a:t>
            </a:r>
            <a:r>
              <a:rPr lang="en-US" altLang="ko-KR" dirty="0"/>
              <a:t>/</a:t>
            </a:r>
            <a:r>
              <a:rPr lang="ko-KR" altLang="en-US" dirty="0"/>
              <a:t>안전성</a:t>
            </a:r>
            <a:r>
              <a:rPr lang="en-US" altLang="ko-KR" dirty="0"/>
              <a:t>(</a:t>
            </a:r>
            <a:r>
              <a:rPr lang="ko-KR" altLang="en-US" dirty="0" err="1"/>
              <a:t>무할루시네이션</a:t>
            </a:r>
            <a:r>
              <a:rPr lang="en-US" altLang="ko-KR" dirty="0"/>
              <a:t>)”</a:t>
            </a:r>
            <a:r>
              <a:rPr lang="ko-KR" altLang="en-US" dirty="0"/>
              <a:t>의 핵심 증거 사슬</a:t>
            </a:r>
          </a:p>
          <a:p>
            <a:r>
              <a:rPr lang="ko-KR" altLang="en-US" dirty="0"/>
              <a:t>  </a:t>
            </a:r>
            <a:r>
              <a:rPr lang="en-US" altLang="ko-KR" dirty="0"/>
              <a:t>- </a:t>
            </a:r>
            <a:r>
              <a:rPr lang="en-US" dirty="0"/>
              <a:t>c</a:t>
            </a:r>
            <a:r>
              <a:rPr lang="ko-KR" altLang="en-US" dirty="0"/>
              <a:t>가 “안전하게 찾은 결과가 반복 시 어떻게 동작하는지</a:t>
            </a:r>
            <a:r>
              <a:rPr lang="en-US" altLang="ko-KR" dirty="0"/>
              <a:t>(</a:t>
            </a:r>
            <a:r>
              <a:rPr lang="ko-KR" altLang="en-US" dirty="0"/>
              <a:t>안정성</a:t>
            </a:r>
            <a:r>
              <a:rPr lang="en-US" altLang="ko-KR" dirty="0"/>
              <a:t>+</a:t>
            </a:r>
            <a:r>
              <a:rPr lang="ko-KR" altLang="en-US" dirty="0" err="1"/>
              <a:t>탐색성</a:t>
            </a:r>
            <a:r>
              <a:rPr lang="en-US" altLang="ko-KR" dirty="0"/>
              <a:t>)”</a:t>
            </a:r>
            <a:r>
              <a:rPr lang="ko-KR" altLang="en-US" dirty="0" err="1"/>
              <a:t>를</a:t>
            </a:r>
            <a:r>
              <a:rPr lang="ko-KR" altLang="en-US" dirty="0"/>
              <a:t> 보강</a:t>
            </a:r>
          </a:p>
          <a:p>
            <a:r>
              <a:rPr lang="ko-KR" altLang="en-US" dirty="0"/>
              <a:t>  </a:t>
            </a:r>
            <a:r>
              <a:rPr lang="en-US" altLang="ko-KR" dirty="0"/>
              <a:t>- </a:t>
            </a:r>
            <a:r>
              <a:rPr lang="ko-KR" altLang="en-US" dirty="0"/>
              <a:t>즉</a:t>
            </a:r>
            <a:r>
              <a:rPr lang="en-US" altLang="ko-KR" dirty="0"/>
              <a:t>, “</a:t>
            </a:r>
            <a:r>
              <a:rPr lang="ko-KR" altLang="en-US" dirty="0"/>
              <a:t>많이 찾기만 한 게 아니라</a:t>
            </a:r>
            <a:r>
              <a:rPr lang="en-US" altLang="ko-KR" dirty="0"/>
              <a:t>, </a:t>
            </a:r>
            <a:r>
              <a:rPr lang="ko-KR" altLang="en-US" dirty="0"/>
              <a:t>오염을 통제하면서 핵심은 </a:t>
            </a:r>
            <a:r>
              <a:rPr lang="ko-KR" altLang="en-US" dirty="0" err="1"/>
              <a:t>안정적”이라는</a:t>
            </a:r>
            <a:r>
              <a:rPr lang="ko-KR" altLang="en-US" dirty="0"/>
              <a:t> 논리</a:t>
            </a:r>
          </a:p>
          <a:p>
            <a:r>
              <a:rPr lang="ko-KR" altLang="en-US" dirty="0"/>
              <a:t>    흐름이 완성됩니다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en-US" dirty="0"/>
              <a:t>Supplement</a:t>
            </a:r>
            <a:r>
              <a:rPr lang="ko-KR" altLang="en-US" dirty="0"/>
              <a:t>로 보내는 것</a:t>
            </a:r>
          </a:p>
          <a:p>
            <a:endParaRPr lang="ko-KR" altLang="en-US" dirty="0"/>
          </a:p>
          <a:p>
            <a:r>
              <a:rPr lang="ko-KR" altLang="en-US" dirty="0"/>
              <a:t>  </a:t>
            </a:r>
            <a:r>
              <a:rPr lang="en-US" altLang="ko-KR" dirty="0"/>
              <a:t>- </a:t>
            </a:r>
            <a:r>
              <a:rPr lang="en-US" dirty="0"/>
              <a:t>fig_dynamic_repro_top10_vs_tail20_pair_violin_box.png</a:t>
            </a:r>
          </a:p>
          <a:p>
            <a:r>
              <a:rPr lang="en-US" dirty="0"/>
              <a:t>    </a:t>
            </a:r>
            <a:r>
              <a:rPr lang="ko-KR" altLang="en-US" dirty="0"/>
              <a:t>역할</a:t>
            </a:r>
            <a:r>
              <a:rPr lang="en-US" altLang="ko-KR" dirty="0"/>
              <a:t>: </a:t>
            </a:r>
            <a:r>
              <a:rPr lang="en-US" dirty="0"/>
              <a:t>case-level </a:t>
            </a:r>
            <a:r>
              <a:rPr lang="ko-KR" altLang="en-US" dirty="0"/>
              <a:t>결론을 </a:t>
            </a:r>
            <a:r>
              <a:rPr lang="en-US" dirty="0"/>
              <a:t>pairwise(5700</a:t>
            </a:r>
            <a:r>
              <a:rPr lang="ko-KR" altLang="en-US" dirty="0"/>
              <a:t>쌍</a:t>
            </a:r>
            <a:r>
              <a:rPr lang="en-US" altLang="ko-KR" dirty="0"/>
              <a:t>)</a:t>
            </a:r>
            <a:r>
              <a:rPr lang="ko-KR" altLang="en-US" dirty="0"/>
              <a:t>에서도 재확인하는 보강 증거</a:t>
            </a:r>
          </a:p>
          <a:p>
            <a:r>
              <a:rPr lang="ko-KR" altLang="en-US" dirty="0"/>
              <a:t>  </a:t>
            </a:r>
            <a:r>
              <a:rPr lang="en-US" altLang="ko-KR" dirty="0"/>
              <a:t>- </a:t>
            </a:r>
            <a:r>
              <a:rPr lang="ko-KR" altLang="en-US" dirty="0"/>
              <a:t>필요 시 </a:t>
            </a:r>
            <a:r>
              <a:rPr lang="en-US" dirty="0" err="1"/>
              <a:t>fig_dynamic_repro_pairwise_violin_box.png</a:t>
            </a:r>
            <a:r>
              <a:rPr lang="en-US" dirty="0"/>
              <a:t>(Jaccard vs Top-10) </a:t>
            </a:r>
            <a:r>
              <a:rPr lang="ko-KR" altLang="en-US" dirty="0"/>
              <a:t>추가</a:t>
            </a:r>
          </a:p>
          <a:p>
            <a:endParaRPr lang="ko-KR" altLang="en-US" dirty="0"/>
          </a:p>
          <a:p>
            <a:r>
              <a:rPr lang="ko-KR" altLang="en-US" dirty="0"/>
              <a:t>  캡션 문구 핵심 프레임</a:t>
            </a:r>
          </a:p>
          <a:p>
            <a:endParaRPr lang="ko-KR" altLang="en-US" dirty="0"/>
          </a:p>
          <a:p>
            <a:r>
              <a:rPr lang="ko-KR" altLang="en-US" dirty="0"/>
              <a:t>  </a:t>
            </a:r>
            <a:r>
              <a:rPr lang="en-US" altLang="ko-KR" dirty="0"/>
              <a:t>- “</a:t>
            </a:r>
            <a:r>
              <a:rPr lang="en-US" dirty="0"/>
              <a:t>Dynamic</a:t>
            </a:r>
            <a:r>
              <a:rPr lang="ko-KR" altLang="en-US" dirty="0"/>
              <a:t>은 </a:t>
            </a:r>
            <a:r>
              <a:rPr lang="en-US" dirty="0"/>
              <a:t>baseline </a:t>
            </a:r>
            <a:r>
              <a:rPr lang="ko-KR" altLang="en-US" dirty="0"/>
              <a:t>대비 높은 </a:t>
            </a:r>
            <a:r>
              <a:rPr lang="en-US" dirty="0"/>
              <a:t>coverage</a:t>
            </a:r>
            <a:r>
              <a:rPr lang="ko-KR" altLang="en-US" dirty="0" err="1"/>
              <a:t>를</a:t>
            </a:r>
            <a:r>
              <a:rPr lang="ko-KR" altLang="en-US" dirty="0"/>
              <a:t> 유지하면서</a:t>
            </a:r>
            <a:r>
              <a:rPr lang="en-US" altLang="ko-KR" dirty="0"/>
              <a:t>, </a:t>
            </a:r>
            <a:r>
              <a:rPr lang="en-US" dirty="0"/>
              <a:t>disease filter</a:t>
            </a:r>
            <a:r>
              <a:rPr lang="ko-KR" altLang="en-US" dirty="0"/>
              <a:t>로</a:t>
            </a:r>
          </a:p>
          <a:p>
            <a:r>
              <a:rPr lang="ko-KR" altLang="en-US" dirty="0"/>
              <a:t>    </a:t>
            </a:r>
            <a:r>
              <a:rPr lang="en-US" dirty="0"/>
              <a:t>contamination</a:t>
            </a:r>
            <a:r>
              <a:rPr lang="ko-KR" altLang="en-US" dirty="0"/>
              <a:t>을 억제한다</a:t>
            </a:r>
            <a:r>
              <a:rPr lang="en-US" altLang="ko-KR" dirty="0"/>
              <a:t>. </a:t>
            </a:r>
            <a:r>
              <a:rPr lang="ko-KR" altLang="en-US" dirty="0"/>
              <a:t>또한 반복 실행에서 </a:t>
            </a:r>
            <a:r>
              <a:rPr lang="en-US" dirty="0"/>
              <a:t>Top-10 </a:t>
            </a:r>
            <a:r>
              <a:rPr lang="ko-KR" altLang="en-US" dirty="0"/>
              <a:t>후보는 높은 일치도를</a:t>
            </a:r>
          </a:p>
          <a:p>
            <a:r>
              <a:rPr lang="ko-KR" altLang="en-US" dirty="0"/>
              <a:t>    보이고</a:t>
            </a:r>
            <a:r>
              <a:rPr lang="en-US" altLang="ko-KR" dirty="0"/>
              <a:t>, </a:t>
            </a:r>
            <a:r>
              <a:rPr lang="en-US" dirty="0"/>
              <a:t>Tail-20</a:t>
            </a:r>
            <a:r>
              <a:rPr lang="ko-KR" altLang="en-US" dirty="0"/>
              <a:t>은 상대적으로 다양한 후보를 제공한다</a:t>
            </a:r>
            <a:r>
              <a:rPr lang="en-US" altLang="ko-KR" dirty="0"/>
              <a:t>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CACE96-7AB2-B243-B3F0-FB78F0A5C4C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53999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7F2C8E-233C-0CFE-A2B2-B0637774AA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0EC2C1-6B05-2359-CA38-E1916CE456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885950" y="1143000"/>
            <a:ext cx="30861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195D42-8C09-6D1F-405C-36C3A9D005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Figure 2. Pipeline builder agent autonomously constructs customized spatial transcriptomics analysis workflows.</a:t>
            </a:r>
            <a:endParaRPr lang="en-US" dirty="0"/>
          </a:p>
          <a:p>
            <a:r>
              <a:rPr lang="en-US" b="1" dirty="0"/>
              <a:t>(A)</a:t>
            </a:r>
            <a:r>
              <a:rPr lang="en-US" dirty="0"/>
              <a:t> Detailed architecture of the Pipeline builder agent. The agent follows a sequential workflow including information collection, pipeline generation with Human in the loop (HITL).</a:t>
            </a:r>
          </a:p>
          <a:p>
            <a:r>
              <a:rPr lang="en-US" b="1" dirty="0"/>
              <a:t>(B)</a:t>
            </a:r>
            <a:r>
              <a:rPr lang="en-US" dirty="0"/>
              <a:t> Example of the information collection process. The agent interacts with users to gather essential metadata including technology platform, sample details, computational resources, and analysis objectives required for pipeline construction.</a:t>
            </a:r>
          </a:p>
          <a:p>
            <a:r>
              <a:rPr lang="en-US" b="1" dirty="0"/>
              <a:t>(C)</a:t>
            </a:r>
            <a:r>
              <a:rPr lang="en-US" dirty="0"/>
              <a:t> Knowledge-augmented pipeline selection using MAST-RAG. When users request reference-based pipelines, the agent generates multiple specific queries to retrieve optimal methods from the knowledge base.</a:t>
            </a:r>
          </a:p>
          <a:p>
            <a:r>
              <a:rPr lang="en-US" b="1" dirty="0"/>
              <a:t>(D)</a:t>
            </a:r>
            <a:r>
              <a:rPr lang="en-US" dirty="0"/>
              <a:t> Output of the Pipeline builder agent. The generated pipeline provides a complete spatial transcriptomics analysis workflow including step-by-step procedures (data normalization, cell type deconvolution, spatial clustering).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1963EB-4FD9-959C-821E-7014152D6E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CACE96-7AB2-B243-B3F0-FB78F0A5C4C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0225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096AD3-7D14-F13A-2870-78F54E4575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F8FB71-2490-67ED-DAB0-7EE5F41DA5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885950" y="1143000"/>
            <a:ext cx="30861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107948-AEF3-1E11-51A1-C15F9222A7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Figure 3. Pipeline Executor Agent executes spatial transcriptomics workflows.</a:t>
            </a:r>
            <a:endParaRPr lang="en-US" dirty="0"/>
          </a:p>
          <a:p>
            <a:r>
              <a:rPr lang="en-US" b="1" dirty="0"/>
              <a:t>(A)</a:t>
            </a:r>
            <a:r>
              <a:rPr lang="en-US" dirty="0"/>
              <a:t> Detailed architecture of the Pipeline Executor Agent. The agent orchestrates the complete execution workflow including pipeline preparation, data loading (ST and single-cell reference data when needed), and automated execution through MCP Servers.</a:t>
            </a:r>
          </a:p>
          <a:p>
            <a:r>
              <a:rPr lang="en-US" b="1" dirty="0"/>
              <a:t>(B)</a:t>
            </a:r>
            <a:r>
              <a:rPr lang="en-US" dirty="0"/>
              <a:t> TBD</a:t>
            </a:r>
          </a:p>
          <a:p>
            <a:r>
              <a:rPr lang="en-US" b="1" dirty="0"/>
              <a:t>(C)</a:t>
            </a:r>
            <a:r>
              <a:rPr lang="en-US" dirty="0"/>
              <a:t> Schematic overview of </a:t>
            </a:r>
            <a:r>
              <a:rPr lang="en-US" dirty="0" err="1"/>
              <a:t>rMCPAgent</a:t>
            </a:r>
            <a:r>
              <a:rPr lang="en-US" dirty="0"/>
              <a:t>. The agent converts R functions into MCP servers through five sequential steps with workflow templates: input validation, data loading, workflow integration, error handling, and output validation. The processed workflows are then deployed as MCP servers for automated analysis.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A6C8C5-88F0-3A54-D3DB-44EEA1760C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CACE96-7AB2-B243-B3F0-FB78F0A5C4C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5267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CACE96-7AB2-B243-B3F0-FB78F0A5C4C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7093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6177B8-051D-7ADA-1478-062F80C3B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5E9209-6FCD-7E69-5AB5-86BA89AE1B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885950" y="1143000"/>
            <a:ext cx="30861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B34700-9294-FEEC-756B-10947A3370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C6B104-0F16-143A-CE41-2D52197EAA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CACE96-7AB2-B243-B3F0-FB78F0A5C4C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1627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885950" y="1143000"/>
            <a:ext cx="30861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Figure 4. Biological Interpreter Agent performs autonomous spatial cell-cell interaction analysis.</a:t>
            </a:r>
            <a:endParaRPr lang="en-US" dirty="0"/>
          </a:p>
          <a:p>
            <a:r>
              <a:rPr lang="en-US" b="1" dirty="0"/>
              <a:t>(A)</a:t>
            </a:r>
            <a:r>
              <a:rPr lang="en-US" dirty="0"/>
              <a:t> Detailed architecture of the Biological Interpreter Agent. The agent utilizes multiple MCP servers to perform automated biological interpretation with human-in-the-loop validation at critical decision points.</a:t>
            </a:r>
          </a:p>
          <a:p>
            <a:r>
              <a:rPr lang="en-US" b="1" dirty="0"/>
              <a:t>(B)</a:t>
            </a:r>
            <a:r>
              <a:rPr lang="en-US" dirty="0"/>
              <a:t> Workflow of the ST-CCI MCP server. The analysis consists of three parts: Part 1 (Steps 1-5) performs exploratory spatial analysis. Part 2 (Steps 6-9) conducts cell-cell interaction analysis using non-negative matrix factorization (NMF) to identify ligand-receptor (LR) interaction patterns. Part 3 (Steps 10-11) provides characterization and visualization of key LR pairs with quantitative analysis. The workflow concludes with an integrated summary of findings, clinical and therapeutic implications, and methodological innovations.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CACE96-7AB2-B243-B3F0-FB78F0A5C4C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9292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2992968"/>
            <a:ext cx="15544800" cy="6366933"/>
          </a:xfrm>
        </p:spPr>
        <p:txBody>
          <a:bodyPr anchor="b"/>
          <a:lstStyle>
            <a:lvl1pPr algn="ctr">
              <a:defRPr sz="1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0" y="9605435"/>
            <a:ext cx="13716000" cy="4415365"/>
          </a:xfrm>
        </p:spPr>
        <p:txBody>
          <a:bodyPr/>
          <a:lstStyle>
            <a:lvl1pPr marL="0" indent="0" algn="ctr">
              <a:buNone/>
              <a:defRPr sz="4800"/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47055-459B-C345-AAA3-B8FDF97E4C97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5A499-64D8-C949-B147-724D33CCD1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240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47055-459B-C345-AAA3-B8FDF97E4C97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5A499-64D8-C949-B147-724D33CCD1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6218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7776" y="4559305"/>
            <a:ext cx="15773400" cy="7607299"/>
          </a:xfrm>
        </p:spPr>
        <p:txBody>
          <a:bodyPr anchor="b"/>
          <a:lstStyle>
            <a:lvl1pPr>
              <a:defRPr sz="1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47776" y="12238572"/>
            <a:ext cx="15773400" cy="4000499"/>
          </a:xfrm>
        </p:spPr>
        <p:txBody>
          <a:bodyPr/>
          <a:lstStyle>
            <a:lvl1pPr marL="0" indent="0">
              <a:buNone/>
              <a:defRPr sz="4800">
                <a:solidFill>
                  <a:schemeClr val="tx1">
                    <a:tint val="82000"/>
                  </a:schemeClr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47055-459B-C345-AAA3-B8FDF97E4C97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5A499-64D8-C949-B147-724D33CCD1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0916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4868333"/>
            <a:ext cx="7772400" cy="116035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58300" y="4868333"/>
            <a:ext cx="7772400" cy="116035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47055-459B-C345-AAA3-B8FDF97E4C97}" type="datetimeFigureOut">
              <a:rPr lang="en-US" smtClean="0"/>
              <a:t>4/10/26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5A499-64D8-C949-B147-724D33CCD1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0191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2" y="973670"/>
            <a:ext cx="15773400" cy="353483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9684" y="4483101"/>
            <a:ext cx="7736680" cy="2197099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9684" y="6680200"/>
            <a:ext cx="7736680" cy="98255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58301" y="4483101"/>
            <a:ext cx="7774782" cy="2197099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58301" y="6680200"/>
            <a:ext cx="7774782" cy="98255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47055-459B-C345-AAA3-B8FDF97E4C97}" type="datetimeFigureOut">
              <a:rPr lang="en-US" smtClean="0"/>
              <a:t>4/10/26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5A499-64D8-C949-B147-724D33CCD1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5084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47055-459B-C345-AAA3-B8FDF97E4C97}" type="datetimeFigureOut">
              <a:rPr lang="en-US" smtClean="0"/>
              <a:t>4/10/26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5A499-64D8-C949-B147-724D33CCD1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8854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47055-459B-C345-AAA3-B8FDF97E4C97}" type="datetimeFigureOut">
              <a:rPr lang="en-US" smtClean="0"/>
              <a:t>4/10/26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5A499-64D8-C949-B147-724D33CCD1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375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2" y="1219200"/>
            <a:ext cx="5898356" cy="4267200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74782" y="2633137"/>
            <a:ext cx="9258300" cy="12996333"/>
          </a:xfrm>
        </p:spPr>
        <p:txBody>
          <a:bodyPr/>
          <a:lstStyle>
            <a:lvl1pPr>
              <a:defRPr sz="6400"/>
            </a:lvl1pPr>
            <a:lvl2pPr>
              <a:defRPr sz="5600"/>
            </a:lvl2pPr>
            <a:lvl3pPr>
              <a:defRPr sz="4800"/>
            </a:lvl3pPr>
            <a:lvl4pPr>
              <a:defRPr sz="4000"/>
            </a:lvl4pPr>
            <a:lvl5pPr>
              <a:defRPr sz="4000"/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2" y="5486400"/>
            <a:ext cx="5898356" cy="10164235"/>
          </a:xfr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47055-459B-C345-AAA3-B8FDF97E4C97}" type="datetimeFigureOut">
              <a:rPr lang="en-US" smtClean="0"/>
              <a:t>4/10/26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5A499-64D8-C949-B147-724D33CCD1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647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2" y="1219200"/>
            <a:ext cx="5898356" cy="4267200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774782" y="2633137"/>
            <a:ext cx="9258300" cy="12996333"/>
          </a:xfrm>
        </p:spPr>
        <p:txBody>
          <a:bodyPr anchor="t"/>
          <a:lstStyle>
            <a:lvl1pPr marL="0" indent="0">
              <a:buNone/>
              <a:defRPr sz="6400"/>
            </a:lvl1pPr>
            <a:lvl2pPr marL="914400" indent="0">
              <a:buNone/>
              <a:defRPr sz="5600"/>
            </a:lvl2pPr>
            <a:lvl3pPr marL="1828800" indent="0">
              <a:buNone/>
              <a:defRPr sz="4800"/>
            </a:lvl3pPr>
            <a:lvl4pPr marL="2743200" indent="0">
              <a:buNone/>
              <a:defRPr sz="4000"/>
            </a:lvl4pPr>
            <a:lvl5pPr marL="3657600" indent="0">
              <a:buNone/>
              <a:defRPr sz="4000"/>
            </a:lvl5pPr>
            <a:lvl6pPr marL="4572000" indent="0">
              <a:buNone/>
              <a:defRPr sz="4000"/>
            </a:lvl6pPr>
            <a:lvl7pPr marL="5486400" indent="0">
              <a:buNone/>
              <a:defRPr sz="4000"/>
            </a:lvl7pPr>
            <a:lvl8pPr marL="6400800" indent="0">
              <a:buNone/>
              <a:defRPr sz="4000"/>
            </a:lvl8pPr>
            <a:lvl9pPr marL="7315200" indent="0">
              <a:buNone/>
              <a:defRPr sz="4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2" y="5486400"/>
            <a:ext cx="5898356" cy="10164235"/>
          </a:xfr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47055-459B-C345-AAA3-B8FDF97E4C97}" type="datetimeFigureOut">
              <a:rPr lang="en-US" smtClean="0"/>
              <a:t>4/10/26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5A499-64D8-C949-B147-724D33CCD1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4972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47055-459B-C345-AAA3-B8FDF97E4C97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5A499-64D8-C949-B147-724D33CCD1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162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087351" y="973666"/>
            <a:ext cx="3943350" cy="154982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1" y="973666"/>
            <a:ext cx="11601450" cy="1549823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47055-459B-C345-AAA3-B8FDF97E4C97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5A499-64D8-C949-B147-724D33CCD1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3500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7300" y="973670"/>
            <a:ext cx="15773400" cy="35348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7300" y="4868333"/>
            <a:ext cx="15773400" cy="116035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7300" y="16950271"/>
            <a:ext cx="4114800" cy="973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647055-459B-C345-AAA3-B8FDF97E4C97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57900" y="16950271"/>
            <a:ext cx="6172200" cy="973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915900" y="16950271"/>
            <a:ext cx="4114800" cy="973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B5A499-64D8-C949-B147-724D33CCD1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416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extBox 59">
            <a:extLst>
              <a:ext uri="{FF2B5EF4-FFF2-40B4-BE49-F238E27FC236}">
                <a16:creationId xmlns:a16="http://schemas.microsoft.com/office/drawing/2014/main" id="{ECDBB265-8D07-39C0-3ABC-39F69B89F5EF}"/>
              </a:ext>
            </a:extLst>
          </p:cNvPr>
          <p:cNvSpPr txBox="1"/>
          <p:nvPr/>
        </p:nvSpPr>
        <p:spPr>
          <a:xfrm>
            <a:off x="21695366" y="12582744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Fig 1</a:t>
            </a:r>
          </a:p>
        </p:txBody>
      </p:sp>
      <p:sp>
        <p:nvSpPr>
          <p:cNvPr id="1147" name="TextBox 1146">
            <a:extLst>
              <a:ext uri="{FF2B5EF4-FFF2-40B4-BE49-F238E27FC236}">
                <a16:creationId xmlns:a16="http://schemas.microsoft.com/office/drawing/2014/main" id="{53DE63B7-8F2D-78E0-444B-5F139E77C926}"/>
              </a:ext>
            </a:extLst>
          </p:cNvPr>
          <p:cNvSpPr txBox="1"/>
          <p:nvPr/>
        </p:nvSpPr>
        <p:spPr>
          <a:xfrm>
            <a:off x="4029786" y="2966762"/>
            <a:ext cx="327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</a:t>
            </a:r>
          </a:p>
        </p:txBody>
      </p:sp>
      <p:sp>
        <p:nvSpPr>
          <p:cNvPr id="1148" name="TextBox 1147">
            <a:extLst>
              <a:ext uri="{FF2B5EF4-FFF2-40B4-BE49-F238E27FC236}">
                <a16:creationId xmlns:a16="http://schemas.microsoft.com/office/drawing/2014/main" id="{3FFFC079-53D6-8F26-9D98-7A6CC1692BEA}"/>
              </a:ext>
            </a:extLst>
          </p:cNvPr>
          <p:cNvSpPr txBox="1"/>
          <p:nvPr/>
        </p:nvSpPr>
        <p:spPr>
          <a:xfrm>
            <a:off x="16566776" y="17450208"/>
            <a:ext cx="6396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 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5386511-E3C2-A5CF-583D-032ACE0CF517}"/>
              </a:ext>
            </a:extLst>
          </p:cNvPr>
          <p:cNvSpPr txBox="1"/>
          <p:nvPr/>
        </p:nvSpPr>
        <p:spPr>
          <a:xfrm>
            <a:off x="7876434" y="2966762"/>
            <a:ext cx="327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B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27D27F2-25D9-190C-32FC-10BB72F68A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7653" y="3336093"/>
            <a:ext cx="3756183" cy="100584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4E54417-72FB-7B6D-1A9F-1F3592B49C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1904" y="4243865"/>
            <a:ext cx="8974703" cy="4900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6878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FE3A4C-0A6B-3D6A-4623-535A04331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F0DFDFB-3C5D-9224-C2D2-3D28775D4A5A}"/>
              </a:ext>
            </a:extLst>
          </p:cNvPr>
          <p:cNvSpPr txBox="1"/>
          <p:nvPr/>
        </p:nvSpPr>
        <p:spPr>
          <a:xfrm>
            <a:off x="16566777" y="12711953"/>
            <a:ext cx="704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Fig. </a:t>
            </a:r>
            <a:r>
              <a:rPr lang="en-US" altLang="ko-KR" dirty="0"/>
              <a:t>2</a:t>
            </a:r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9211B9A-495B-EA1C-69E7-4741149120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8887" y="3022885"/>
            <a:ext cx="4290522" cy="10058400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517EB233-F58F-1284-790C-A572ADE2CEC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35418" y="5619128"/>
            <a:ext cx="8515350" cy="4865914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18D550C8-17AE-DEB1-BDCC-B2C59AE6C5BC}"/>
              </a:ext>
            </a:extLst>
          </p:cNvPr>
          <p:cNvSpPr txBox="1"/>
          <p:nvPr/>
        </p:nvSpPr>
        <p:spPr>
          <a:xfrm flipH="1">
            <a:off x="2674619" y="3214688"/>
            <a:ext cx="2543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29306884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D92EFB-8231-0BAF-6B5A-8CC118473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C51C400-C88A-E25D-72AA-F8C763925BA5}"/>
              </a:ext>
            </a:extLst>
          </p:cNvPr>
          <p:cNvSpPr txBox="1"/>
          <p:nvPr/>
        </p:nvSpPr>
        <p:spPr>
          <a:xfrm>
            <a:off x="16566777" y="12711953"/>
            <a:ext cx="7053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Fig. </a:t>
            </a:r>
            <a:r>
              <a:rPr lang="en-US" altLang="ko-KR" dirty="0"/>
              <a:t>3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EE7F70-95FA-3985-94C6-D35E8B1364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8328" y="5140037"/>
            <a:ext cx="27432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78348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DB333A-E18D-9DC8-A84D-930FE70F4A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8D2CAB0-4465-06DF-1990-A181B055C379}"/>
              </a:ext>
            </a:extLst>
          </p:cNvPr>
          <p:cNvSpPr txBox="1"/>
          <p:nvPr/>
        </p:nvSpPr>
        <p:spPr>
          <a:xfrm>
            <a:off x="16566777" y="12711953"/>
            <a:ext cx="7053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Fig. </a:t>
            </a:r>
            <a:r>
              <a:rPr lang="en-US" altLang="ko-KR" dirty="0"/>
              <a:t>4</a:t>
            </a:r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80C75578-46C7-CC69-9E46-0514CCBB3CB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47408" y="11529114"/>
            <a:ext cx="7772400" cy="3886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B47EF33-4F0F-1606-FB0B-67F2F24A31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1323" y="1470714"/>
            <a:ext cx="7184571" cy="100584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74BEA6D-3C82-9C44-7108-996755EE1B6B}"/>
              </a:ext>
            </a:extLst>
          </p:cNvPr>
          <p:cNvSpPr txBox="1"/>
          <p:nvPr/>
        </p:nvSpPr>
        <p:spPr>
          <a:xfrm>
            <a:off x="5213989" y="1286048"/>
            <a:ext cx="327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24209670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67F76C-EF71-CC36-693A-A7B2FA74AA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4A66539-0C89-F5A0-BE3C-9DDC7544351A}"/>
              </a:ext>
            </a:extLst>
          </p:cNvPr>
          <p:cNvSpPr txBox="1"/>
          <p:nvPr/>
        </p:nvSpPr>
        <p:spPr>
          <a:xfrm>
            <a:off x="16566777" y="12711953"/>
            <a:ext cx="704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Fig. 7</a:t>
            </a:r>
          </a:p>
        </p:txBody>
      </p:sp>
    </p:spTree>
    <p:extLst>
      <p:ext uri="{BB962C8B-B14F-4D97-AF65-F5344CB8AC3E}">
        <p14:creationId xmlns:p14="http://schemas.microsoft.com/office/powerpoint/2010/main" val="23995342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7FC6C-73F5-45F9-24F4-50E1DFCDC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0923CA-6D51-0BDE-AD57-A706D50258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70997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BC8BD-104B-DCEA-A224-CF7A599BB7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B3802E9-8AEE-1F6B-4327-46DB8AB577B4}"/>
              </a:ext>
            </a:extLst>
          </p:cNvPr>
          <p:cNvSpPr txBox="1"/>
          <p:nvPr/>
        </p:nvSpPr>
        <p:spPr>
          <a:xfrm>
            <a:off x="16566777" y="12711953"/>
            <a:ext cx="8352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Fig. </a:t>
            </a:r>
            <a:r>
              <a:rPr lang="en-US" altLang="ko-KR" dirty="0"/>
              <a:t>S1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EF05C65-0A7E-8D02-F33E-3898A76B7CD4}"/>
              </a:ext>
            </a:extLst>
          </p:cNvPr>
          <p:cNvSpPr txBox="1"/>
          <p:nvPr/>
        </p:nvSpPr>
        <p:spPr>
          <a:xfrm>
            <a:off x="12648473" y="5833889"/>
            <a:ext cx="5054424" cy="6601807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>
              <a:spcBef>
                <a:spcPts val="100"/>
              </a:spcBef>
              <a:spcAft>
                <a:spcPts val="500"/>
              </a:spcAft>
            </a:pPr>
            <a:r>
              <a:rPr lang="en-US" sz="1000" b="1" dirty="0">
                <a:latin typeface="ui-sans-serif"/>
              </a:rPr>
              <a:t>🧬 Spatial Transcriptomics Analysis Pipeline</a:t>
            </a:r>
          </a:p>
          <a:p>
            <a:pPr>
              <a:spcBef>
                <a:spcPts val="100"/>
              </a:spcBef>
              <a:spcAft>
                <a:spcPts val="500"/>
              </a:spcAft>
            </a:pPr>
            <a:endParaRPr lang="en-US" sz="1000" b="1" dirty="0">
              <a:latin typeface="ui-sans-serif"/>
            </a:endParaRPr>
          </a:p>
          <a:p>
            <a:pPr>
              <a:spcBef>
                <a:spcPts val="100"/>
              </a:spcBef>
              <a:spcAft>
                <a:spcPts val="500"/>
              </a:spcAft>
            </a:pPr>
            <a:r>
              <a:rPr lang="en-US" sz="1000" b="1" dirty="0">
                <a:latin typeface="ui-sans-serif"/>
              </a:rPr>
              <a:t>📋 Pipeline Summary</a:t>
            </a:r>
          </a:p>
          <a:p>
            <a:pPr>
              <a:spcBef>
                <a:spcPts val="100"/>
              </a:spcBef>
              <a:spcAft>
                <a:spcPts val="500"/>
              </a:spcAft>
            </a:pPr>
            <a:r>
              <a:rPr lang="en-US" sz="900" dirty="0">
                <a:latin typeface="ui-sans-serif"/>
              </a:rPr>
              <a:t>log normalization → CARD (Deconvolution) → </a:t>
            </a:r>
            <a:r>
              <a:rPr lang="en-US" sz="900" dirty="0" err="1">
                <a:latin typeface="ui-sans-serif"/>
              </a:rPr>
              <a:t>BayesSpace</a:t>
            </a:r>
            <a:r>
              <a:rPr lang="en-US" sz="900" dirty="0">
                <a:latin typeface="ui-sans-serif"/>
              </a:rPr>
              <a:t> (Spatial clustering)</a:t>
            </a:r>
          </a:p>
          <a:p>
            <a:pPr>
              <a:spcBef>
                <a:spcPts val="100"/>
              </a:spcBef>
              <a:spcAft>
                <a:spcPts val="500"/>
              </a:spcAft>
            </a:pPr>
            <a:endParaRPr lang="en-US" sz="900" dirty="0"/>
          </a:p>
          <a:p>
            <a:pPr>
              <a:spcBef>
                <a:spcPts val="100"/>
              </a:spcBef>
              <a:spcAft>
                <a:spcPts val="500"/>
              </a:spcAft>
            </a:pPr>
            <a:r>
              <a:rPr lang="en-US" sz="900" b="1" dirty="0">
                <a:latin typeface="ui-sans-serif"/>
              </a:rPr>
              <a:t>🔧 Step 1: Data Normalization</a:t>
            </a:r>
          </a:p>
          <a:p>
            <a:pPr marL="230188" indent="-115888">
              <a:buFont typeface="Arial" panose="020B0604020202020204" pitchFamily="34" charset="0"/>
              <a:buChar char="•"/>
            </a:pPr>
            <a:r>
              <a:rPr lang="en-US" sz="800" b="1" dirty="0">
                <a:latin typeface="ui-sans-serif"/>
              </a:rPr>
              <a:t>Tool</a:t>
            </a:r>
            <a:r>
              <a:rPr lang="en-US" sz="800" dirty="0">
                <a:latin typeface="ui-sans-serif"/>
              </a:rPr>
              <a:t>: log normalization (e.g., Seurat::</a:t>
            </a:r>
            <a:r>
              <a:rPr lang="en-US" sz="800" dirty="0" err="1">
                <a:latin typeface="ui-sans-serif"/>
              </a:rPr>
              <a:t>NormalizeData</a:t>
            </a:r>
            <a:r>
              <a:rPr lang="en-US" sz="800" dirty="0">
                <a:latin typeface="ui-sans-serif"/>
              </a:rPr>
              <a:t> or base R log1p)</a:t>
            </a:r>
          </a:p>
          <a:p>
            <a:pPr marL="230188" indent="-115888">
              <a:buFont typeface="Arial" panose="020B0604020202020204" pitchFamily="34" charset="0"/>
              <a:buChar char="•"/>
            </a:pPr>
            <a:r>
              <a:rPr lang="en-US" sz="800" b="1" dirty="0">
                <a:latin typeface="ui-sans-serif"/>
              </a:rPr>
              <a:t>Purpose</a:t>
            </a:r>
            <a:r>
              <a:rPr lang="en-US" sz="800" dirty="0">
                <a:latin typeface="ui-sans-serif"/>
              </a:rPr>
              <a:t>: Normalization</a:t>
            </a:r>
          </a:p>
          <a:p>
            <a:pPr marL="230188" indent="-115888">
              <a:buFont typeface="Arial" panose="020B0604020202020204" pitchFamily="34" charset="0"/>
              <a:buChar char="•"/>
            </a:pPr>
            <a:r>
              <a:rPr lang="en-US" sz="800" b="1" dirty="0">
                <a:latin typeface="ui-sans-serif"/>
              </a:rPr>
              <a:t>Language</a:t>
            </a:r>
            <a:r>
              <a:rPr lang="en-US" sz="800" dirty="0">
                <a:latin typeface="ui-sans-serif"/>
              </a:rPr>
              <a:t>: R</a:t>
            </a:r>
          </a:p>
          <a:p>
            <a:pPr marL="230188" indent="-115888">
              <a:buFont typeface="Arial" panose="020B0604020202020204" pitchFamily="34" charset="0"/>
              <a:buChar char="•"/>
            </a:pPr>
            <a:r>
              <a:rPr lang="en-US" sz="800" b="1" dirty="0">
                <a:latin typeface="ui-sans-serif"/>
              </a:rPr>
              <a:t>Computational Requirements</a:t>
            </a:r>
            <a:r>
              <a:rPr lang="en-US" sz="800" dirty="0">
                <a:latin typeface="ui-sans-serif"/>
              </a:rPr>
              <a:t>: CPU, minimal memory for a single </a:t>
            </a:r>
            <a:r>
              <a:rPr lang="en-US" sz="800" dirty="0" err="1">
                <a:latin typeface="ui-sans-serif"/>
              </a:rPr>
              <a:t>Visium</a:t>
            </a:r>
            <a:r>
              <a:rPr lang="en-US" sz="800" dirty="0">
                <a:latin typeface="ui-sans-serif"/>
              </a:rPr>
              <a:t> sample</a:t>
            </a:r>
          </a:p>
          <a:p>
            <a:pPr marL="230188" indent="-115888">
              <a:buFont typeface="Arial" panose="020B0604020202020204" pitchFamily="34" charset="0"/>
              <a:buChar char="•"/>
            </a:pPr>
            <a:r>
              <a:rPr lang="en-US" sz="800" b="1" dirty="0">
                <a:latin typeface="ui-sans-serif"/>
              </a:rPr>
              <a:t>why this tool</a:t>
            </a:r>
            <a:r>
              <a:rPr lang="en-US" sz="800" dirty="0">
                <a:latin typeface="ui-sans-serif"/>
              </a:rPr>
              <a:t>: Log normalization is the standard preprocessing for </a:t>
            </a:r>
            <a:r>
              <a:rPr lang="en-US" sz="800" dirty="0" err="1">
                <a:latin typeface="ui-sans-serif"/>
              </a:rPr>
              <a:t>Visium</a:t>
            </a:r>
            <a:r>
              <a:rPr lang="en-US" sz="800" dirty="0">
                <a:latin typeface="ui-sans-serif"/>
              </a:rPr>
              <a:t> data and is compatible with all downstream R-based tools.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sz="800" dirty="0"/>
          </a:p>
          <a:p>
            <a:pPr>
              <a:spcBef>
                <a:spcPts val="100"/>
              </a:spcBef>
              <a:spcAft>
                <a:spcPts val="500"/>
              </a:spcAft>
            </a:pPr>
            <a:r>
              <a:rPr lang="en-US" sz="900" b="1" dirty="0">
                <a:latin typeface="ui-sans-serif"/>
              </a:rPr>
              <a:t>🔬 Step 2: Cell Type Analysis</a:t>
            </a:r>
          </a:p>
          <a:p>
            <a:pPr marL="230188" indent="-115888">
              <a:buFont typeface="Arial" panose="020B0604020202020204" pitchFamily="34" charset="0"/>
              <a:buChar char="•"/>
            </a:pPr>
            <a:r>
              <a:rPr lang="en-US" sz="800" b="1" dirty="0">
                <a:latin typeface="ui-sans-serif"/>
              </a:rPr>
              <a:t>Tool</a:t>
            </a:r>
            <a:r>
              <a:rPr lang="en-US" sz="800" dirty="0">
                <a:latin typeface="ui-sans-serif"/>
              </a:rPr>
              <a:t>: CARD</a:t>
            </a:r>
          </a:p>
          <a:p>
            <a:pPr marL="230188" indent="-115888">
              <a:buFont typeface="Arial" panose="020B0604020202020204" pitchFamily="34" charset="0"/>
              <a:buChar char="•"/>
            </a:pPr>
            <a:r>
              <a:rPr lang="en-US" sz="800" b="1" dirty="0">
                <a:latin typeface="ui-sans-serif"/>
              </a:rPr>
              <a:t>Purpose</a:t>
            </a:r>
            <a:r>
              <a:rPr lang="en-US" sz="800" dirty="0">
                <a:latin typeface="ui-sans-serif"/>
              </a:rPr>
              <a:t>: Deconvolution for spot-based data</a:t>
            </a:r>
          </a:p>
          <a:p>
            <a:pPr marL="230188" indent="-115888">
              <a:buFont typeface="Arial" panose="020B0604020202020204" pitchFamily="34" charset="0"/>
              <a:buChar char="•"/>
            </a:pPr>
            <a:r>
              <a:rPr lang="en-US" sz="800" b="1" dirty="0">
                <a:latin typeface="ui-sans-serif"/>
              </a:rPr>
              <a:t>Language</a:t>
            </a:r>
            <a:r>
              <a:rPr lang="en-US" sz="800" dirty="0">
                <a:latin typeface="ui-sans-serif"/>
              </a:rPr>
              <a:t>: R</a:t>
            </a:r>
          </a:p>
          <a:p>
            <a:pPr marL="230188" indent="-115888">
              <a:buFont typeface="Arial" panose="020B0604020202020204" pitchFamily="34" charset="0"/>
              <a:buChar char="•"/>
            </a:pPr>
            <a:r>
              <a:rPr lang="en-US" sz="800" b="1" dirty="0">
                <a:latin typeface="ui-sans-serif"/>
              </a:rPr>
              <a:t>Computational Requirements</a:t>
            </a:r>
            <a:r>
              <a:rPr lang="en-US" sz="800" dirty="0">
                <a:latin typeface="ui-sans-serif"/>
              </a:rPr>
              <a:t>: CPU, very low memory usage (CARD is 0.2–10% of the memory of alternatives)</a:t>
            </a:r>
          </a:p>
          <a:p>
            <a:pPr marL="230188" indent="-115888">
              <a:buFont typeface="Arial" panose="020B0604020202020204" pitchFamily="34" charset="0"/>
              <a:buChar char="•"/>
            </a:pPr>
            <a:r>
              <a:rPr lang="en-US" sz="800" b="1" dirty="0">
                <a:latin typeface="ui-sans-serif"/>
              </a:rPr>
              <a:t>why this tool</a:t>
            </a:r>
            <a:r>
              <a:rPr lang="en-US" sz="800" dirty="0">
                <a:latin typeface="ui-sans-serif"/>
              </a:rPr>
              <a:t>: CARD is highly efficient, accurate, and specifically designed for spot-based (</a:t>
            </a:r>
            <a:r>
              <a:rPr lang="en-US" sz="800" dirty="0" err="1">
                <a:latin typeface="ui-sans-serif"/>
              </a:rPr>
              <a:t>Visium</a:t>
            </a:r>
            <a:r>
              <a:rPr lang="en-US" sz="800" dirty="0">
                <a:latin typeface="ui-sans-serif"/>
              </a:rPr>
              <a:t>) data. It is widely benchmarked, easy to use on Mac/CPU, and has been applied to human cancer datasets.</a:t>
            </a:r>
          </a:p>
          <a:p>
            <a:pPr>
              <a:buNone/>
            </a:pPr>
            <a:endParaRPr lang="en-US" sz="800" dirty="0"/>
          </a:p>
          <a:p>
            <a:pPr>
              <a:spcBef>
                <a:spcPts val="100"/>
              </a:spcBef>
              <a:spcAft>
                <a:spcPts val="500"/>
              </a:spcAft>
            </a:pPr>
            <a:r>
              <a:rPr lang="en-US" sz="900" b="1" dirty="0">
                <a:latin typeface="ui-sans-serif"/>
              </a:rPr>
              <a:t>🔬 Step 3: Spatial Clustering</a:t>
            </a:r>
          </a:p>
          <a:p>
            <a:pPr marL="230188" indent="-115888">
              <a:buFont typeface="Arial" panose="020B0604020202020204" pitchFamily="34" charset="0"/>
              <a:buChar char="•"/>
            </a:pPr>
            <a:r>
              <a:rPr lang="en-US" sz="800" b="1" dirty="0">
                <a:latin typeface="ui-sans-serif"/>
              </a:rPr>
              <a:t>Tool</a:t>
            </a:r>
            <a:r>
              <a:rPr lang="en-US" sz="800" dirty="0">
                <a:latin typeface="ui-sans-serif"/>
              </a:rPr>
              <a:t>: </a:t>
            </a:r>
            <a:r>
              <a:rPr lang="en-US" sz="800" dirty="0" err="1">
                <a:latin typeface="ui-sans-serif"/>
              </a:rPr>
              <a:t>BayesSpace</a:t>
            </a:r>
            <a:endParaRPr lang="en-US" sz="800" dirty="0">
              <a:latin typeface="ui-sans-serif"/>
            </a:endParaRPr>
          </a:p>
          <a:p>
            <a:pPr marL="230188" indent="-115888">
              <a:buFont typeface="Arial" panose="020B0604020202020204" pitchFamily="34" charset="0"/>
              <a:buChar char="•"/>
            </a:pPr>
            <a:r>
              <a:rPr lang="en-US" sz="800" b="1" dirty="0">
                <a:latin typeface="ui-sans-serif"/>
              </a:rPr>
              <a:t>Purpose</a:t>
            </a:r>
            <a:r>
              <a:rPr lang="en-US" sz="800" dirty="0">
                <a:latin typeface="ui-sans-serif"/>
              </a:rPr>
              <a:t>: Spatial clustering</a:t>
            </a:r>
          </a:p>
          <a:p>
            <a:pPr marL="230188" indent="-115888">
              <a:buFont typeface="Arial" panose="020B0604020202020204" pitchFamily="34" charset="0"/>
              <a:buChar char="•"/>
            </a:pPr>
            <a:r>
              <a:rPr lang="en-US" sz="800" b="1" dirty="0">
                <a:latin typeface="ui-sans-serif"/>
              </a:rPr>
              <a:t>Language</a:t>
            </a:r>
            <a:r>
              <a:rPr lang="en-US" sz="800" dirty="0">
                <a:latin typeface="ui-sans-serif"/>
              </a:rPr>
              <a:t>: R</a:t>
            </a:r>
          </a:p>
          <a:p>
            <a:pPr marL="230188" indent="-115888">
              <a:buFont typeface="Arial" panose="020B0604020202020204" pitchFamily="34" charset="0"/>
              <a:buChar char="•"/>
            </a:pPr>
            <a:r>
              <a:rPr lang="en-US" sz="800" b="1" dirty="0">
                <a:latin typeface="ui-sans-serif"/>
              </a:rPr>
              <a:t>Computational Requirements</a:t>
            </a:r>
            <a:r>
              <a:rPr lang="en-US" sz="800" dirty="0">
                <a:latin typeface="ui-sans-serif"/>
              </a:rPr>
              <a:t>: CPU, moderate memory for a single sample</a:t>
            </a:r>
          </a:p>
          <a:p>
            <a:pPr marL="230188" indent="-115888">
              <a:buFont typeface="Arial" panose="020B0604020202020204" pitchFamily="34" charset="0"/>
              <a:buChar char="•"/>
            </a:pPr>
            <a:r>
              <a:rPr lang="en-US" sz="800" b="1" dirty="0">
                <a:latin typeface="ui-sans-serif"/>
              </a:rPr>
              <a:t>why this tool</a:t>
            </a:r>
            <a:r>
              <a:rPr lang="en-US" sz="800" dirty="0">
                <a:latin typeface="ui-sans-serif"/>
              </a:rPr>
              <a:t>: </a:t>
            </a:r>
            <a:r>
              <a:rPr lang="en-US" sz="800" dirty="0" err="1">
                <a:latin typeface="ui-sans-serif"/>
              </a:rPr>
              <a:t>BayesSpace</a:t>
            </a:r>
            <a:r>
              <a:rPr lang="en-US" sz="800" dirty="0">
                <a:latin typeface="ui-sans-serif"/>
              </a:rPr>
              <a:t> is the gold standard for spatial clustering in </a:t>
            </a:r>
            <a:r>
              <a:rPr lang="en-US" sz="800" dirty="0" err="1">
                <a:latin typeface="ui-sans-serif"/>
              </a:rPr>
              <a:t>Visium</a:t>
            </a:r>
            <a:r>
              <a:rPr lang="en-US" sz="800" dirty="0">
                <a:latin typeface="ui-sans-serif"/>
              </a:rPr>
              <a:t> data, integrates seamlessly with R workflows, and is efficient on Mac/CPU. It is widely used in human cancer spatial transcriptomics.</a:t>
            </a:r>
          </a:p>
          <a:p>
            <a:pPr>
              <a:buNone/>
            </a:pPr>
            <a:endParaRPr lang="en-US" sz="800" dirty="0"/>
          </a:p>
          <a:p>
            <a:pPr>
              <a:spcBef>
                <a:spcPts val="100"/>
              </a:spcBef>
              <a:spcAft>
                <a:spcPts val="500"/>
              </a:spcAft>
            </a:pPr>
            <a:r>
              <a:rPr lang="en-US" sz="900" b="1" dirty="0">
                <a:latin typeface="ui-sans-serif"/>
              </a:rPr>
              <a:t>📊 Computational Overview</a:t>
            </a:r>
          </a:p>
          <a:p>
            <a:pPr marL="230188" indent="-115888">
              <a:buFont typeface="Arial" panose="020B0604020202020204" pitchFamily="34" charset="0"/>
              <a:buChar char="•"/>
            </a:pPr>
            <a:r>
              <a:rPr lang="en-US" sz="800" b="1" dirty="0">
                <a:latin typeface="ui-sans-serif"/>
              </a:rPr>
              <a:t>Total RAM Required</a:t>
            </a:r>
            <a:r>
              <a:rPr lang="en-US" sz="800" dirty="0">
                <a:latin typeface="ui-sans-serif"/>
              </a:rPr>
              <a:t>: Low to moderate (CARD is highly efficient; </a:t>
            </a:r>
            <a:r>
              <a:rPr lang="en-US" sz="800" dirty="0" err="1">
                <a:latin typeface="ui-sans-serif"/>
              </a:rPr>
              <a:t>BayesSpace</a:t>
            </a:r>
            <a:r>
              <a:rPr lang="en-US" sz="800" dirty="0">
                <a:latin typeface="ui-sans-serif"/>
              </a:rPr>
              <a:t> is moderate for a single sample)</a:t>
            </a:r>
          </a:p>
          <a:p>
            <a:pPr marL="230188" indent="-115888">
              <a:buFont typeface="Arial" panose="020B0604020202020204" pitchFamily="34" charset="0"/>
              <a:buChar char="•"/>
            </a:pPr>
            <a:r>
              <a:rPr lang="en-US" sz="800" b="1" dirty="0">
                <a:latin typeface="ui-sans-serif"/>
              </a:rPr>
              <a:t>GPU Required</a:t>
            </a:r>
            <a:r>
              <a:rPr lang="en-US" sz="800" dirty="0">
                <a:latin typeface="ui-sans-serif"/>
              </a:rPr>
              <a:t>: No</a:t>
            </a:r>
          </a:p>
          <a:p>
            <a:pPr marL="230188" indent="-115888">
              <a:buFont typeface="Arial" panose="020B0604020202020204" pitchFamily="34" charset="0"/>
              <a:buChar char="•"/>
            </a:pPr>
            <a:r>
              <a:rPr lang="en-US" sz="800" b="1" dirty="0">
                <a:latin typeface="ui-sans-serif"/>
              </a:rPr>
              <a:t>Estimated Runtime</a:t>
            </a:r>
            <a:r>
              <a:rPr lang="en-US" sz="800" dirty="0">
                <a:latin typeface="ui-sans-serif"/>
              </a:rPr>
              <a:t>: Under 1 hour for a single </a:t>
            </a:r>
            <a:r>
              <a:rPr lang="en-US" sz="800" dirty="0" err="1">
                <a:latin typeface="ui-sans-serif"/>
              </a:rPr>
              <a:t>Visium</a:t>
            </a:r>
            <a:r>
              <a:rPr lang="en-US" sz="800" dirty="0">
                <a:latin typeface="ui-sans-serif"/>
              </a:rPr>
              <a:t> sample on a modern Mac CPU</a:t>
            </a:r>
          </a:p>
          <a:p>
            <a:pPr marL="230188" indent="-115888">
              <a:buFont typeface="Arial" panose="020B0604020202020204" pitchFamily="34" charset="0"/>
              <a:buChar char="•"/>
            </a:pPr>
            <a:endParaRPr lang="en-US" sz="800" dirty="0"/>
          </a:p>
          <a:p>
            <a:pPr>
              <a:spcBef>
                <a:spcPts val="100"/>
              </a:spcBef>
              <a:spcAft>
                <a:spcPts val="500"/>
              </a:spcAft>
            </a:pPr>
            <a:r>
              <a:rPr lang="en-US" sz="900" b="1" dirty="0">
                <a:latin typeface="ui-sans-serif"/>
              </a:rPr>
              <a:t>📚 Sources</a:t>
            </a:r>
          </a:p>
          <a:p>
            <a:pPr marL="230188" indent="-115888">
              <a:buFont typeface="Arial" panose="020B0604020202020204" pitchFamily="34" charset="0"/>
              <a:buChar char="•"/>
            </a:pPr>
            <a:r>
              <a:rPr lang="en-US" sz="800" dirty="0">
                <a:latin typeface="ui-sans-serif"/>
              </a:rPr>
              <a:t>CARD: "</a:t>
            </a:r>
            <a:r>
              <a:rPr lang="en-US" sz="800" dirty="0" err="1">
                <a:latin typeface="ui-sans-serif"/>
              </a:rPr>
              <a:t>CARD.pdf</a:t>
            </a:r>
            <a:r>
              <a:rPr lang="en-US" sz="800" dirty="0">
                <a:latin typeface="ui-sans-serif"/>
              </a:rPr>
              <a:t>" (see Supplementary Table 5, 6 for efficiency and memory benchmarks)</a:t>
            </a:r>
          </a:p>
          <a:p>
            <a:pPr marL="230188" indent="-115888">
              <a:buFont typeface="Arial" panose="020B0604020202020204" pitchFamily="34" charset="0"/>
              <a:buChar char="•"/>
            </a:pPr>
            <a:r>
              <a:rPr lang="en-US" sz="800" dirty="0" err="1">
                <a:latin typeface="ui-sans-serif"/>
              </a:rPr>
              <a:t>BayesSpace</a:t>
            </a:r>
            <a:r>
              <a:rPr lang="en-US" sz="800" dirty="0">
                <a:latin typeface="ui-sans-serif"/>
              </a:rPr>
              <a:t>: "</a:t>
            </a:r>
            <a:r>
              <a:rPr lang="en-US" sz="800" dirty="0" err="1">
                <a:latin typeface="ui-sans-serif"/>
              </a:rPr>
              <a:t>BayesSpace.pdf</a:t>
            </a:r>
            <a:r>
              <a:rPr lang="en-US" sz="800" dirty="0">
                <a:latin typeface="ui-sans-serif"/>
              </a:rPr>
              <a:t>" (see Discussion and Methods for </a:t>
            </a:r>
            <a:r>
              <a:rPr lang="en-US" sz="800" dirty="0" err="1">
                <a:latin typeface="ui-sans-serif"/>
              </a:rPr>
              <a:t>Visium</a:t>
            </a:r>
            <a:r>
              <a:rPr lang="en-US" sz="800" dirty="0">
                <a:latin typeface="ui-sans-serif"/>
              </a:rPr>
              <a:t>/CPU compatibility)</a:t>
            </a:r>
          </a:p>
          <a:p>
            <a:pPr marL="230188" indent="-115888">
              <a:buFont typeface="Arial" panose="020B0604020202020204" pitchFamily="34" charset="0"/>
              <a:buChar char="•"/>
            </a:pPr>
            <a:r>
              <a:rPr lang="en-US" sz="800" dirty="0">
                <a:latin typeface="ui-sans-serif"/>
              </a:rPr>
              <a:t>IRIS: "</a:t>
            </a:r>
            <a:r>
              <a:rPr lang="en-US" sz="800" dirty="0" err="1">
                <a:latin typeface="ui-sans-serif"/>
              </a:rPr>
              <a:t>IRIS.pdf</a:t>
            </a:r>
            <a:r>
              <a:rPr lang="en-US" sz="800" dirty="0">
                <a:latin typeface="ui-sans-serif"/>
              </a:rPr>
              <a:t>" (alternative, but CARD/</a:t>
            </a:r>
            <a:r>
              <a:rPr lang="en-US" sz="800" dirty="0" err="1">
                <a:latin typeface="ui-sans-serif"/>
              </a:rPr>
              <a:t>BayesSpace</a:t>
            </a:r>
            <a:r>
              <a:rPr lang="en-US" sz="800" dirty="0">
                <a:latin typeface="ui-sans-serif"/>
              </a:rPr>
              <a:t> are more widely benchmarked)</a:t>
            </a:r>
          </a:p>
          <a:p>
            <a:pPr marL="230188" indent="-115888">
              <a:buFont typeface="Arial" panose="020B0604020202020204" pitchFamily="34" charset="0"/>
              <a:buChar char="•"/>
            </a:pPr>
            <a:r>
              <a:rPr lang="en-US" sz="800" dirty="0" err="1">
                <a:latin typeface="ui-sans-serif"/>
              </a:rPr>
              <a:t>SPOTlight</a:t>
            </a:r>
            <a:r>
              <a:rPr lang="en-US" sz="800" dirty="0">
                <a:latin typeface="ui-sans-serif"/>
              </a:rPr>
              <a:t>: "</a:t>
            </a:r>
            <a:r>
              <a:rPr lang="en-US" sz="800" dirty="0" err="1">
                <a:latin typeface="ui-sans-serif"/>
              </a:rPr>
              <a:t>SPOTlight.pdf</a:t>
            </a:r>
            <a:r>
              <a:rPr lang="en-US" sz="800" dirty="0">
                <a:latin typeface="ui-sans-serif"/>
              </a:rPr>
              <a:t>" (alternative deconvolution)</a:t>
            </a:r>
          </a:p>
          <a:p>
            <a:pPr marL="230188" indent="-115888">
              <a:buFont typeface="Arial" panose="020B0604020202020204" pitchFamily="34" charset="0"/>
              <a:buChar char="•"/>
            </a:pPr>
            <a:r>
              <a:rPr lang="en-US" sz="800" dirty="0">
                <a:latin typeface="ui-sans-serif"/>
              </a:rPr>
              <a:t>Cell2Location: "Cell2Location.pdf" (alternative deconvolution)</a:t>
            </a:r>
          </a:p>
          <a:p>
            <a:pPr marL="230188" indent="-115888">
              <a:buFont typeface="Arial" panose="020B0604020202020204" pitchFamily="34" charset="0"/>
              <a:buChar char="•"/>
            </a:pPr>
            <a:r>
              <a:rPr lang="en-US" sz="800" dirty="0" err="1">
                <a:latin typeface="ui-sans-serif"/>
              </a:rPr>
              <a:t>CellCharter</a:t>
            </a:r>
            <a:r>
              <a:rPr lang="en-US" sz="800" dirty="0">
                <a:latin typeface="ui-sans-serif"/>
              </a:rPr>
              <a:t>: "</a:t>
            </a:r>
            <a:r>
              <a:rPr lang="en-US" sz="800" dirty="0" err="1">
                <a:latin typeface="ui-sans-serif"/>
              </a:rPr>
              <a:t>CellCharter.pdf</a:t>
            </a:r>
            <a:r>
              <a:rPr lang="en-US" sz="800" dirty="0">
                <a:latin typeface="ui-sans-serif"/>
              </a:rPr>
              <a:t>" (alternative clustering)</a:t>
            </a:r>
          </a:p>
          <a:p>
            <a:pPr marL="230188" indent="-115888">
              <a:buFont typeface="Arial" panose="020B0604020202020204" pitchFamily="34" charset="0"/>
              <a:buChar char="•"/>
            </a:pPr>
            <a:r>
              <a:rPr lang="en-US" sz="800" dirty="0" err="1">
                <a:latin typeface="ui-sans-serif"/>
              </a:rPr>
              <a:t>GraphST</a:t>
            </a:r>
            <a:r>
              <a:rPr lang="en-US" sz="800" dirty="0">
                <a:latin typeface="ui-sans-serif"/>
              </a:rPr>
              <a:t>: "</a:t>
            </a:r>
            <a:r>
              <a:rPr lang="en-US" sz="800" dirty="0" err="1">
                <a:latin typeface="ui-sans-serif"/>
              </a:rPr>
              <a:t>GraphST.pdf</a:t>
            </a:r>
            <a:r>
              <a:rPr lang="en-US" sz="800" dirty="0">
                <a:latin typeface="ui-sans-serif"/>
              </a:rPr>
              <a:t>" (alternative clustering)</a:t>
            </a:r>
          </a:p>
          <a:p>
            <a:pPr>
              <a:buNone/>
            </a:pPr>
            <a:br>
              <a:rPr lang="en-US" sz="800" dirty="0"/>
            </a:br>
            <a:endParaRPr lang="en-US" sz="800" dirty="0"/>
          </a:p>
          <a:p>
            <a:pPr>
              <a:spcBef>
                <a:spcPts val="100"/>
              </a:spcBef>
              <a:spcAft>
                <a:spcPts val="500"/>
              </a:spcAft>
            </a:pPr>
            <a:r>
              <a:rPr lang="en-US" sz="800" b="1" dirty="0">
                <a:latin typeface="ui-sans-serif"/>
              </a:rPr>
              <a:t>This pipeline is optimal for your scenario: efficient, reproducible, and widely used in the field.</a:t>
            </a:r>
            <a:endParaRPr lang="en-US" sz="800" dirty="0">
              <a:latin typeface="ui-sans-serif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5BE9738-100F-96C5-B6F7-5FBB0237AF9F}"/>
              </a:ext>
            </a:extLst>
          </p:cNvPr>
          <p:cNvSpPr txBox="1"/>
          <p:nvPr/>
        </p:nvSpPr>
        <p:spPr>
          <a:xfrm>
            <a:off x="9476519" y="8015369"/>
            <a:ext cx="2430208" cy="2026196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45720" rIns="0" bIns="45720" rtlCol="0" anchor="ctr">
            <a:spAutoFit/>
          </a:bodyPr>
          <a:lstStyle/>
          <a:p>
            <a:pPr marL="61913" defTabSz="914400" eaLnBrk="0" fontAlgn="base" hangingPunct="0">
              <a:spcBef>
                <a:spcPts val="100"/>
              </a:spcBef>
              <a:spcAft>
                <a:spcPts val="500"/>
              </a:spcAft>
            </a:pPr>
            <a:r>
              <a:rPr lang="en-US" altLang="en-US" sz="700" b="1" dirty="0">
                <a:solidFill>
                  <a:schemeClr val="tx1"/>
                </a:solidFill>
                <a:latin typeface="ui-sans-serif"/>
              </a:rPr>
              <a:t>Human Input Required</a:t>
            </a:r>
          </a:p>
          <a:p>
            <a:pPr marL="61913" defTabSz="914400" eaLnBrk="0" fontAlgn="base" hangingPunct="0">
              <a:spcBef>
                <a:spcPts val="100"/>
              </a:spcBef>
              <a:spcAft>
                <a:spcPts val="500"/>
              </a:spcAft>
            </a:pPr>
            <a:r>
              <a:rPr lang="en-US" altLang="en-US" sz="700" b="1" dirty="0">
                <a:solidFill>
                  <a:schemeClr val="tx1"/>
                </a:solidFill>
                <a:latin typeface="ui-sans-serif"/>
              </a:rPr>
              <a:t>Please choose one of the following options: </a:t>
            </a:r>
          </a:p>
          <a:p>
            <a:pPr marL="61913" defTabSz="914400" eaLnBrk="0" fontAlgn="base" hangingPunct="0">
              <a:spcBef>
                <a:spcPts val="100"/>
              </a:spcBef>
              <a:spcAft>
                <a:spcPts val="100"/>
              </a:spcAft>
            </a:pPr>
            <a:r>
              <a:rPr lang="en-US" altLang="en-US" sz="700" b="1" dirty="0">
                <a:solidFill>
                  <a:schemeClr val="tx1"/>
                </a:solidFill>
                <a:latin typeface="ui-sans-serif"/>
              </a:rPr>
              <a:t>1️⃣ Default Pipeline - Proceed with the suggested pipeline</a:t>
            </a:r>
          </a:p>
          <a:p>
            <a:pPr marL="61913" defTabSz="914400" eaLnBrk="0" fontAlgn="base" hangingPunct="0">
              <a:spcBef>
                <a:spcPts val="100"/>
              </a:spcBef>
              <a:spcAft>
                <a:spcPts val="500"/>
              </a:spcAft>
            </a:pPr>
            <a:r>
              <a:rPr lang="en-US" altLang="en-US" sz="700" b="1" dirty="0">
                <a:solidFill>
                  <a:schemeClr val="tx1"/>
                </a:solidFill>
                <a:latin typeface="ui-sans-serif"/>
              </a:rPr>
              <a:t> </a:t>
            </a:r>
            <a:r>
              <a:rPr lang="ko-KR" altLang="en-US" sz="700" b="1" dirty="0">
                <a:solidFill>
                  <a:schemeClr val="tx1"/>
                </a:solidFill>
                <a:latin typeface="ui-sans-serif"/>
              </a:rPr>
              <a:t>  </a:t>
            </a:r>
            <a:r>
              <a:rPr lang="en-US" altLang="en-US" sz="700" b="1" dirty="0">
                <a:solidFill>
                  <a:schemeClr val="tx1"/>
                </a:solidFill>
                <a:latin typeface="ui-sans-serif"/>
              </a:rPr>
              <a:t>↳ Type: "1", "default" or "proceed" </a:t>
            </a:r>
          </a:p>
          <a:p>
            <a:pPr marL="61913" defTabSz="914400" eaLnBrk="0" fontAlgn="base" hangingPunct="0">
              <a:spcBef>
                <a:spcPts val="100"/>
              </a:spcBef>
              <a:spcAft>
                <a:spcPts val="100"/>
              </a:spcAft>
            </a:pPr>
            <a:r>
              <a:rPr lang="en-US" altLang="en-US" sz="700" b="1" dirty="0">
                <a:solidFill>
                  <a:schemeClr val="tx1"/>
                </a:solidFill>
                <a:latin typeface="ui-sans-serif"/>
              </a:rPr>
              <a:t>2️⃣ Customize Pipeline - Modify specific components </a:t>
            </a:r>
          </a:p>
          <a:p>
            <a:pPr marL="61913" defTabSz="914400" eaLnBrk="0" fontAlgn="base" hangingPunct="0">
              <a:spcBef>
                <a:spcPts val="100"/>
              </a:spcBef>
              <a:spcAft>
                <a:spcPts val="500"/>
              </a:spcAft>
            </a:pPr>
            <a:r>
              <a:rPr lang="ko-KR" altLang="en-US" sz="700" b="1" dirty="0">
                <a:solidFill>
                  <a:schemeClr val="tx1"/>
                </a:solidFill>
                <a:latin typeface="ui-sans-serif"/>
              </a:rPr>
              <a:t>  </a:t>
            </a:r>
            <a:r>
              <a:rPr lang="en-US" altLang="en-US" sz="700" b="1" dirty="0">
                <a:solidFill>
                  <a:schemeClr val="tx1"/>
                </a:solidFill>
                <a:latin typeface="ui-sans-serif"/>
              </a:rPr>
              <a:t>↳ Type: "2", "custom" or "update" </a:t>
            </a:r>
          </a:p>
          <a:p>
            <a:pPr marL="61913" defTabSz="914400" eaLnBrk="0" fontAlgn="base" hangingPunct="0">
              <a:spcBef>
                <a:spcPts val="100"/>
              </a:spcBef>
              <a:spcAft>
                <a:spcPts val="100"/>
              </a:spcAft>
            </a:pPr>
            <a:r>
              <a:rPr lang="en-US" altLang="en-US" sz="700" b="1" dirty="0">
                <a:solidFill>
                  <a:schemeClr val="tx1"/>
                </a:solidFill>
                <a:latin typeface="ui-sans-serif"/>
              </a:rPr>
              <a:t>3️⃣ Reference-based Pipeline - Use </a:t>
            </a:r>
            <a:r>
              <a:rPr lang="en-US" altLang="en-US" sz="700" b="1" dirty="0" err="1">
                <a:solidFill>
                  <a:schemeClr val="tx1"/>
                </a:solidFill>
                <a:latin typeface="ui-sans-serif"/>
              </a:rPr>
              <a:t>DeepMAST</a:t>
            </a:r>
            <a:r>
              <a:rPr lang="en-US" altLang="en-US" sz="700" b="1" dirty="0">
                <a:solidFill>
                  <a:schemeClr val="tx1"/>
                </a:solidFill>
                <a:latin typeface="ui-sans-serif"/>
              </a:rPr>
              <a:t>-RAG to find  </a:t>
            </a:r>
          </a:p>
          <a:p>
            <a:pPr marL="61913" defTabSz="914400" eaLnBrk="0" fontAlgn="base" hangingPunct="0">
              <a:spcBef>
                <a:spcPts val="100"/>
              </a:spcBef>
              <a:spcAft>
                <a:spcPts val="100"/>
              </a:spcAft>
            </a:pPr>
            <a:r>
              <a:rPr lang="en-US" altLang="en-US" sz="700" b="1" dirty="0">
                <a:solidFill>
                  <a:schemeClr val="tx1"/>
                </a:solidFill>
                <a:latin typeface="ui-sans-serif"/>
              </a:rPr>
              <a:t>      methods from literature </a:t>
            </a:r>
          </a:p>
          <a:p>
            <a:pPr marL="61913" defTabSz="914400" eaLnBrk="0" fontAlgn="base" hangingPunct="0">
              <a:spcBef>
                <a:spcPts val="100"/>
              </a:spcBef>
              <a:spcAft>
                <a:spcPts val="500"/>
              </a:spcAft>
            </a:pPr>
            <a:r>
              <a:rPr lang="ko-KR" altLang="en-US" sz="700" b="1" dirty="0">
                <a:solidFill>
                  <a:schemeClr val="tx1"/>
                </a:solidFill>
                <a:latin typeface="ui-sans-serif"/>
              </a:rPr>
              <a:t>  </a:t>
            </a:r>
            <a:r>
              <a:rPr lang="en-US" altLang="en-US" sz="700" b="1" dirty="0">
                <a:solidFill>
                  <a:schemeClr val="tx1"/>
                </a:solidFill>
                <a:latin typeface="ui-sans-serif"/>
              </a:rPr>
              <a:t>↳ Type: "3", "reference" or "select" </a:t>
            </a:r>
          </a:p>
          <a:p>
            <a:pPr marL="61913" defTabSz="914400" eaLnBrk="0" fontAlgn="base" hangingPunct="0">
              <a:spcBef>
                <a:spcPts val="100"/>
              </a:spcBef>
              <a:spcAft>
                <a:spcPts val="500"/>
              </a:spcAft>
            </a:pPr>
            <a:r>
              <a:rPr lang="en-US" altLang="en-US" sz="700" b="1" dirty="0">
                <a:solidFill>
                  <a:schemeClr val="tx1"/>
                </a:solidFill>
                <a:latin typeface="ui-sans-serif"/>
              </a:rPr>
              <a:t>What would you like to do?</a:t>
            </a:r>
          </a:p>
          <a:p>
            <a:pPr marL="61913" defTabSz="914400" eaLnBrk="0" fontAlgn="base" hangingPunct="0">
              <a:spcBef>
                <a:spcPts val="100"/>
              </a:spcBef>
              <a:spcAft>
                <a:spcPts val="500"/>
              </a:spcAft>
            </a:pPr>
            <a:r>
              <a:rPr lang="en-US" altLang="en-US" sz="700" b="1" dirty="0">
                <a:solidFill>
                  <a:schemeClr val="tx1"/>
                </a:solidFill>
                <a:latin typeface="ui-sans-serif"/>
              </a:rPr>
              <a:t>Please provide your response:</a:t>
            </a:r>
          </a:p>
          <a:p>
            <a:pPr marL="61913" defTabSz="914400" eaLnBrk="0" fontAlgn="base" hangingPunct="0">
              <a:spcBef>
                <a:spcPts val="100"/>
              </a:spcBef>
              <a:spcAft>
                <a:spcPts val="500"/>
              </a:spcAft>
            </a:pPr>
            <a:r>
              <a:rPr lang="en-US" altLang="en-US" sz="700" b="1" dirty="0">
                <a:solidFill>
                  <a:schemeClr val="bg1">
                    <a:lumMod val="85000"/>
                  </a:schemeClr>
                </a:solidFill>
                <a:latin typeface="ui-sans-serif"/>
              </a:rPr>
              <a:t>   Enter your response…</a:t>
            </a:r>
          </a:p>
        </p:txBody>
      </p:sp>
      <p:sp>
        <p:nvSpPr>
          <p:cNvPr id="18" name="Oval Callout 17">
            <a:extLst>
              <a:ext uri="{FF2B5EF4-FFF2-40B4-BE49-F238E27FC236}">
                <a16:creationId xmlns:a16="http://schemas.microsoft.com/office/drawing/2014/main" id="{199E7EC7-B16C-BDBB-E31D-B258C4124060}"/>
              </a:ext>
            </a:extLst>
          </p:cNvPr>
          <p:cNvSpPr/>
          <p:nvPr/>
        </p:nvSpPr>
        <p:spPr>
          <a:xfrm>
            <a:off x="9803303" y="5442858"/>
            <a:ext cx="2122366" cy="668004"/>
          </a:xfrm>
          <a:prstGeom prst="wedgeEllipseCallout">
            <a:avLst>
              <a:gd name="adj1" fmla="val -59197"/>
              <a:gd name="adj2" fmla="val 563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45720" tIns="0" rIns="45720" bIns="0" rtlCol="0" anchor="ctr"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800" b="1" dirty="0">
                <a:solidFill>
                  <a:schemeClr val="tx1"/>
                </a:solidFill>
                <a:latin typeface="ui-sans-serif"/>
              </a:rPr>
              <a:t>I need a pipeline for analyzing one breast cancer </a:t>
            </a:r>
            <a:r>
              <a:rPr lang="en-US" altLang="en-US" sz="800" b="1" dirty="0" err="1">
                <a:solidFill>
                  <a:schemeClr val="tx1"/>
                </a:solidFill>
                <a:latin typeface="ui-sans-serif"/>
              </a:rPr>
              <a:t>Visium</a:t>
            </a:r>
            <a:r>
              <a:rPr lang="en-US" altLang="en-US" sz="800" b="1" dirty="0">
                <a:solidFill>
                  <a:schemeClr val="tx1"/>
                </a:solidFill>
                <a:latin typeface="ui-sans-serif"/>
              </a:rPr>
              <a:t> sample on a Mac (CPU only), with spatial clustering or cell type analysis.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39211CA-E2AC-CBE3-16BF-1E6501F75F35}"/>
              </a:ext>
            </a:extLst>
          </p:cNvPr>
          <p:cNvSpPr txBox="1"/>
          <p:nvPr/>
        </p:nvSpPr>
        <p:spPr>
          <a:xfrm>
            <a:off x="9487475" y="6193585"/>
            <a:ext cx="2408296" cy="1717393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45720" rIns="0" bIns="45720" rtlCol="0" anchor="ctr">
            <a:spAutoFit/>
          </a:bodyPr>
          <a:lstStyle/>
          <a:p>
            <a:pPr marL="61913"/>
            <a:r>
              <a:rPr lang="en-US" sz="700" b="1" dirty="0">
                <a:solidFill>
                  <a:schemeClr val="tx1"/>
                </a:solidFill>
                <a:latin typeface="ui-sans-serif"/>
              </a:rPr>
              <a:t>✅ Information Collection Complete!</a:t>
            </a:r>
          </a:p>
          <a:p>
            <a:pPr marL="61913"/>
            <a:r>
              <a:rPr lang="en-US" sz="700" b="1" dirty="0">
                <a:solidFill>
                  <a:schemeClr val="tx1"/>
                </a:solidFill>
                <a:latin typeface="ui-sans-serif"/>
              </a:rPr>
              <a:t>Based on your inputs:</a:t>
            </a:r>
          </a:p>
          <a:p>
            <a:pPr marL="233363" indent="-114300">
              <a:buFont typeface="Arial" panose="020B0604020202020204" pitchFamily="34" charset="0"/>
              <a:buChar char="•"/>
            </a:pPr>
            <a:r>
              <a:rPr lang="en-US" sz="700" b="1" dirty="0">
                <a:solidFill>
                  <a:schemeClr val="tx1"/>
                </a:solidFill>
                <a:latin typeface="ui-sans-serif"/>
              </a:rPr>
              <a:t>ST Technology: </a:t>
            </a:r>
            <a:r>
              <a:rPr lang="en-US" sz="700" b="1" dirty="0" err="1">
                <a:solidFill>
                  <a:schemeClr val="tx1"/>
                </a:solidFill>
                <a:latin typeface="ui-sans-serif"/>
              </a:rPr>
              <a:t>Visium</a:t>
            </a:r>
            <a:r>
              <a:rPr lang="en-US" sz="700" b="1" dirty="0">
                <a:solidFill>
                  <a:schemeClr val="tx1"/>
                </a:solidFill>
                <a:latin typeface="ui-sans-serif"/>
              </a:rPr>
              <a:t> (spot-based)</a:t>
            </a:r>
          </a:p>
          <a:p>
            <a:pPr marL="233363" indent="-114300">
              <a:buFont typeface="Arial" panose="020B0604020202020204" pitchFamily="34" charset="0"/>
              <a:buChar char="•"/>
            </a:pPr>
            <a:r>
              <a:rPr lang="en-US" sz="700" b="1" dirty="0">
                <a:solidFill>
                  <a:schemeClr val="tx1"/>
                </a:solidFill>
                <a:latin typeface="ui-sans-serif"/>
              </a:rPr>
              <a:t>Disease: breast cancer</a:t>
            </a:r>
          </a:p>
          <a:p>
            <a:pPr marL="233363" indent="-114300">
              <a:buFont typeface="Arial" panose="020B0604020202020204" pitchFamily="34" charset="0"/>
              <a:buChar char="•"/>
            </a:pPr>
            <a:r>
              <a:rPr lang="en-US" sz="700" b="1" dirty="0">
                <a:solidFill>
                  <a:schemeClr val="tx1"/>
                </a:solidFill>
                <a:latin typeface="ui-sans-serif"/>
              </a:rPr>
              <a:t>Species: human</a:t>
            </a:r>
          </a:p>
          <a:p>
            <a:pPr marL="233363" indent="-114300">
              <a:buFont typeface="Arial" panose="020B0604020202020204" pitchFamily="34" charset="0"/>
              <a:buChar char="•"/>
            </a:pPr>
            <a:r>
              <a:rPr lang="en-US" sz="700" b="1" dirty="0">
                <a:solidFill>
                  <a:schemeClr val="tx1"/>
                </a:solidFill>
                <a:latin typeface="ui-sans-serif"/>
              </a:rPr>
              <a:t>Sample Count: 1</a:t>
            </a:r>
          </a:p>
          <a:p>
            <a:pPr marL="233363" indent="-114300">
              <a:buFont typeface="Arial" panose="020B0604020202020204" pitchFamily="34" charset="0"/>
              <a:buChar char="•"/>
            </a:pPr>
            <a:r>
              <a:rPr lang="en-US" sz="700" b="1" dirty="0">
                <a:solidFill>
                  <a:schemeClr val="tx1"/>
                </a:solidFill>
                <a:latin typeface="ui-sans-serif"/>
              </a:rPr>
              <a:t>OS: Mac</a:t>
            </a:r>
          </a:p>
          <a:p>
            <a:pPr marL="233363" indent="-114300">
              <a:buFont typeface="Arial" panose="020B0604020202020204" pitchFamily="34" charset="0"/>
              <a:buChar char="•"/>
            </a:pPr>
            <a:r>
              <a:rPr lang="en-US" sz="700" b="1" dirty="0">
                <a:solidFill>
                  <a:schemeClr val="tx1"/>
                </a:solidFill>
                <a:latin typeface="ui-sans-serif"/>
              </a:rPr>
              <a:t>Computing: CPU</a:t>
            </a:r>
          </a:p>
          <a:p>
            <a:pPr marL="233363" indent="-114300">
              <a:buFont typeface="Arial" panose="020B0604020202020204" pitchFamily="34" charset="0"/>
              <a:buChar char="•"/>
            </a:pPr>
            <a:endParaRPr lang="en-US" sz="700" b="1" dirty="0">
              <a:solidFill>
                <a:schemeClr val="tx1"/>
              </a:solidFill>
              <a:latin typeface="ui-sans-serif"/>
            </a:endParaRPr>
          </a:p>
          <a:p>
            <a:pPr marL="61913"/>
            <a:r>
              <a:rPr lang="en-US" sz="700" b="1" dirty="0">
                <a:solidFill>
                  <a:schemeClr val="tx1"/>
                </a:solidFill>
                <a:latin typeface="ui-sans-serif"/>
              </a:rPr>
              <a:t>I've generated the following default analysis pipeline:</a:t>
            </a:r>
          </a:p>
          <a:p>
            <a:pPr marL="61913"/>
            <a:endParaRPr lang="en-US" sz="700" b="1" dirty="0">
              <a:solidFill>
                <a:schemeClr val="tx1"/>
              </a:solidFill>
              <a:latin typeface="ui-sans-serif"/>
            </a:endParaRPr>
          </a:p>
          <a:p>
            <a:pPr marL="61913"/>
            <a:r>
              <a:rPr lang="en-US" sz="700" b="1" dirty="0">
                <a:solidFill>
                  <a:schemeClr val="tx1"/>
                </a:solidFill>
                <a:latin typeface="ui-sans-serif"/>
              </a:rPr>
              <a:t>📊 Pipeline Configuration:</a:t>
            </a:r>
          </a:p>
          <a:p>
            <a:pPr marL="233363" indent="-114300">
              <a:buFont typeface="Arial" panose="020B0604020202020204" pitchFamily="34" charset="0"/>
              <a:buChar char="•"/>
            </a:pPr>
            <a:r>
              <a:rPr lang="en-US" sz="700" b="1" dirty="0">
                <a:solidFill>
                  <a:schemeClr val="tx1"/>
                </a:solidFill>
                <a:latin typeface="ui-sans-serif"/>
              </a:rPr>
              <a:t>Normalization: log</a:t>
            </a:r>
          </a:p>
          <a:p>
            <a:pPr marL="233363" indent="-114300">
              <a:buFont typeface="Arial" panose="020B0604020202020204" pitchFamily="34" charset="0"/>
              <a:buChar char="•"/>
            </a:pPr>
            <a:r>
              <a:rPr lang="en-US" sz="700" b="1" dirty="0">
                <a:solidFill>
                  <a:schemeClr val="tx1"/>
                </a:solidFill>
                <a:latin typeface="ui-sans-serif"/>
              </a:rPr>
              <a:t>Cell Type Analysis: IRIS (deconvolution)</a:t>
            </a:r>
          </a:p>
          <a:p>
            <a:pPr marL="233363" indent="-114300">
              <a:buFont typeface="Arial" panose="020B0604020202020204" pitchFamily="34" charset="0"/>
              <a:buChar char="•"/>
            </a:pPr>
            <a:r>
              <a:rPr lang="en-US" sz="700" b="1" dirty="0">
                <a:solidFill>
                  <a:schemeClr val="tx1"/>
                </a:solidFill>
                <a:latin typeface="ui-sans-serif"/>
              </a:rPr>
              <a:t>Spatial Clustering: IRIS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22BD922-CA22-C988-861D-98A09C483E22}"/>
              </a:ext>
            </a:extLst>
          </p:cNvPr>
          <p:cNvSpPr txBox="1"/>
          <p:nvPr/>
        </p:nvSpPr>
        <p:spPr>
          <a:xfrm>
            <a:off x="9484902" y="10667603"/>
            <a:ext cx="2413445" cy="479618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45720" rIns="0" bIns="45720" rtlCol="0" anchor="ctr">
            <a:spAutoFit/>
          </a:bodyPr>
          <a:lstStyle/>
          <a:p>
            <a:pPr marL="57150">
              <a:spcAft>
                <a:spcPts val="500"/>
              </a:spcAft>
            </a:pPr>
            <a:r>
              <a:rPr lang="en-US" sz="700" b="1" dirty="0">
                <a:solidFill>
                  <a:schemeClr val="tx1"/>
                </a:solidFill>
                <a:latin typeface="ui-sans-serif"/>
              </a:rPr>
              <a:t>Generate Query</a:t>
            </a:r>
          </a:p>
          <a:p>
            <a:pPr marL="114300"/>
            <a:r>
              <a:rPr lang="en-US" sz="700" b="1" dirty="0">
                <a:solidFill>
                  <a:schemeClr val="tx1"/>
                </a:solidFill>
                <a:latin typeface="ui-sans-serif"/>
              </a:rPr>
              <a:t>What are the best deconvolution tools for </a:t>
            </a:r>
            <a:r>
              <a:rPr lang="en-US" sz="700" b="1" dirty="0" err="1">
                <a:solidFill>
                  <a:schemeClr val="tx1"/>
                </a:solidFill>
                <a:latin typeface="ui-sans-serif"/>
              </a:rPr>
              <a:t>Visium</a:t>
            </a:r>
            <a:r>
              <a:rPr lang="en-US" sz="700" b="1" dirty="0">
                <a:solidFill>
                  <a:schemeClr val="tx1"/>
                </a:solidFill>
                <a:latin typeface="ui-sans-serif"/>
              </a:rPr>
              <a:t> spot-based spatial transcriptomics data analysis?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19DA3B3-3946-63A7-506C-47989F26E65B}"/>
              </a:ext>
            </a:extLst>
          </p:cNvPr>
          <p:cNvSpPr txBox="1"/>
          <p:nvPr/>
        </p:nvSpPr>
        <p:spPr>
          <a:xfrm>
            <a:off x="9484902" y="11192361"/>
            <a:ext cx="2413445" cy="1256754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45720" rIns="0" bIns="45720" rtlCol="0" anchor="ctr">
            <a:spAutoFit/>
          </a:bodyPr>
          <a:lstStyle/>
          <a:p>
            <a:pPr marL="57150">
              <a:spcAft>
                <a:spcPts val="500"/>
              </a:spcAft>
            </a:pPr>
            <a:r>
              <a:rPr lang="en-US" altLang="ko-KR" sz="650" b="1" dirty="0">
                <a:solidFill>
                  <a:schemeClr val="tx1"/>
                </a:solidFill>
                <a:latin typeface="ui-sans-serif"/>
              </a:rPr>
              <a:t>Generate Multiple Queries</a:t>
            </a:r>
            <a:endParaRPr lang="en-US" sz="650" b="1" dirty="0">
              <a:solidFill>
                <a:schemeClr val="tx1"/>
              </a:solidFill>
              <a:latin typeface="ui-sans-serif"/>
            </a:endParaRPr>
          </a:p>
          <a:p>
            <a:pPr marL="228600" indent="-114300">
              <a:buFont typeface="+mj-lt"/>
              <a:buAutoNum type="arabicPeriod"/>
            </a:pPr>
            <a:r>
              <a:rPr lang="en-US" sz="650" b="1" dirty="0">
                <a:solidFill>
                  <a:schemeClr val="tx1"/>
                </a:solidFill>
                <a:latin typeface="ui-sans-serif"/>
              </a:rPr>
              <a:t>Which deconvolution methods are most effective for analyzing </a:t>
            </a:r>
            <a:r>
              <a:rPr lang="en-US" sz="650" b="1" dirty="0" err="1">
                <a:solidFill>
                  <a:schemeClr val="tx1"/>
                </a:solidFill>
                <a:latin typeface="ui-sans-serif"/>
              </a:rPr>
              <a:t>Visium</a:t>
            </a:r>
            <a:r>
              <a:rPr lang="en-US" sz="650" b="1" dirty="0">
                <a:solidFill>
                  <a:schemeClr val="tx1"/>
                </a:solidFill>
                <a:latin typeface="ui-sans-serif"/>
              </a:rPr>
              <a:t> spot-based spatial transcriptomics data?</a:t>
            </a:r>
          </a:p>
          <a:p>
            <a:pPr marL="228600" indent="-114300">
              <a:buFont typeface="+mj-lt"/>
              <a:buAutoNum type="arabicPeriod"/>
            </a:pPr>
            <a:r>
              <a:rPr lang="en-US" sz="650" b="1" dirty="0">
                <a:solidFill>
                  <a:schemeClr val="tx1"/>
                </a:solidFill>
                <a:latin typeface="ui-sans-serif"/>
              </a:rPr>
              <a:t>Can you recommend top deconvolution tools suitable for                          </a:t>
            </a:r>
            <a:r>
              <a:rPr lang="en-US" sz="650" b="1" dirty="0" err="1">
                <a:solidFill>
                  <a:schemeClr val="tx1"/>
                </a:solidFill>
                <a:latin typeface="ui-sans-serif"/>
              </a:rPr>
              <a:t>Visium</a:t>
            </a:r>
            <a:r>
              <a:rPr lang="en-US" sz="650" b="1" dirty="0">
                <a:solidFill>
                  <a:schemeClr val="tx1"/>
                </a:solidFill>
                <a:latin typeface="ui-sans-serif"/>
              </a:rPr>
              <a:t> spatial transcriptomics spot data?</a:t>
            </a:r>
          </a:p>
          <a:p>
            <a:pPr marL="228600" indent="-114300">
              <a:buFont typeface="+mj-lt"/>
              <a:buAutoNum type="arabicPeriod"/>
            </a:pPr>
            <a:r>
              <a:rPr lang="en-US" sz="650" b="1" dirty="0">
                <a:solidFill>
                  <a:schemeClr val="tx1"/>
                </a:solidFill>
                <a:latin typeface="ui-sans-serif"/>
              </a:rPr>
              <a:t>What are the leading software options for deconvolution in                      </a:t>
            </a:r>
            <a:r>
              <a:rPr lang="en-US" sz="650" b="1" dirty="0" err="1">
                <a:solidFill>
                  <a:schemeClr val="tx1"/>
                </a:solidFill>
                <a:latin typeface="ui-sans-serif"/>
              </a:rPr>
              <a:t>Visium</a:t>
            </a:r>
            <a:r>
              <a:rPr lang="en-US" sz="650" b="1" dirty="0">
                <a:solidFill>
                  <a:schemeClr val="tx1"/>
                </a:solidFill>
                <a:latin typeface="ui-sans-serif"/>
              </a:rPr>
              <a:t> spot-based spatial transcriptomics?</a:t>
            </a:r>
          </a:p>
          <a:p>
            <a:pPr marL="228600" indent="-114300">
              <a:buFont typeface="+mj-lt"/>
              <a:buAutoNum type="arabicPeriod"/>
            </a:pPr>
            <a:r>
              <a:rPr lang="en-US" sz="650" b="1" dirty="0">
                <a:solidFill>
                  <a:schemeClr val="tx1"/>
                </a:solidFill>
                <a:latin typeface="ui-sans-serif"/>
              </a:rPr>
              <a:t>Which algorithms perform best for deconvolution of                                  </a:t>
            </a:r>
            <a:r>
              <a:rPr lang="en-US" sz="650" b="1" dirty="0" err="1">
                <a:solidFill>
                  <a:schemeClr val="tx1"/>
                </a:solidFill>
                <a:latin typeface="ui-sans-serif"/>
              </a:rPr>
              <a:t>Visium</a:t>
            </a:r>
            <a:r>
              <a:rPr lang="en-US" sz="650" b="1" dirty="0">
                <a:solidFill>
                  <a:schemeClr val="tx1"/>
                </a:solidFill>
                <a:latin typeface="ui-sans-serif"/>
              </a:rPr>
              <a:t> spatial transcriptomics spot data?</a:t>
            </a:r>
          </a:p>
          <a:p>
            <a:pPr marL="228600" indent="-114300">
              <a:buFont typeface="+mj-lt"/>
              <a:buAutoNum type="arabicPeriod"/>
            </a:pPr>
            <a:r>
              <a:rPr lang="en-US" sz="650" b="1" dirty="0">
                <a:solidFill>
                  <a:schemeClr val="tx1"/>
                </a:solidFill>
                <a:latin typeface="ui-sans-serif"/>
              </a:rPr>
              <a:t>What tools are commonly used for deconvolution in the analysis of </a:t>
            </a:r>
            <a:r>
              <a:rPr lang="en-US" sz="650" b="1" dirty="0" err="1">
                <a:solidFill>
                  <a:schemeClr val="tx1"/>
                </a:solidFill>
                <a:latin typeface="ui-sans-serif"/>
              </a:rPr>
              <a:t>Visium</a:t>
            </a:r>
            <a:r>
              <a:rPr lang="en-US" sz="650" b="1" dirty="0">
                <a:solidFill>
                  <a:schemeClr val="tx1"/>
                </a:solidFill>
                <a:latin typeface="ui-sans-serif"/>
              </a:rPr>
              <a:t> spot-based spatial transcriptomics datasets?</a:t>
            </a:r>
          </a:p>
        </p:txBody>
      </p:sp>
      <p:sp>
        <p:nvSpPr>
          <p:cNvPr id="3" name="Oval Callout 2">
            <a:extLst>
              <a:ext uri="{FF2B5EF4-FFF2-40B4-BE49-F238E27FC236}">
                <a16:creationId xmlns:a16="http://schemas.microsoft.com/office/drawing/2014/main" id="{7C06BC2D-75FB-AB3E-E137-D5F51AC580F8}"/>
              </a:ext>
            </a:extLst>
          </p:cNvPr>
          <p:cNvSpPr/>
          <p:nvPr/>
        </p:nvSpPr>
        <p:spPr>
          <a:xfrm>
            <a:off x="9803303" y="10183369"/>
            <a:ext cx="1246445" cy="307777"/>
          </a:xfrm>
          <a:prstGeom prst="wedgeEllipseCallout">
            <a:avLst>
              <a:gd name="adj1" fmla="val -57054"/>
              <a:gd name="adj2" fmla="val 27550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800" b="1" dirty="0">
                <a:solidFill>
                  <a:schemeClr val="tx1"/>
                </a:solidFill>
                <a:latin typeface="ui-sans-serif"/>
              </a:rPr>
              <a:t>3.reference</a:t>
            </a:r>
          </a:p>
        </p:txBody>
      </p:sp>
      <p:pic>
        <p:nvPicPr>
          <p:cNvPr id="10" name="Graphic 9" descr="User outline">
            <a:extLst>
              <a:ext uri="{FF2B5EF4-FFF2-40B4-BE49-F238E27FC236}">
                <a16:creationId xmlns:a16="http://schemas.microsoft.com/office/drawing/2014/main" id="{60BC700C-15BF-ADC6-3E52-FEEC15B84B2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69667" y="5574206"/>
            <a:ext cx="536657" cy="536657"/>
          </a:xfrm>
          <a:prstGeom prst="rect">
            <a:avLst/>
          </a:prstGeom>
        </p:spPr>
      </p:pic>
      <p:pic>
        <p:nvPicPr>
          <p:cNvPr id="13" name="Graphic 12" descr="User outline">
            <a:extLst>
              <a:ext uri="{FF2B5EF4-FFF2-40B4-BE49-F238E27FC236}">
                <a16:creationId xmlns:a16="http://schemas.microsoft.com/office/drawing/2014/main" id="{762EBDCB-5FB4-06A9-5BA0-857AE1634A8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69667" y="10100991"/>
            <a:ext cx="536657" cy="536657"/>
          </a:xfrm>
          <a:prstGeom prst="rect">
            <a:avLst/>
          </a:prstGeom>
        </p:spPr>
      </p:pic>
      <p:pic>
        <p:nvPicPr>
          <p:cNvPr id="6" name="Graphic 5" descr="Artificial Intelligence outline">
            <a:extLst>
              <a:ext uri="{FF2B5EF4-FFF2-40B4-BE49-F238E27FC236}">
                <a16:creationId xmlns:a16="http://schemas.microsoft.com/office/drawing/2014/main" id="{27D22578-B8FB-7C06-CF1C-505F146113D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59901" y="6224206"/>
            <a:ext cx="417467" cy="417467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74181A1E-3269-2638-C576-72C49DD5AB76}"/>
              </a:ext>
            </a:extLst>
          </p:cNvPr>
          <p:cNvSpPr txBox="1"/>
          <p:nvPr/>
        </p:nvSpPr>
        <p:spPr>
          <a:xfrm>
            <a:off x="6369745" y="5354133"/>
            <a:ext cx="3273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0A1407-3857-35D5-87CD-AFA6BE0A2D20}"/>
              </a:ext>
            </a:extLst>
          </p:cNvPr>
          <p:cNvSpPr txBox="1"/>
          <p:nvPr/>
        </p:nvSpPr>
        <p:spPr>
          <a:xfrm>
            <a:off x="12203322" y="5354133"/>
            <a:ext cx="348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D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1884BCB-8C82-81DD-0335-8D84FB7069BC}"/>
              </a:ext>
            </a:extLst>
          </p:cNvPr>
          <p:cNvSpPr txBox="1"/>
          <p:nvPr/>
        </p:nvSpPr>
        <p:spPr>
          <a:xfrm>
            <a:off x="8907659" y="5354133"/>
            <a:ext cx="327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B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0746AEB-DF01-17A0-7E7B-71B931DEC506}"/>
              </a:ext>
            </a:extLst>
          </p:cNvPr>
          <p:cNvSpPr txBox="1"/>
          <p:nvPr/>
        </p:nvSpPr>
        <p:spPr>
          <a:xfrm>
            <a:off x="8907659" y="10717658"/>
            <a:ext cx="348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</a:t>
            </a:r>
          </a:p>
        </p:txBody>
      </p:sp>
      <p:pic>
        <p:nvPicPr>
          <p:cNvPr id="8" name="Picture 7" descr="A diagram of a process&#10;&#10;AI-generated content may be incorrect.">
            <a:extLst>
              <a:ext uri="{FF2B5EF4-FFF2-40B4-BE49-F238E27FC236}">
                <a16:creationId xmlns:a16="http://schemas.microsoft.com/office/drawing/2014/main" id="{EE4981D0-333C-BB85-72F1-E8D33B27B0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58071" y="6110862"/>
            <a:ext cx="4501098" cy="624642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D562574-0F25-DA73-964E-8842FA06834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6486" y="5574206"/>
            <a:ext cx="2967430" cy="6809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4804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606220-3D9B-8608-6988-5D18409D8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diagram&#10;&#10;AI-generated content may be incorrect.">
            <a:extLst>
              <a:ext uri="{FF2B5EF4-FFF2-40B4-BE49-F238E27FC236}">
                <a16:creationId xmlns:a16="http://schemas.microsoft.com/office/drawing/2014/main" id="{BCB90428-2C8C-BDD1-B4C2-D9B5294506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7531" y="5627335"/>
            <a:ext cx="4934052" cy="709899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B1E9D25-7371-C2CC-59CA-01AF46CE3588}"/>
              </a:ext>
            </a:extLst>
          </p:cNvPr>
          <p:cNvSpPr txBox="1"/>
          <p:nvPr/>
        </p:nvSpPr>
        <p:spPr>
          <a:xfrm>
            <a:off x="16566776" y="12711953"/>
            <a:ext cx="8338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Fig. S2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F7F6849-2128-A4E5-53C4-5A872DE403DE}"/>
              </a:ext>
            </a:extLst>
          </p:cNvPr>
          <p:cNvSpPr/>
          <p:nvPr/>
        </p:nvSpPr>
        <p:spPr>
          <a:xfrm>
            <a:off x="9177449" y="5968829"/>
            <a:ext cx="4820284" cy="221462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Sc reference selector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5B4834B-D9B0-1CEF-706C-D65A2FB54EE9}"/>
              </a:ext>
            </a:extLst>
          </p:cNvPr>
          <p:cNvSpPr txBox="1"/>
          <p:nvPr/>
        </p:nvSpPr>
        <p:spPr>
          <a:xfrm>
            <a:off x="5003678" y="5442669"/>
            <a:ext cx="327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B2912D9-8E1D-480C-1819-7390351E7F4C}"/>
              </a:ext>
            </a:extLst>
          </p:cNvPr>
          <p:cNvSpPr txBox="1"/>
          <p:nvPr/>
        </p:nvSpPr>
        <p:spPr>
          <a:xfrm>
            <a:off x="8797473" y="8430868"/>
            <a:ext cx="348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9615DF0-973C-FF18-E512-6A3CCD3D522A}"/>
              </a:ext>
            </a:extLst>
          </p:cNvPr>
          <p:cNvSpPr txBox="1"/>
          <p:nvPr/>
        </p:nvSpPr>
        <p:spPr>
          <a:xfrm>
            <a:off x="8807892" y="5442669"/>
            <a:ext cx="327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B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B33D61F-02C9-F25A-B699-869F92B62239}"/>
              </a:ext>
            </a:extLst>
          </p:cNvPr>
          <p:cNvSpPr/>
          <p:nvPr/>
        </p:nvSpPr>
        <p:spPr>
          <a:xfrm>
            <a:off x="9426101" y="10511707"/>
            <a:ext cx="4820284" cy="221462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Rmcpagnet</a:t>
            </a:r>
            <a:r>
              <a:rPr lang="en-US" dirty="0"/>
              <a:t> </a:t>
            </a:r>
            <a:r>
              <a:rPr lang="ko-KR" altLang="en-US" dirty="0"/>
              <a:t>실제결과 </a:t>
            </a:r>
            <a:endParaRPr lang="en-US" altLang="ko-KR" dirty="0"/>
          </a:p>
          <a:p>
            <a:pPr algn="ctr"/>
            <a:r>
              <a:rPr lang="en-US" dirty="0"/>
              <a:t>CARD </a:t>
            </a:r>
            <a:r>
              <a:rPr lang="ko-KR" altLang="en-US" dirty="0"/>
              <a:t>결과 추가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83229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0C911D-E700-FF75-7459-140FC83A5B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427B96F-3DD3-D133-D5DE-C29769BF721D}"/>
              </a:ext>
            </a:extLst>
          </p:cNvPr>
          <p:cNvSpPr txBox="1"/>
          <p:nvPr/>
        </p:nvSpPr>
        <p:spPr>
          <a:xfrm>
            <a:off x="16566777" y="12711953"/>
            <a:ext cx="8338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Fig. </a:t>
            </a:r>
            <a:r>
              <a:rPr lang="en-US" altLang="ko-KR" dirty="0"/>
              <a:t>S3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8D5C888-1FC7-50DC-7AEA-2F3628F0AA9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07160" y="5770313"/>
            <a:ext cx="13197480" cy="6598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26454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BD0976-9199-9C83-181E-24CDAD98F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CA820E5-96E0-BA94-E212-4CD0D666A9C1}"/>
              </a:ext>
            </a:extLst>
          </p:cNvPr>
          <p:cNvSpPr txBox="1"/>
          <p:nvPr/>
        </p:nvSpPr>
        <p:spPr>
          <a:xfrm>
            <a:off x="16566777" y="12711953"/>
            <a:ext cx="8352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Fig. </a:t>
            </a:r>
            <a:r>
              <a:rPr lang="en-US" altLang="ko-KR" dirty="0"/>
              <a:t>S2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E1C303-9F76-F40D-A0AD-5D5C287A0E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9700" y="7200900"/>
            <a:ext cx="7772400" cy="388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97699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BA5653-5673-97EB-8C56-EFA29DE907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8D5898B-2D2A-66FC-A9B1-3ED51C6C9E09}"/>
              </a:ext>
            </a:extLst>
          </p:cNvPr>
          <p:cNvSpPr txBox="1"/>
          <p:nvPr/>
        </p:nvSpPr>
        <p:spPr>
          <a:xfrm>
            <a:off x="16566777" y="12711953"/>
            <a:ext cx="8352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Fig. </a:t>
            </a:r>
            <a:r>
              <a:rPr lang="en-US" altLang="ko-KR" dirty="0"/>
              <a:t>S2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9308B94-52C7-1AFE-D4A4-656D3FADB5F6}"/>
              </a:ext>
            </a:extLst>
          </p:cNvPr>
          <p:cNvSpPr txBox="1"/>
          <p:nvPr/>
        </p:nvSpPr>
        <p:spPr>
          <a:xfrm>
            <a:off x="7144093" y="12711953"/>
            <a:ext cx="399981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4400" b="1" dirty="0"/>
              <a:t>논문검색 </a:t>
            </a:r>
            <a:r>
              <a:rPr lang="en-US" altLang="ko-KR" sz="4400" b="1" dirty="0"/>
              <a:t>suppl</a:t>
            </a:r>
            <a:endParaRPr lang="en-US" sz="4400" b="1" dirty="0"/>
          </a:p>
        </p:txBody>
      </p:sp>
    </p:spTree>
    <p:extLst>
      <p:ext uri="{BB962C8B-B14F-4D97-AF65-F5344CB8AC3E}">
        <p14:creationId xmlns:p14="http://schemas.microsoft.com/office/powerpoint/2010/main" val="34535142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17BCFC-B551-687B-9645-5E64A4EAF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F22C6A6-3CB1-4163-CEB7-2D736D7873FD}"/>
              </a:ext>
            </a:extLst>
          </p:cNvPr>
          <p:cNvSpPr txBox="1"/>
          <p:nvPr/>
        </p:nvSpPr>
        <p:spPr>
          <a:xfrm>
            <a:off x="16566777" y="12711953"/>
            <a:ext cx="8352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Fig. </a:t>
            </a:r>
            <a:r>
              <a:rPr lang="en-US" altLang="ko-KR" dirty="0"/>
              <a:t>S2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66FD7D2-E877-C11E-F230-BC70BB5098E3}"/>
              </a:ext>
            </a:extLst>
          </p:cNvPr>
          <p:cNvSpPr txBox="1"/>
          <p:nvPr/>
        </p:nvSpPr>
        <p:spPr>
          <a:xfrm>
            <a:off x="6726514" y="8721180"/>
            <a:ext cx="4834978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400" b="1" dirty="0"/>
              <a:t>Dynamic</a:t>
            </a:r>
            <a:r>
              <a:rPr lang="ko-KR" altLang="en-US" sz="4400" b="1" dirty="0"/>
              <a:t> 논문검색</a:t>
            </a:r>
            <a:br>
              <a:rPr lang="en-US" sz="4400" b="1" dirty="0"/>
            </a:br>
            <a:r>
              <a:rPr lang="ko-KR" altLang="en-US" sz="4400" b="1" dirty="0"/>
              <a:t>검색 디테일</a:t>
            </a:r>
            <a:endParaRPr lang="en-US" sz="4400" b="1" dirty="0"/>
          </a:p>
        </p:txBody>
      </p:sp>
    </p:spTree>
    <p:extLst>
      <p:ext uri="{BB962C8B-B14F-4D97-AF65-F5344CB8AC3E}">
        <p14:creationId xmlns:p14="http://schemas.microsoft.com/office/powerpoint/2010/main" val="32735245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8DF8D8-213A-266E-DD11-A48BF2DD25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F00915B6-9C34-5C7C-5208-CE56FC1281DE}"/>
              </a:ext>
            </a:extLst>
          </p:cNvPr>
          <p:cNvCxnSpPr>
            <a:cxnSpLocks/>
          </p:cNvCxnSpPr>
          <p:nvPr/>
        </p:nvCxnSpPr>
        <p:spPr>
          <a:xfrm>
            <a:off x="4800597" y="7074538"/>
            <a:ext cx="1695095" cy="0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headEnd type="triangle"/>
            <a:tailEnd type="triangle"/>
          </a:ln>
          <a:effectLst/>
        </p:spPr>
      </p:cxnSp>
      <p:sp>
        <p:nvSpPr>
          <p:cNvPr id="1100" name="Rounded Rectangle 1099">
            <a:extLst>
              <a:ext uri="{FF2B5EF4-FFF2-40B4-BE49-F238E27FC236}">
                <a16:creationId xmlns:a16="http://schemas.microsoft.com/office/drawing/2014/main" id="{C387426B-7DFC-C6F9-0E94-71E3899A0D29}"/>
              </a:ext>
            </a:extLst>
          </p:cNvPr>
          <p:cNvSpPr/>
          <p:nvPr/>
        </p:nvSpPr>
        <p:spPr>
          <a:xfrm>
            <a:off x="906773" y="6447460"/>
            <a:ext cx="3834205" cy="1254157"/>
          </a:xfrm>
          <a:prstGeom prst="roundRect">
            <a:avLst>
              <a:gd name="adj" fmla="val 10314"/>
            </a:avLst>
          </a:prstGeom>
          <a:noFill/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defTabSz="914400">
              <a:defRPr/>
            </a:pPr>
            <a:r>
              <a:rPr lang="en-US" sz="1400" b="1" kern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Expert Agents </a:t>
            </a:r>
          </a:p>
          <a:p>
            <a:pPr algn="ctr" defTabSz="914400">
              <a:defRPr/>
            </a:pPr>
            <a:endParaRPr lang="en-US" sz="1400" b="1" kern="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914400">
              <a:defRPr/>
            </a:pPr>
            <a:endParaRPr lang="en-US" sz="1400" b="1" kern="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914400">
              <a:defRPr/>
            </a:pPr>
            <a:endParaRPr lang="en-US" sz="1400" b="1" kern="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914400">
              <a:defRPr/>
            </a:pPr>
            <a:endParaRPr lang="en-US" sz="1400" b="1" kern="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914400">
              <a:defRPr/>
            </a:pPr>
            <a:endParaRPr lang="en-US" sz="1400" b="1" kern="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7047A73-7FAF-7C71-1BA1-6C4CBA5F6AED}"/>
              </a:ext>
            </a:extLst>
          </p:cNvPr>
          <p:cNvSpPr txBox="1"/>
          <p:nvPr/>
        </p:nvSpPr>
        <p:spPr>
          <a:xfrm>
            <a:off x="21695366" y="12582744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Fig 1</a:t>
            </a:r>
          </a:p>
        </p:txBody>
      </p:sp>
      <p:sp>
        <p:nvSpPr>
          <p:cNvPr id="1117" name="Rounded Rectangle 1116">
            <a:extLst>
              <a:ext uri="{FF2B5EF4-FFF2-40B4-BE49-F238E27FC236}">
                <a16:creationId xmlns:a16="http://schemas.microsoft.com/office/drawing/2014/main" id="{C629A385-EF6A-87C6-BDAF-C264B0C00BB5}"/>
              </a:ext>
            </a:extLst>
          </p:cNvPr>
          <p:cNvSpPr/>
          <p:nvPr/>
        </p:nvSpPr>
        <p:spPr>
          <a:xfrm>
            <a:off x="342469" y="8234577"/>
            <a:ext cx="3921418" cy="1254157"/>
          </a:xfrm>
          <a:prstGeom prst="roundRect">
            <a:avLst>
              <a:gd name="adj" fmla="val 10314"/>
            </a:avLst>
          </a:prstGeom>
          <a:solidFill>
            <a:sysClr val="window" lastClr="FFFFFF"/>
          </a:solidFill>
          <a:ln w="12700" cap="flat" cmpd="sng" algn="ctr">
            <a:solidFill>
              <a:srgbClr val="FFC000"/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 defTabSz="914400">
              <a:defRPr/>
            </a:pPr>
            <a:r>
              <a:rPr lang="en-US" sz="1400" b="1" kern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MCP Server </a:t>
            </a:r>
          </a:p>
          <a:p>
            <a:pPr algn="ctr" defTabSz="914400">
              <a:defRPr/>
            </a:pPr>
            <a:endParaRPr lang="en-US" sz="1400" b="1" kern="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914400">
              <a:defRPr/>
            </a:pPr>
            <a:endParaRPr lang="en-US" sz="1400" b="1" kern="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914400">
              <a:defRPr/>
            </a:pPr>
            <a:endParaRPr lang="en-US" sz="1400" b="1" kern="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914400">
              <a:defRPr/>
            </a:pPr>
            <a:endParaRPr lang="en-US" sz="1400" b="1" kern="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914400">
              <a:defRPr/>
            </a:pPr>
            <a:endParaRPr lang="en-US" sz="1400" b="1" kern="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40" name="Rounded Rectangle 1139">
            <a:extLst>
              <a:ext uri="{FF2B5EF4-FFF2-40B4-BE49-F238E27FC236}">
                <a16:creationId xmlns:a16="http://schemas.microsoft.com/office/drawing/2014/main" id="{BC632FA2-68FA-AE34-F286-3DFB732161C0}"/>
              </a:ext>
            </a:extLst>
          </p:cNvPr>
          <p:cNvSpPr/>
          <p:nvPr/>
        </p:nvSpPr>
        <p:spPr>
          <a:xfrm>
            <a:off x="1043769" y="8484890"/>
            <a:ext cx="1203609" cy="406469"/>
          </a:xfrm>
          <a:prstGeom prst="roundRect">
            <a:avLst/>
          </a:prstGeom>
          <a:gradFill rotWithShape="1">
            <a:gsLst>
              <a:gs pos="0">
                <a:srgbClr val="FFC000">
                  <a:lumMod val="110000"/>
                  <a:satMod val="105000"/>
                  <a:tint val="67000"/>
                </a:srgbClr>
              </a:gs>
              <a:gs pos="50000">
                <a:srgbClr val="FFC000">
                  <a:lumMod val="105000"/>
                  <a:satMod val="103000"/>
                  <a:tint val="73000"/>
                </a:srgbClr>
              </a:gs>
              <a:gs pos="100000">
                <a:srgbClr val="FFC000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6350" cap="flat" cmpd="sng" algn="ctr">
            <a:solidFill>
              <a:srgbClr val="FFC000"/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 defTabSz="914400">
              <a:defRPr/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MAST-RAG</a:t>
            </a:r>
            <a:endParaRPr lang="en-US" sz="1200" kern="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42" name="Rounded Rectangle 1141">
            <a:extLst>
              <a:ext uri="{FF2B5EF4-FFF2-40B4-BE49-F238E27FC236}">
                <a16:creationId xmlns:a16="http://schemas.microsoft.com/office/drawing/2014/main" id="{0382BCF8-799B-2462-A0BC-7221F514911E}"/>
              </a:ext>
            </a:extLst>
          </p:cNvPr>
          <p:cNvSpPr/>
          <p:nvPr/>
        </p:nvSpPr>
        <p:spPr>
          <a:xfrm>
            <a:off x="2315404" y="8495809"/>
            <a:ext cx="1203609" cy="406469"/>
          </a:xfrm>
          <a:prstGeom prst="roundRect">
            <a:avLst/>
          </a:prstGeom>
          <a:gradFill rotWithShape="1">
            <a:gsLst>
              <a:gs pos="0">
                <a:srgbClr val="FFC000">
                  <a:lumMod val="110000"/>
                  <a:satMod val="105000"/>
                  <a:tint val="67000"/>
                </a:srgbClr>
              </a:gs>
              <a:gs pos="50000">
                <a:srgbClr val="FFC000">
                  <a:lumMod val="105000"/>
                  <a:satMod val="103000"/>
                  <a:tint val="73000"/>
                </a:srgbClr>
              </a:gs>
              <a:gs pos="100000">
                <a:srgbClr val="FFC000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6350" cap="flat" cmpd="sng" algn="ctr">
            <a:solidFill>
              <a:srgbClr val="FFC000"/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 defTabSz="914400">
              <a:defRPr/>
            </a:pPr>
            <a:r>
              <a:rPr lang="en-US" sz="12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rMCPAgent</a:t>
            </a:r>
            <a:endParaRPr lang="en-US" sz="1200" kern="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43" name="Rounded Rectangle 1142">
            <a:extLst>
              <a:ext uri="{FF2B5EF4-FFF2-40B4-BE49-F238E27FC236}">
                <a16:creationId xmlns:a16="http://schemas.microsoft.com/office/drawing/2014/main" id="{C6B62841-A124-1C8E-258C-8504459F6ED9}"/>
              </a:ext>
            </a:extLst>
          </p:cNvPr>
          <p:cNvSpPr/>
          <p:nvPr/>
        </p:nvSpPr>
        <p:spPr>
          <a:xfrm>
            <a:off x="1053515" y="8998698"/>
            <a:ext cx="1203609" cy="406469"/>
          </a:xfrm>
          <a:prstGeom prst="roundRect">
            <a:avLst/>
          </a:prstGeom>
          <a:gradFill rotWithShape="1">
            <a:gsLst>
              <a:gs pos="0">
                <a:srgbClr val="FFC000">
                  <a:lumMod val="110000"/>
                  <a:satMod val="105000"/>
                  <a:tint val="67000"/>
                </a:srgbClr>
              </a:gs>
              <a:gs pos="50000">
                <a:srgbClr val="FFC000">
                  <a:lumMod val="105000"/>
                  <a:satMod val="103000"/>
                  <a:tint val="73000"/>
                </a:srgbClr>
              </a:gs>
              <a:gs pos="100000">
                <a:srgbClr val="FFC000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6350" cap="flat" cmpd="sng" algn="ctr">
            <a:solidFill>
              <a:srgbClr val="FFC000"/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 defTabSz="615940" fontAlgn="t"/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SC-reference-selector</a:t>
            </a:r>
          </a:p>
        </p:txBody>
      </p:sp>
      <p:grpSp>
        <p:nvGrpSpPr>
          <p:cNvPr id="1232" name="Group 1231">
            <a:extLst>
              <a:ext uri="{FF2B5EF4-FFF2-40B4-BE49-F238E27FC236}">
                <a16:creationId xmlns:a16="http://schemas.microsoft.com/office/drawing/2014/main" id="{ADF20B5B-625D-16C4-E2F7-8CC1D4AB3D9A}"/>
              </a:ext>
            </a:extLst>
          </p:cNvPr>
          <p:cNvGrpSpPr/>
          <p:nvPr/>
        </p:nvGrpSpPr>
        <p:grpSpPr>
          <a:xfrm>
            <a:off x="1474709" y="7701617"/>
            <a:ext cx="1980039" cy="556351"/>
            <a:chOff x="11701986" y="4091247"/>
            <a:chExt cx="1980039" cy="578682"/>
          </a:xfrm>
        </p:grpSpPr>
        <p:cxnSp>
          <p:nvCxnSpPr>
            <p:cNvPr id="1137" name="Straight Arrow Connector 1136">
              <a:extLst>
                <a:ext uri="{FF2B5EF4-FFF2-40B4-BE49-F238E27FC236}">
                  <a16:creationId xmlns:a16="http://schemas.microsoft.com/office/drawing/2014/main" id="{C29D0E56-7186-FF69-E086-30BF51B89DE1}"/>
                </a:ext>
              </a:extLst>
            </p:cNvPr>
            <p:cNvCxnSpPr>
              <a:cxnSpLocks/>
            </p:cNvCxnSpPr>
            <p:nvPr/>
          </p:nvCxnSpPr>
          <p:spPr>
            <a:xfrm>
              <a:off x="12558996" y="4091247"/>
              <a:ext cx="0" cy="578682"/>
            </a:xfrm>
            <a:prstGeom prst="straightConnector1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  <a:headEnd type="triangle"/>
              <a:tailEnd type="triangle"/>
            </a:ln>
            <a:effectLst/>
          </p:spPr>
        </p:cxnSp>
        <p:sp>
          <p:nvSpPr>
            <p:cNvPr id="1144" name="Snip Single Corner Rectangle 1143">
              <a:extLst>
                <a:ext uri="{FF2B5EF4-FFF2-40B4-BE49-F238E27FC236}">
                  <a16:creationId xmlns:a16="http://schemas.microsoft.com/office/drawing/2014/main" id="{BBF98D7C-2263-B898-69BD-6D6FE590105C}"/>
                </a:ext>
              </a:extLst>
            </p:cNvPr>
            <p:cNvSpPr/>
            <p:nvPr/>
          </p:nvSpPr>
          <p:spPr>
            <a:xfrm>
              <a:off x="11701986" y="4228210"/>
              <a:ext cx="1980039" cy="296038"/>
            </a:xfrm>
            <a:prstGeom prst="snip1Rect">
              <a:avLst>
                <a:gd name="adj" fmla="val 50000"/>
              </a:avLst>
            </a:prstGeom>
            <a:ln>
              <a:prstDash val="dash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lIns="0" tIns="0" rIns="0" bIns="0" rtlCol="0" anchor="t"/>
            <a:lstStyle/>
            <a:p>
              <a:pPr algn="ctr" defTabSz="914400">
                <a:defRPr/>
              </a:pPr>
              <a:r>
                <a:rPr lang="en-US" sz="1200" kern="0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Model Context Protocol</a:t>
              </a:r>
            </a:p>
          </p:txBody>
        </p:sp>
      </p:grpSp>
      <p:sp>
        <p:nvSpPr>
          <p:cNvPr id="1145" name="Rounded Rectangle 1144">
            <a:extLst>
              <a:ext uri="{FF2B5EF4-FFF2-40B4-BE49-F238E27FC236}">
                <a16:creationId xmlns:a16="http://schemas.microsoft.com/office/drawing/2014/main" id="{1B62856E-2F29-9791-C965-A517DA8F02E2}"/>
              </a:ext>
            </a:extLst>
          </p:cNvPr>
          <p:cNvSpPr/>
          <p:nvPr/>
        </p:nvSpPr>
        <p:spPr>
          <a:xfrm>
            <a:off x="2307877" y="8998698"/>
            <a:ext cx="1203609" cy="406469"/>
          </a:xfrm>
          <a:prstGeom prst="roundRect">
            <a:avLst/>
          </a:prstGeom>
          <a:gradFill rotWithShape="1">
            <a:gsLst>
              <a:gs pos="0">
                <a:srgbClr val="FFC000">
                  <a:lumMod val="110000"/>
                  <a:satMod val="105000"/>
                  <a:tint val="67000"/>
                </a:srgbClr>
              </a:gs>
              <a:gs pos="50000">
                <a:srgbClr val="FFC000">
                  <a:lumMod val="105000"/>
                  <a:satMod val="103000"/>
                  <a:tint val="73000"/>
                </a:srgbClr>
              </a:gs>
              <a:gs pos="100000">
                <a:srgbClr val="FFC000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6350" cap="flat" cmpd="sng" algn="ctr">
            <a:solidFill>
              <a:srgbClr val="FFC000"/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 defTabSz="914400">
              <a:defRPr/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ST-CCI</a:t>
            </a:r>
            <a:endParaRPr lang="en-US" sz="1200" kern="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47" name="TextBox 1146">
            <a:extLst>
              <a:ext uri="{FF2B5EF4-FFF2-40B4-BE49-F238E27FC236}">
                <a16:creationId xmlns:a16="http://schemas.microsoft.com/office/drawing/2014/main" id="{99EBC183-7F91-7EDB-7777-12535696C72C}"/>
              </a:ext>
            </a:extLst>
          </p:cNvPr>
          <p:cNvSpPr txBox="1"/>
          <p:nvPr/>
        </p:nvSpPr>
        <p:spPr>
          <a:xfrm>
            <a:off x="660608" y="4411249"/>
            <a:ext cx="327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</a:t>
            </a:r>
          </a:p>
        </p:txBody>
      </p:sp>
      <p:sp>
        <p:nvSpPr>
          <p:cNvPr id="1148" name="TextBox 1147">
            <a:extLst>
              <a:ext uri="{FF2B5EF4-FFF2-40B4-BE49-F238E27FC236}">
                <a16:creationId xmlns:a16="http://schemas.microsoft.com/office/drawing/2014/main" id="{736F22E4-5761-57EE-EB6E-56C8CEBD9609}"/>
              </a:ext>
            </a:extLst>
          </p:cNvPr>
          <p:cNvSpPr txBox="1"/>
          <p:nvPr/>
        </p:nvSpPr>
        <p:spPr>
          <a:xfrm>
            <a:off x="16566776" y="17450208"/>
            <a:ext cx="6396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 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6C18960-EEB6-80C9-E760-B7D05A06FB73}"/>
              </a:ext>
            </a:extLst>
          </p:cNvPr>
          <p:cNvSpPr/>
          <p:nvPr/>
        </p:nvSpPr>
        <p:spPr>
          <a:xfrm>
            <a:off x="6328346" y="10373029"/>
            <a:ext cx="1864179" cy="21969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논문 검색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2F1CF93-0D36-5D9F-0290-B7967104EB42}"/>
              </a:ext>
            </a:extLst>
          </p:cNvPr>
          <p:cNvSpPr/>
          <p:nvPr/>
        </p:nvSpPr>
        <p:spPr>
          <a:xfrm>
            <a:off x="10993048" y="10373028"/>
            <a:ext cx="1864179" cy="21969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drug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D66051B-2DD7-B132-3C5D-E5D66F41A8B4}"/>
              </a:ext>
            </a:extLst>
          </p:cNvPr>
          <p:cNvSpPr/>
          <p:nvPr/>
        </p:nvSpPr>
        <p:spPr>
          <a:xfrm>
            <a:off x="8660697" y="10373029"/>
            <a:ext cx="1864179" cy="21969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rmcpagnet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13B9DC-5827-93A8-2396-0EF7EE81D29A}"/>
              </a:ext>
            </a:extLst>
          </p:cNvPr>
          <p:cNvSpPr txBox="1"/>
          <p:nvPr/>
        </p:nvSpPr>
        <p:spPr>
          <a:xfrm>
            <a:off x="9753389" y="13514787"/>
            <a:ext cx="99266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rMCPAgent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F0A6212C-9EE2-C48A-F43B-4BC9ED76DA0A}"/>
              </a:ext>
            </a:extLst>
          </p:cNvPr>
          <p:cNvGrpSpPr/>
          <p:nvPr/>
        </p:nvGrpSpPr>
        <p:grpSpPr>
          <a:xfrm>
            <a:off x="9561858" y="13806055"/>
            <a:ext cx="1375729" cy="2880199"/>
            <a:chOff x="10708648" y="4445559"/>
            <a:chExt cx="1375729" cy="3229599"/>
          </a:xfrm>
        </p:grpSpPr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B237FD14-BB9D-A970-612A-BE2B1C9C6DFF}"/>
                </a:ext>
              </a:extLst>
            </p:cNvPr>
            <p:cNvSpPr/>
            <p:nvPr/>
          </p:nvSpPr>
          <p:spPr>
            <a:xfrm>
              <a:off x="10764049" y="4604386"/>
              <a:ext cx="1264926" cy="449141"/>
            </a:xfrm>
            <a:prstGeom prst="round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1. Input validation</a:t>
              </a:r>
            </a:p>
          </p:txBody>
        </p:sp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B25BC65B-B60B-5679-88C3-C90D18725D2A}"/>
                </a:ext>
              </a:extLst>
            </p:cNvPr>
            <p:cNvSpPr/>
            <p:nvPr/>
          </p:nvSpPr>
          <p:spPr>
            <a:xfrm>
              <a:off x="10764049" y="5219265"/>
              <a:ext cx="1264926" cy="449141"/>
            </a:xfrm>
            <a:prstGeom prst="round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2. Data</a:t>
              </a:r>
              <a:r>
                <a:rPr lang="ko-KR" alt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ko-KR" sz="1000" dirty="0"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  <a:r>
                <a:rPr 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oading</a:t>
              </a:r>
            </a:p>
          </p:txBody>
        </p:sp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54CDA651-B9D5-CCB5-816E-2891BE77A4D2}"/>
                </a:ext>
              </a:extLst>
            </p:cNvPr>
            <p:cNvSpPr/>
            <p:nvPr/>
          </p:nvSpPr>
          <p:spPr>
            <a:xfrm>
              <a:off x="10764049" y="5834144"/>
              <a:ext cx="1264926" cy="449141"/>
            </a:xfrm>
            <a:prstGeom prst="round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3. Workflow</a:t>
              </a:r>
              <a:r>
                <a:rPr lang="ko-KR" alt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integration</a:t>
              </a:r>
            </a:p>
          </p:txBody>
        </p:sp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C4AE1E68-F773-859A-F098-31D525AEFC80}"/>
                </a:ext>
              </a:extLst>
            </p:cNvPr>
            <p:cNvSpPr/>
            <p:nvPr/>
          </p:nvSpPr>
          <p:spPr>
            <a:xfrm>
              <a:off x="10764049" y="6449023"/>
              <a:ext cx="1264926" cy="449141"/>
            </a:xfrm>
            <a:prstGeom prst="round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4.Error</a:t>
              </a:r>
              <a:r>
                <a:rPr lang="ko-KR" alt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handling</a:t>
              </a:r>
            </a:p>
          </p:txBody>
        </p:sp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0BAF6201-E512-A4B3-B853-D41526587F27}"/>
                </a:ext>
              </a:extLst>
            </p:cNvPr>
            <p:cNvSpPr/>
            <p:nvPr/>
          </p:nvSpPr>
          <p:spPr>
            <a:xfrm>
              <a:off x="10764049" y="7063901"/>
              <a:ext cx="1264926" cy="449141"/>
            </a:xfrm>
            <a:prstGeom prst="round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5.Output </a:t>
              </a:r>
            </a:p>
            <a:p>
              <a:pPr algn="ctr"/>
              <a:r>
                <a:rPr 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validation &amp; MCP</a:t>
              </a:r>
            </a:p>
          </p:txBody>
        </p:sp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0A3EC7B5-71F2-1A15-96AD-D89AC329104D}"/>
                </a:ext>
              </a:extLst>
            </p:cNvPr>
            <p:cNvSpPr/>
            <p:nvPr/>
          </p:nvSpPr>
          <p:spPr>
            <a:xfrm>
              <a:off x="10708648" y="4445559"/>
              <a:ext cx="1375729" cy="3229599"/>
            </a:xfrm>
            <a:prstGeom prst="roundRect">
              <a:avLst>
                <a:gd name="adj" fmla="val 18631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0B61DB7F-F538-727C-122E-0B24B6077C0F}"/>
                </a:ext>
              </a:extLst>
            </p:cNvPr>
            <p:cNvCxnSpPr>
              <a:stCxn id="7" idx="2"/>
              <a:endCxn id="8" idx="0"/>
            </p:cNvCxnSpPr>
            <p:nvPr/>
          </p:nvCxnSpPr>
          <p:spPr>
            <a:xfrm>
              <a:off x="11396512" y="5053527"/>
              <a:ext cx="0" cy="16573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5E213D10-9066-9C22-DC6C-0272CD83369F}"/>
                </a:ext>
              </a:extLst>
            </p:cNvPr>
            <p:cNvCxnSpPr>
              <a:cxnSpLocks/>
              <a:stCxn id="8" idx="2"/>
              <a:endCxn id="9" idx="0"/>
            </p:cNvCxnSpPr>
            <p:nvPr/>
          </p:nvCxnSpPr>
          <p:spPr>
            <a:xfrm>
              <a:off x="11396512" y="5668406"/>
              <a:ext cx="0" cy="16573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684826D3-8A07-ACA6-CA9A-5A9EB8453B3F}"/>
                </a:ext>
              </a:extLst>
            </p:cNvPr>
            <p:cNvCxnSpPr>
              <a:cxnSpLocks/>
              <a:stCxn id="9" idx="2"/>
              <a:endCxn id="10" idx="0"/>
            </p:cNvCxnSpPr>
            <p:nvPr/>
          </p:nvCxnSpPr>
          <p:spPr>
            <a:xfrm>
              <a:off x="11396512" y="6283285"/>
              <a:ext cx="0" cy="16573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2EB44565-E59B-2C7B-93A3-E744FC2F49F0}"/>
                </a:ext>
              </a:extLst>
            </p:cNvPr>
            <p:cNvCxnSpPr>
              <a:cxnSpLocks/>
              <a:stCxn id="10" idx="2"/>
              <a:endCxn id="11" idx="0"/>
            </p:cNvCxnSpPr>
            <p:nvPr/>
          </p:nvCxnSpPr>
          <p:spPr>
            <a:xfrm>
              <a:off x="11396512" y="6898164"/>
              <a:ext cx="0" cy="16573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D520625-58BD-F017-9B76-78A8B1DFC623}"/>
              </a:ext>
            </a:extLst>
          </p:cNvPr>
          <p:cNvGrpSpPr/>
          <p:nvPr/>
        </p:nvGrpSpPr>
        <p:grpSpPr>
          <a:xfrm>
            <a:off x="11671629" y="14722779"/>
            <a:ext cx="994022" cy="939383"/>
            <a:chOff x="12316478" y="6324837"/>
            <a:chExt cx="700998" cy="662466"/>
          </a:xfrm>
        </p:grpSpPr>
        <p:sp>
          <p:nvSpPr>
            <p:cNvPr id="18" name="Snip Single Corner Rectangle 17">
              <a:extLst>
                <a:ext uri="{FF2B5EF4-FFF2-40B4-BE49-F238E27FC236}">
                  <a16:creationId xmlns:a16="http://schemas.microsoft.com/office/drawing/2014/main" id="{56F024F5-8BF9-47B7-E09D-A7E0D8644CF2}"/>
                </a:ext>
              </a:extLst>
            </p:cNvPr>
            <p:cNvSpPr/>
            <p:nvPr/>
          </p:nvSpPr>
          <p:spPr>
            <a:xfrm>
              <a:off x="12411742" y="6324837"/>
              <a:ext cx="462116" cy="662466"/>
            </a:xfrm>
            <a:prstGeom prst="snip1Rect">
              <a:avLst/>
            </a:prstGeom>
            <a:noFill/>
            <a:ln w="285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B10E54B5-DBFC-6B79-E9BD-6CC33EBD0272}"/>
                </a:ext>
              </a:extLst>
            </p:cNvPr>
            <p:cNvCxnSpPr>
              <a:cxnSpLocks/>
            </p:cNvCxnSpPr>
            <p:nvPr/>
          </p:nvCxnSpPr>
          <p:spPr>
            <a:xfrm>
              <a:off x="12504420" y="6436076"/>
              <a:ext cx="216908" cy="0"/>
            </a:xfrm>
            <a:prstGeom prst="line">
              <a:avLst/>
            </a:prstGeom>
            <a:ln w="285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D2419542-CCEC-6C68-D496-EBF0460843AC}"/>
                </a:ext>
              </a:extLst>
            </p:cNvPr>
            <p:cNvCxnSpPr>
              <a:cxnSpLocks/>
            </p:cNvCxnSpPr>
            <p:nvPr/>
          </p:nvCxnSpPr>
          <p:spPr>
            <a:xfrm>
              <a:off x="12504420" y="6497036"/>
              <a:ext cx="266700" cy="0"/>
            </a:xfrm>
            <a:prstGeom prst="line">
              <a:avLst/>
            </a:prstGeom>
            <a:ln w="285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D79BA94-3D37-1B07-606D-73907971125C}"/>
                </a:ext>
              </a:extLst>
            </p:cNvPr>
            <p:cNvCxnSpPr>
              <a:cxnSpLocks/>
            </p:cNvCxnSpPr>
            <p:nvPr/>
          </p:nvCxnSpPr>
          <p:spPr>
            <a:xfrm>
              <a:off x="12504420" y="6557996"/>
              <a:ext cx="266700" cy="0"/>
            </a:xfrm>
            <a:prstGeom prst="line">
              <a:avLst/>
            </a:prstGeom>
            <a:ln w="285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D793C093-71EC-95F0-D45B-93E1C99D49AD}"/>
                </a:ext>
              </a:extLst>
            </p:cNvPr>
            <p:cNvSpPr/>
            <p:nvPr/>
          </p:nvSpPr>
          <p:spPr>
            <a:xfrm>
              <a:off x="12316478" y="6618956"/>
              <a:ext cx="700998" cy="282465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ct val="70000"/>
                </a:lnSpc>
              </a:pPr>
              <a:r>
                <a:rPr 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MCP server</a:t>
              </a:r>
            </a:p>
            <a:p>
              <a:pPr algn="ctr">
                <a:lnSpc>
                  <a:spcPct val="70000"/>
                </a:lnSpc>
              </a:pPr>
              <a:r>
                <a:rPr 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(.R file)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A1A249D-E142-6C80-E81B-028F8BA45025}"/>
              </a:ext>
            </a:extLst>
          </p:cNvPr>
          <p:cNvGrpSpPr/>
          <p:nvPr/>
        </p:nvGrpSpPr>
        <p:grpSpPr>
          <a:xfrm>
            <a:off x="7966611" y="15339859"/>
            <a:ext cx="1492508" cy="1391034"/>
            <a:chOff x="9127669" y="6418577"/>
            <a:chExt cx="1492508" cy="1391034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CA00054E-73CC-7ACA-81C2-4738A7CC51C6}"/>
                </a:ext>
              </a:extLst>
            </p:cNvPr>
            <p:cNvGrpSpPr/>
            <p:nvPr/>
          </p:nvGrpSpPr>
          <p:grpSpPr>
            <a:xfrm>
              <a:off x="9127669" y="6860443"/>
              <a:ext cx="1492508" cy="949168"/>
              <a:chOff x="10206322" y="5380072"/>
              <a:chExt cx="1817611" cy="949168"/>
            </a:xfrm>
          </p:grpSpPr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07CBE217-AECB-1785-A1C5-8C91EF7E131D}"/>
                  </a:ext>
                </a:extLst>
              </p:cNvPr>
              <p:cNvSpPr txBox="1"/>
              <p:nvPr/>
            </p:nvSpPr>
            <p:spPr>
              <a:xfrm>
                <a:off x="10206322" y="5959908"/>
                <a:ext cx="181761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9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Deconvolution.yaml</a:t>
                </a:r>
                <a:endParaRPr lang="en-US" sz="9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n-US" sz="900" dirty="0">
                    <a:latin typeface="Arial" panose="020B0604020202020204" pitchFamily="34" charset="0"/>
                    <a:cs typeface="Arial" panose="020B0604020202020204" pitchFamily="34" charset="0"/>
                  </a:rPr>
                  <a:t>Spatial </a:t>
                </a:r>
                <a:r>
                  <a:rPr lang="en-US" sz="9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clustering.yaml</a:t>
                </a:r>
                <a:endParaRPr lang="en-US" sz="9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27" name="Group 26">
                <a:extLst>
                  <a:ext uri="{FF2B5EF4-FFF2-40B4-BE49-F238E27FC236}">
                    <a16:creationId xmlns:a16="http://schemas.microsoft.com/office/drawing/2014/main" id="{9C0AA177-3ABB-B938-5DCF-8F2D33CD89F1}"/>
                  </a:ext>
                </a:extLst>
              </p:cNvPr>
              <p:cNvGrpSpPr/>
              <p:nvPr/>
            </p:nvGrpSpPr>
            <p:grpSpPr>
              <a:xfrm>
                <a:off x="10788805" y="5380072"/>
                <a:ext cx="652645" cy="599768"/>
                <a:chOff x="12316478" y="6324837"/>
                <a:chExt cx="652645" cy="599768"/>
              </a:xfrm>
            </p:grpSpPr>
            <p:sp>
              <p:nvSpPr>
                <p:cNvPr id="28" name="Snip Single Corner Rectangle 27">
                  <a:extLst>
                    <a:ext uri="{FF2B5EF4-FFF2-40B4-BE49-F238E27FC236}">
                      <a16:creationId xmlns:a16="http://schemas.microsoft.com/office/drawing/2014/main" id="{8B200CF3-A415-574F-F097-27DEB3C0964E}"/>
                    </a:ext>
                  </a:extLst>
                </p:cNvPr>
                <p:cNvSpPr/>
                <p:nvPr/>
              </p:nvSpPr>
              <p:spPr>
                <a:xfrm>
                  <a:off x="12411742" y="6324837"/>
                  <a:ext cx="462116" cy="599768"/>
                </a:xfrm>
                <a:prstGeom prst="snip1Rect">
                  <a:avLst/>
                </a:prstGeom>
                <a:noFill/>
                <a:ln w="28575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1">
                  <a:schemeClr val="accent5"/>
                </a:lnRef>
                <a:fillRef idx="2">
                  <a:schemeClr val="accent5"/>
                </a:fillRef>
                <a:effectRef idx="1">
                  <a:schemeClr val="accent5"/>
                </a:effectRef>
                <a:fontRef idx="minor">
                  <a:schemeClr val="dk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en-US" sz="100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cxnSp>
              <p:nvCxnSpPr>
                <p:cNvPr id="29" name="Straight Connector 28">
                  <a:extLst>
                    <a:ext uri="{FF2B5EF4-FFF2-40B4-BE49-F238E27FC236}">
                      <a16:creationId xmlns:a16="http://schemas.microsoft.com/office/drawing/2014/main" id="{5EA8B7DE-96F3-0DA5-F069-F43CE6EC99A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2504420" y="6436076"/>
                  <a:ext cx="216908" cy="0"/>
                </a:xfrm>
                <a:prstGeom prst="line">
                  <a:avLst/>
                </a:prstGeom>
                <a:ln w="28575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Straight Connector 29">
                  <a:extLst>
                    <a:ext uri="{FF2B5EF4-FFF2-40B4-BE49-F238E27FC236}">
                      <a16:creationId xmlns:a16="http://schemas.microsoft.com/office/drawing/2014/main" id="{FDE3D06B-6082-9C39-3FAC-44D39442C01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2504420" y="6497036"/>
                  <a:ext cx="266700" cy="0"/>
                </a:xfrm>
                <a:prstGeom prst="line">
                  <a:avLst/>
                </a:prstGeom>
                <a:ln w="28575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Straight Connector 30">
                  <a:extLst>
                    <a:ext uri="{FF2B5EF4-FFF2-40B4-BE49-F238E27FC236}">
                      <a16:creationId xmlns:a16="http://schemas.microsoft.com/office/drawing/2014/main" id="{6D1F8D27-CE6A-738F-B4D8-A47EADEFF2C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2504420" y="6557996"/>
                  <a:ext cx="266700" cy="0"/>
                </a:xfrm>
                <a:prstGeom prst="line">
                  <a:avLst/>
                </a:prstGeom>
                <a:ln w="28575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2" name="Rectangle 31">
                  <a:extLst>
                    <a:ext uri="{FF2B5EF4-FFF2-40B4-BE49-F238E27FC236}">
                      <a16:creationId xmlns:a16="http://schemas.microsoft.com/office/drawing/2014/main" id="{82A27CF1-2804-5A17-CB39-9822C3E7AE5D}"/>
                    </a:ext>
                  </a:extLst>
                </p:cNvPr>
                <p:cNvSpPr/>
                <p:nvPr/>
              </p:nvSpPr>
              <p:spPr>
                <a:xfrm>
                  <a:off x="12316478" y="6618957"/>
                  <a:ext cx="652645" cy="193672"/>
                </a:xfrm>
                <a:prstGeom prst="rect">
                  <a:avLst/>
                </a:prstGeom>
              </p:spPr>
              <p:style>
                <a:lnRef idx="1">
                  <a:schemeClr val="accent2"/>
                </a:lnRef>
                <a:fillRef idx="2">
                  <a:schemeClr val="accent2"/>
                </a:fillRef>
                <a:effectRef idx="1">
                  <a:schemeClr val="accent2"/>
                </a:effectRef>
                <a:fontRef idx="minor">
                  <a:schemeClr val="dk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10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YAML</a:t>
                  </a:r>
                </a:p>
              </p:txBody>
            </p:sp>
          </p:grpSp>
        </p:grp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0055D9C-3B5B-0BB4-EE04-19D4573D5942}"/>
                </a:ext>
              </a:extLst>
            </p:cNvPr>
            <p:cNvSpPr txBox="1"/>
            <p:nvPr/>
          </p:nvSpPr>
          <p:spPr>
            <a:xfrm>
              <a:off x="9377591" y="6418577"/>
              <a:ext cx="992664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Workflow template</a:t>
              </a:r>
            </a:p>
          </p:txBody>
        </p:sp>
      </p:grpSp>
      <p:sp>
        <p:nvSpPr>
          <p:cNvPr id="33" name="Cross 32">
            <a:extLst>
              <a:ext uri="{FF2B5EF4-FFF2-40B4-BE49-F238E27FC236}">
                <a16:creationId xmlns:a16="http://schemas.microsoft.com/office/drawing/2014/main" id="{6E25BAC0-5176-FFDF-4442-26EF8F49925A}"/>
              </a:ext>
            </a:extLst>
          </p:cNvPr>
          <p:cNvSpPr/>
          <p:nvPr/>
        </p:nvSpPr>
        <p:spPr>
          <a:xfrm>
            <a:off x="9114425" y="15774356"/>
            <a:ext cx="330492" cy="292867"/>
          </a:xfrm>
          <a:prstGeom prst="plus">
            <a:avLst>
              <a:gd name="adj" fmla="val 41859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6D732DE0-3A90-6C31-CCE4-BED808B03CC4}"/>
              </a:ext>
            </a:extLst>
          </p:cNvPr>
          <p:cNvGrpSpPr/>
          <p:nvPr/>
        </p:nvGrpSpPr>
        <p:grpSpPr>
          <a:xfrm>
            <a:off x="8045509" y="13771605"/>
            <a:ext cx="992664" cy="1350612"/>
            <a:chOff x="9274234" y="4527231"/>
            <a:chExt cx="992664" cy="1350612"/>
          </a:xfrm>
        </p:grpSpPr>
        <p:pic>
          <p:nvPicPr>
            <p:cNvPr id="35" name="Graphic 34">
              <a:extLst>
                <a:ext uri="{FF2B5EF4-FFF2-40B4-BE49-F238E27FC236}">
                  <a16:creationId xmlns:a16="http://schemas.microsoft.com/office/drawing/2014/main" id="{A0410D76-A1B4-D72C-14D9-3BEF6FB44AD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342329" y="4971555"/>
              <a:ext cx="856474" cy="662466"/>
            </a:xfrm>
            <a:prstGeom prst="rect">
              <a:avLst/>
            </a:prstGeom>
          </p:spPr>
        </p:pic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940FA88E-3A4A-A0AA-03AD-BD7FCC14A16A}"/>
                </a:ext>
              </a:extLst>
            </p:cNvPr>
            <p:cNvSpPr txBox="1"/>
            <p:nvPr/>
          </p:nvSpPr>
          <p:spPr>
            <a:xfrm>
              <a:off x="9274234" y="4527231"/>
              <a:ext cx="992664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ST analysis tools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7304E5A0-4987-FBE4-6893-A14297BBA0E0}"/>
                </a:ext>
              </a:extLst>
            </p:cNvPr>
            <p:cNvSpPr txBox="1"/>
            <p:nvPr/>
          </p:nvSpPr>
          <p:spPr>
            <a:xfrm>
              <a:off x="9274234" y="5647011"/>
              <a:ext cx="992664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900" dirty="0">
                  <a:latin typeface="Arial" panose="020B0604020202020204" pitchFamily="34" charset="0"/>
                  <a:cs typeface="Arial" panose="020B0604020202020204" pitchFamily="34" charset="0"/>
                </a:rPr>
                <a:t>R functions</a:t>
              </a:r>
            </a:p>
          </p:txBody>
        </p:sp>
      </p:grpSp>
      <p:sp>
        <p:nvSpPr>
          <p:cNvPr id="38" name="Right Arrow 37">
            <a:extLst>
              <a:ext uri="{FF2B5EF4-FFF2-40B4-BE49-F238E27FC236}">
                <a16:creationId xmlns:a16="http://schemas.microsoft.com/office/drawing/2014/main" id="{1DE0AD1F-FA1A-6961-15FD-C906C39C74E5}"/>
              </a:ext>
            </a:extLst>
          </p:cNvPr>
          <p:cNvSpPr/>
          <p:nvPr/>
        </p:nvSpPr>
        <p:spPr>
          <a:xfrm>
            <a:off x="9117091" y="14352347"/>
            <a:ext cx="342028" cy="367841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Right Arrow 38">
            <a:extLst>
              <a:ext uri="{FF2B5EF4-FFF2-40B4-BE49-F238E27FC236}">
                <a16:creationId xmlns:a16="http://schemas.microsoft.com/office/drawing/2014/main" id="{E6856F86-BB74-A25A-79C2-6564FB6406E4}"/>
              </a:ext>
            </a:extLst>
          </p:cNvPr>
          <p:cNvSpPr/>
          <p:nvPr/>
        </p:nvSpPr>
        <p:spPr>
          <a:xfrm>
            <a:off x="11158577" y="15044413"/>
            <a:ext cx="342028" cy="367841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EF95805F-B6A1-4291-06E8-6A0FD5D1829F}"/>
              </a:ext>
            </a:extLst>
          </p:cNvPr>
          <p:cNvSpPr/>
          <p:nvPr/>
        </p:nvSpPr>
        <p:spPr>
          <a:xfrm>
            <a:off x="6577345" y="5027919"/>
            <a:ext cx="1258432" cy="3969725"/>
          </a:xfrm>
          <a:prstGeom prst="roundRect">
            <a:avLst>
              <a:gd name="adj" fmla="val 10314"/>
            </a:avLst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 defTabSz="914400">
              <a:defRPr/>
            </a:pPr>
            <a:r>
              <a:rPr lang="en-US" sz="1400" b="1" kern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Database</a:t>
            </a:r>
          </a:p>
          <a:p>
            <a:pPr algn="ctr" defTabSz="914400">
              <a:defRPr/>
            </a:pPr>
            <a:endParaRPr lang="en-US" sz="1400" b="1" kern="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914400">
              <a:defRPr/>
            </a:pPr>
            <a:endParaRPr lang="en-US" sz="1400" b="1" kern="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914400">
              <a:defRPr/>
            </a:pPr>
            <a:endParaRPr lang="en-US" sz="1400" b="1" kern="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914400">
              <a:defRPr/>
            </a:pPr>
            <a:endParaRPr lang="en-US" sz="1400" b="1" kern="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914400">
              <a:defRPr/>
            </a:pPr>
            <a:endParaRPr lang="en-US" sz="1400" b="1" kern="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914400">
              <a:defRPr/>
            </a:pPr>
            <a:endParaRPr lang="en-US" sz="1400" b="1" kern="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914400">
              <a:defRPr/>
            </a:pPr>
            <a:endParaRPr lang="en-US" sz="1400" b="1" kern="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914400">
              <a:defRPr/>
            </a:pPr>
            <a:endParaRPr lang="en-US" sz="1400" b="1" kern="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914400">
              <a:defRPr/>
            </a:pPr>
            <a:endParaRPr lang="en-US" sz="1400" b="1" kern="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914400">
              <a:defRPr/>
            </a:pPr>
            <a:endParaRPr lang="en-US" sz="1400" b="1" kern="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914400">
              <a:defRPr/>
            </a:pPr>
            <a:endParaRPr lang="en-US" sz="1400" b="1" kern="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914400">
              <a:defRPr/>
            </a:pPr>
            <a:endParaRPr lang="en-US" sz="1400" b="1" kern="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914400">
              <a:defRPr/>
            </a:pPr>
            <a:endParaRPr lang="en-US" sz="1400" b="1" kern="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914400">
              <a:defRPr/>
            </a:pPr>
            <a:endParaRPr lang="en-US" sz="1400" b="1" kern="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914400">
              <a:defRPr/>
            </a:pPr>
            <a:endParaRPr lang="en-US" sz="1400" b="1" kern="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914400">
              <a:defRPr/>
            </a:pPr>
            <a:endParaRPr lang="en-US" sz="1400" b="1" kern="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914400">
              <a:defRPr/>
            </a:pPr>
            <a:endParaRPr lang="en-US" sz="1400" b="1" kern="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BA190FBA-23A1-2186-91E0-2BF55EE7F8C9}"/>
              </a:ext>
            </a:extLst>
          </p:cNvPr>
          <p:cNvSpPr/>
          <p:nvPr/>
        </p:nvSpPr>
        <p:spPr>
          <a:xfrm>
            <a:off x="6604757" y="5428948"/>
            <a:ext cx="1203609" cy="406469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 defTabSz="914400">
              <a:defRPr/>
            </a:pPr>
            <a:r>
              <a:rPr lang="en-US" sz="12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CellxGene</a:t>
            </a: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Census </a:t>
            </a:r>
            <a:endParaRPr lang="en-US" sz="1200" kern="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3E253A40-5D54-344F-F895-243E2E8C5D2A}"/>
              </a:ext>
            </a:extLst>
          </p:cNvPr>
          <p:cNvSpPr/>
          <p:nvPr/>
        </p:nvSpPr>
        <p:spPr>
          <a:xfrm>
            <a:off x="6604757" y="5933321"/>
            <a:ext cx="1203609" cy="406469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 defTabSz="914400">
              <a:defRPr/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KEGG</a:t>
            </a:r>
            <a:r>
              <a:rPr lang="en-US" altLang="ko-KR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</a:p>
          <a:p>
            <a:pPr algn="ctr" defTabSz="914400">
              <a:defRPr/>
            </a:pPr>
            <a:r>
              <a:rPr lang="en-US" altLang="ko-KR" sz="12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Reactome</a:t>
            </a:r>
            <a:endParaRPr lang="en-US" sz="1200" kern="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63AEAD36-14AE-9954-8DCC-79CBE0A8C812}"/>
              </a:ext>
            </a:extLst>
          </p:cNvPr>
          <p:cNvSpPr/>
          <p:nvPr/>
        </p:nvSpPr>
        <p:spPr>
          <a:xfrm>
            <a:off x="6604757" y="6437694"/>
            <a:ext cx="1203609" cy="406469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 defTabSz="914400">
              <a:defRPr/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STRING</a:t>
            </a:r>
            <a:endParaRPr lang="en-US" sz="1200" kern="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8125AD28-8707-4481-56EF-A7C8D21DFBC9}"/>
              </a:ext>
            </a:extLst>
          </p:cNvPr>
          <p:cNvSpPr/>
          <p:nvPr/>
        </p:nvSpPr>
        <p:spPr>
          <a:xfrm>
            <a:off x="6604757" y="6942067"/>
            <a:ext cx="1203609" cy="406469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 defTabSz="615940" fontAlgn="t"/>
            <a:r>
              <a:rPr lang="en-US" sz="12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OpenTargets</a:t>
            </a:r>
            <a:endParaRPr lang="en-US" sz="12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3979C2FE-4660-E1C8-E95A-85386A341F78}"/>
              </a:ext>
            </a:extLst>
          </p:cNvPr>
          <p:cNvSpPr/>
          <p:nvPr/>
        </p:nvSpPr>
        <p:spPr>
          <a:xfrm>
            <a:off x="6604757" y="7446440"/>
            <a:ext cx="1203609" cy="406469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 defTabSz="914400">
              <a:defRPr/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GWAS Catalog</a:t>
            </a:r>
            <a:endParaRPr lang="en-US" sz="1200" kern="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A8C60466-5E42-2C85-A076-1529D207750C}"/>
              </a:ext>
            </a:extLst>
          </p:cNvPr>
          <p:cNvSpPr/>
          <p:nvPr/>
        </p:nvSpPr>
        <p:spPr>
          <a:xfrm>
            <a:off x="6604757" y="7950813"/>
            <a:ext cx="1203609" cy="406469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 defTabSz="914400">
              <a:defRPr/>
            </a:pPr>
            <a:r>
              <a:rPr lang="en-US" sz="12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ChEMBL</a:t>
            </a:r>
            <a:endParaRPr lang="en-US" sz="1200" kern="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C2FAB605-7C15-50A2-7625-29C5D56747A7}"/>
              </a:ext>
            </a:extLst>
          </p:cNvPr>
          <p:cNvSpPr/>
          <p:nvPr/>
        </p:nvSpPr>
        <p:spPr>
          <a:xfrm>
            <a:off x="6604757" y="8455187"/>
            <a:ext cx="1203609" cy="406469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 defTabSz="914400">
              <a:defRPr/>
            </a:pPr>
            <a:r>
              <a:rPr lang="en-US" sz="12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Ensembl</a:t>
            </a: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VEP </a:t>
            </a:r>
            <a:endParaRPr lang="en-US" sz="1200" kern="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6AB3ED3-9F1B-D164-B343-CE1474B060C9}"/>
              </a:ext>
            </a:extLst>
          </p:cNvPr>
          <p:cNvSpPr txBox="1"/>
          <p:nvPr/>
        </p:nvSpPr>
        <p:spPr>
          <a:xfrm>
            <a:off x="12857227" y="10373028"/>
            <a:ext cx="6944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skills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0C84CE0-7F9C-4886-D3B0-A33498BBEA85}"/>
              </a:ext>
            </a:extLst>
          </p:cNvPr>
          <p:cNvSpPr txBox="1"/>
          <p:nvPr/>
        </p:nvSpPr>
        <p:spPr>
          <a:xfrm>
            <a:off x="12857227" y="11047585"/>
            <a:ext cx="27863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Progressive disclosure</a:t>
            </a:r>
          </a:p>
          <a:p>
            <a:r>
              <a:rPr lang="en-US" dirty="0"/>
              <a:t>Think – search- </a:t>
            </a:r>
            <a:r>
              <a:rPr lang="en-US" dirty="0" err="1"/>
              <a:t>refelection</a:t>
            </a:r>
            <a:endParaRPr lang="en-US" dirty="0"/>
          </a:p>
        </p:txBody>
      </p:sp>
      <p:sp>
        <p:nvSpPr>
          <p:cNvPr id="1088" name="Rounded Rectangle 1087">
            <a:extLst>
              <a:ext uri="{FF2B5EF4-FFF2-40B4-BE49-F238E27FC236}">
                <a16:creationId xmlns:a16="http://schemas.microsoft.com/office/drawing/2014/main" id="{E18D362C-E8F9-3FEC-8A59-0FBE7D755AF2}"/>
              </a:ext>
            </a:extLst>
          </p:cNvPr>
          <p:cNvSpPr/>
          <p:nvPr/>
        </p:nvSpPr>
        <p:spPr>
          <a:xfrm>
            <a:off x="2111633" y="5537933"/>
            <a:ext cx="1170660" cy="469659"/>
          </a:xfrm>
          <a:prstGeom prst="roundRect">
            <a:avLst/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 defTabSz="914400">
              <a:defRPr/>
            </a:pPr>
            <a:r>
              <a:rPr lang="en-US" sz="1200" kern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Supervisor </a:t>
            </a:r>
          </a:p>
          <a:p>
            <a:pPr algn="ctr" defTabSz="914400">
              <a:defRPr/>
            </a:pPr>
            <a:r>
              <a:rPr lang="en-US" sz="1200" kern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Agent</a:t>
            </a:r>
          </a:p>
        </p:txBody>
      </p:sp>
      <p:cxnSp>
        <p:nvCxnSpPr>
          <p:cNvPr id="1089" name="Straight Arrow Connector 1088">
            <a:extLst>
              <a:ext uri="{FF2B5EF4-FFF2-40B4-BE49-F238E27FC236}">
                <a16:creationId xmlns:a16="http://schemas.microsoft.com/office/drawing/2014/main" id="{23D9715A-7B06-38F7-E960-6511F9E4418D}"/>
              </a:ext>
            </a:extLst>
          </p:cNvPr>
          <p:cNvCxnSpPr>
            <a:cxnSpLocks/>
          </p:cNvCxnSpPr>
          <p:nvPr/>
        </p:nvCxnSpPr>
        <p:spPr>
          <a:xfrm flipV="1">
            <a:off x="1655319" y="6082936"/>
            <a:ext cx="385939" cy="364524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headEnd type="triangle"/>
            <a:tailEnd type="triangle"/>
          </a:ln>
          <a:effectLst/>
        </p:spPr>
      </p:cxnSp>
      <p:sp>
        <p:nvSpPr>
          <p:cNvPr id="1090" name="Rounded Rectangle 1089">
            <a:extLst>
              <a:ext uri="{FF2B5EF4-FFF2-40B4-BE49-F238E27FC236}">
                <a16:creationId xmlns:a16="http://schemas.microsoft.com/office/drawing/2014/main" id="{24A2663C-5612-0189-28D8-D88E481CA344}"/>
              </a:ext>
            </a:extLst>
          </p:cNvPr>
          <p:cNvSpPr/>
          <p:nvPr/>
        </p:nvSpPr>
        <p:spPr>
          <a:xfrm>
            <a:off x="972572" y="6634718"/>
            <a:ext cx="1092459" cy="469659"/>
          </a:xfrm>
          <a:prstGeom prst="roundRect">
            <a:avLst/>
          </a:prstGeom>
          <a:gradFill rotWithShape="1">
            <a:gsLst>
              <a:gs pos="0">
                <a:srgbClr val="4472C4">
                  <a:lumMod val="110000"/>
                  <a:satMod val="105000"/>
                  <a:tint val="67000"/>
                </a:srgbClr>
              </a:gs>
              <a:gs pos="50000">
                <a:srgbClr val="4472C4">
                  <a:lumMod val="105000"/>
                  <a:satMod val="103000"/>
                  <a:tint val="73000"/>
                </a:srgbClr>
              </a:gs>
              <a:gs pos="100000">
                <a:srgbClr val="4472C4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6350" cap="flat" cmpd="sng" algn="ctr">
            <a:solidFill>
              <a:srgbClr val="4472C4"/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 defTabSz="914400">
              <a:defRPr/>
            </a:pPr>
            <a:r>
              <a:rPr lang="en-US" sz="1200" kern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Pipeline</a:t>
            </a:r>
          </a:p>
          <a:p>
            <a:pPr algn="ctr" defTabSz="914400">
              <a:defRPr/>
            </a:pPr>
            <a:r>
              <a:rPr lang="en-US" sz="1200" kern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builder</a:t>
            </a:r>
          </a:p>
        </p:txBody>
      </p:sp>
      <p:sp>
        <p:nvSpPr>
          <p:cNvPr id="1091" name="Rounded Rectangle 1090">
            <a:extLst>
              <a:ext uri="{FF2B5EF4-FFF2-40B4-BE49-F238E27FC236}">
                <a16:creationId xmlns:a16="http://schemas.microsoft.com/office/drawing/2014/main" id="{70C65122-1217-12D8-312C-8F6309A9DA27}"/>
              </a:ext>
            </a:extLst>
          </p:cNvPr>
          <p:cNvSpPr/>
          <p:nvPr/>
        </p:nvSpPr>
        <p:spPr>
          <a:xfrm>
            <a:off x="2213660" y="6634718"/>
            <a:ext cx="1092459" cy="469659"/>
          </a:xfrm>
          <a:prstGeom prst="roundRect">
            <a:avLst/>
          </a:prstGeom>
          <a:gradFill rotWithShape="1">
            <a:gsLst>
              <a:gs pos="0">
                <a:srgbClr val="4472C4">
                  <a:lumMod val="110000"/>
                  <a:satMod val="105000"/>
                  <a:tint val="67000"/>
                </a:srgbClr>
              </a:gs>
              <a:gs pos="50000">
                <a:srgbClr val="4472C4">
                  <a:lumMod val="105000"/>
                  <a:satMod val="103000"/>
                  <a:tint val="73000"/>
                </a:srgbClr>
              </a:gs>
              <a:gs pos="100000">
                <a:srgbClr val="4472C4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6350" cap="flat" cmpd="sng" algn="ctr">
            <a:solidFill>
              <a:srgbClr val="4472C4"/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 defTabSz="914400">
              <a:defRPr/>
            </a:pPr>
            <a:r>
              <a:rPr lang="en-US" sz="1200" kern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Pipeline</a:t>
            </a:r>
          </a:p>
          <a:p>
            <a:pPr algn="ctr" defTabSz="914400">
              <a:defRPr/>
            </a:pPr>
            <a:r>
              <a:rPr lang="en-US" sz="1200" kern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Executor</a:t>
            </a:r>
          </a:p>
        </p:txBody>
      </p:sp>
      <p:sp>
        <p:nvSpPr>
          <p:cNvPr id="1092" name="Rounded Rectangle 1091">
            <a:extLst>
              <a:ext uri="{FF2B5EF4-FFF2-40B4-BE49-F238E27FC236}">
                <a16:creationId xmlns:a16="http://schemas.microsoft.com/office/drawing/2014/main" id="{35B69A1C-E319-6D01-F5EF-68526689C084}"/>
              </a:ext>
            </a:extLst>
          </p:cNvPr>
          <p:cNvSpPr/>
          <p:nvPr/>
        </p:nvSpPr>
        <p:spPr>
          <a:xfrm>
            <a:off x="3454748" y="6505495"/>
            <a:ext cx="1092459" cy="469659"/>
          </a:xfrm>
          <a:prstGeom prst="roundRect">
            <a:avLst/>
          </a:prstGeom>
          <a:gradFill rotWithShape="1">
            <a:gsLst>
              <a:gs pos="0">
                <a:srgbClr val="4472C4">
                  <a:lumMod val="110000"/>
                  <a:satMod val="105000"/>
                  <a:tint val="67000"/>
                </a:srgbClr>
              </a:gs>
              <a:gs pos="50000">
                <a:srgbClr val="4472C4">
                  <a:lumMod val="105000"/>
                  <a:satMod val="103000"/>
                  <a:tint val="73000"/>
                </a:srgbClr>
              </a:gs>
              <a:gs pos="100000">
                <a:srgbClr val="4472C4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6350" cap="flat" cmpd="sng" algn="ctr">
            <a:solidFill>
              <a:srgbClr val="4472C4"/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 defTabSz="914400">
              <a:defRPr/>
            </a:pPr>
            <a:r>
              <a:rPr lang="en-US" sz="1200" kern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Biological interpreter</a:t>
            </a:r>
          </a:p>
        </p:txBody>
      </p:sp>
      <p:cxnSp>
        <p:nvCxnSpPr>
          <p:cNvPr id="1096" name="Straight Arrow Connector 1095">
            <a:extLst>
              <a:ext uri="{FF2B5EF4-FFF2-40B4-BE49-F238E27FC236}">
                <a16:creationId xmlns:a16="http://schemas.microsoft.com/office/drawing/2014/main" id="{57F92FB4-3E8E-B213-0D63-F7F313626AAE}"/>
              </a:ext>
            </a:extLst>
          </p:cNvPr>
          <p:cNvCxnSpPr>
            <a:cxnSpLocks/>
          </p:cNvCxnSpPr>
          <p:nvPr/>
        </p:nvCxnSpPr>
        <p:spPr>
          <a:xfrm>
            <a:off x="3360369" y="6057128"/>
            <a:ext cx="394202" cy="330694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headEnd type="triangle"/>
            <a:tailEnd type="triangle"/>
          </a:ln>
          <a:effectLst/>
        </p:spPr>
      </p:cxnSp>
      <p:cxnSp>
        <p:nvCxnSpPr>
          <p:cNvPr id="1098" name="Straight Arrow Connector 1097">
            <a:extLst>
              <a:ext uri="{FF2B5EF4-FFF2-40B4-BE49-F238E27FC236}">
                <a16:creationId xmlns:a16="http://schemas.microsoft.com/office/drawing/2014/main" id="{63B56068-6E2B-1154-BC92-B05FE3A73F71}"/>
              </a:ext>
            </a:extLst>
          </p:cNvPr>
          <p:cNvCxnSpPr>
            <a:cxnSpLocks/>
          </p:cNvCxnSpPr>
          <p:nvPr/>
        </p:nvCxnSpPr>
        <p:spPr>
          <a:xfrm>
            <a:off x="2676457" y="6118829"/>
            <a:ext cx="0" cy="328631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headEnd type="triangle"/>
            <a:tailEnd type="triangle"/>
          </a:ln>
          <a:effectLst/>
        </p:spPr>
      </p:cxnSp>
      <p:cxnSp>
        <p:nvCxnSpPr>
          <p:cNvPr id="1099" name="Straight Arrow Connector 1098">
            <a:extLst>
              <a:ext uri="{FF2B5EF4-FFF2-40B4-BE49-F238E27FC236}">
                <a16:creationId xmlns:a16="http://schemas.microsoft.com/office/drawing/2014/main" id="{7E02C2DD-814A-5C30-39B9-CCFB59214020}"/>
              </a:ext>
            </a:extLst>
          </p:cNvPr>
          <p:cNvCxnSpPr>
            <a:cxnSpLocks/>
            <a:endCxn id="1092" idx="2"/>
          </p:cNvCxnSpPr>
          <p:nvPr/>
        </p:nvCxnSpPr>
        <p:spPr>
          <a:xfrm flipV="1">
            <a:off x="4000978" y="6975154"/>
            <a:ext cx="0" cy="144647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107" name="Snip Single Corner Rectangle 1106">
            <a:extLst>
              <a:ext uri="{FF2B5EF4-FFF2-40B4-BE49-F238E27FC236}">
                <a16:creationId xmlns:a16="http://schemas.microsoft.com/office/drawing/2014/main" id="{7A733532-2BF0-787E-E186-2836E712A862}"/>
              </a:ext>
            </a:extLst>
          </p:cNvPr>
          <p:cNvSpPr/>
          <p:nvPr/>
        </p:nvSpPr>
        <p:spPr>
          <a:xfrm>
            <a:off x="5091450" y="6812324"/>
            <a:ext cx="1073220" cy="575876"/>
          </a:xfrm>
          <a:prstGeom prst="snip1Rect">
            <a:avLst>
              <a:gd name="adj" fmla="val 50000"/>
            </a:avLst>
          </a:prstGeom>
          <a:ln>
            <a:prstDash val="dash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0" tIns="0" rIns="0" bIns="0" rtlCol="0" anchor="t"/>
          <a:lstStyle/>
          <a:p>
            <a:pPr algn="ctr" defTabSz="914400">
              <a:defRPr/>
            </a:pPr>
            <a:r>
              <a:rPr lang="en-US" sz="1200" kern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Skills</a:t>
            </a:r>
          </a:p>
          <a:p>
            <a:pPr algn="ctr" defTabSz="914400">
              <a:defRPr/>
            </a:pPr>
            <a:r>
              <a:rPr lang="en-US" sz="1200" kern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1200" kern="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Progreesive</a:t>
            </a:r>
            <a:r>
              <a:rPr lang="en-US" sz="1200" kern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kern="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disclousure</a:t>
            </a:r>
            <a:r>
              <a:rPr lang="en-US" sz="1200" kern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BE5E5C4E-0903-C2FE-FB29-26FA7CAF051D}"/>
              </a:ext>
            </a:extLst>
          </p:cNvPr>
          <p:cNvSpPr/>
          <p:nvPr/>
        </p:nvSpPr>
        <p:spPr>
          <a:xfrm>
            <a:off x="3454748" y="7180015"/>
            <a:ext cx="1092459" cy="469659"/>
          </a:xfrm>
          <a:prstGeom prst="roundRect">
            <a:avLst/>
          </a:prstGeom>
          <a:gradFill rotWithShape="1">
            <a:gsLst>
              <a:gs pos="0">
                <a:srgbClr val="4472C4">
                  <a:lumMod val="110000"/>
                  <a:satMod val="105000"/>
                  <a:tint val="67000"/>
                </a:srgbClr>
              </a:gs>
              <a:gs pos="50000">
                <a:srgbClr val="4472C4">
                  <a:lumMod val="105000"/>
                  <a:satMod val="103000"/>
                  <a:tint val="73000"/>
                </a:srgbClr>
              </a:gs>
              <a:gs pos="100000">
                <a:srgbClr val="4472C4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6350" cap="flat" cmpd="sng" algn="ctr">
            <a:solidFill>
              <a:srgbClr val="4472C4"/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 defTabSz="914400">
              <a:defRPr/>
            </a:pPr>
            <a:r>
              <a:rPr lang="en-US" sz="1200" kern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Drug </a:t>
            </a:r>
          </a:p>
          <a:p>
            <a:pPr algn="ctr" defTabSz="914400">
              <a:defRPr/>
            </a:pPr>
            <a:r>
              <a:rPr lang="en-US" sz="1200" kern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Target</a:t>
            </a:r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649F525F-217D-8506-26CF-0E60D88D42AA}"/>
              </a:ext>
            </a:extLst>
          </p:cNvPr>
          <p:cNvSpPr/>
          <p:nvPr/>
        </p:nvSpPr>
        <p:spPr>
          <a:xfrm>
            <a:off x="3596988" y="8495809"/>
            <a:ext cx="1203609" cy="406469"/>
          </a:xfrm>
          <a:prstGeom prst="roundRect">
            <a:avLst/>
          </a:prstGeom>
          <a:gradFill rotWithShape="1">
            <a:gsLst>
              <a:gs pos="0">
                <a:srgbClr val="FFC000">
                  <a:lumMod val="110000"/>
                  <a:satMod val="105000"/>
                  <a:tint val="67000"/>
                </a:srgbClr>
              </a:gs>
              <a:gs pos="50000">
                <a:srgbClr val="FFC000">
                  <a:lumMod val="105000"/>
                  <a:satMod val="103000"/>
                  <a:tint val="73000"/>
                </a:srgbClr>
              </a:gs>
              <a:gs pos="100000">
                <a:srgbClr val="FFC000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6350" cap="flat" cmpd="sng" algn="ctr">
            <a:solidFill>
              <a:srgbClr val="FFC000"/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 defTabSz="914400">
              <a:defRPr/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Dynamic </a:t>
            </a:r>
          </a:p>
          <a:p>
            <a:pPr algn="ctr" defTabSz="914400">
              <a:defRPr/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paper search</a:t>
            </a:r>
            <a:endParaRPr lang="en-US" sz="1200" kern="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03879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BF7775-51AA-ABAC-7548-F391FC5640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5">
            <a:extLst>
              <a:ext uri="{FF2B5EF4-FFF2-40B4-BE49-F238E27FC236}">
                <a16:creationId xmlns:a16="http://schemas.microsoft.com/office/drawing/2014/main" id="{978AE496-2939-16CA-27CD-5B9BFCB9B02E}"/>
              </a:ext>
            </a:extLst>
          </p:cNvPr>
          <p:cNvSpPr/>
          <p:nvPr/>
        </p:nvSpPr>
        <p:spPr>
          <a:xfrm>
            <a:off x="5514618" y="9061847"/>
            <a:ext cx="8333729" cy="2185416"/>
          </a:xfrm>
          <a:prstGeom prst="roundRect">
            <a:avLst>
              <a:gd name="adj" fmla="val 2778"/>
            </a:avLst>
          </a:prstGeom>
          <a:solidFill>
            <a:srgbClr val="F0F9F6"/>
          </a:solidFill>
          <a:ln/>
        </p:spPr>
        <p:txBody>
          <a:bodyPr wrap="square" rtlCol="0" anchor="ctr"/>
          <a:lstStyle/>
          <a:p>
            <a:pPr defTabSz="615940"/>
            <a:endParaRPr lang="en-US" sz="28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 1">
            <a:extLst>
              <a:ext uri="{FF2B5EF4-FFF2-40B4-BE49-F238E27FC236}">
                <a16:creationId xmlns:a16="http://schemas.microsoft.com/office/drawing/2014/main" id="{969BE928-A91D-F1AE-081E-F98EC73A2D1B}"/>
              </a:ext>
            </a:extLst>
          </p:cNvPr>
          <p:cNvSpPr/>
          <p:nvPr/>
        </p:nvSpPr>
        <p:spPr>
          <a:xfrm>
            <a:off x="5514618" y="6719646"/>
            <a:ext cx="8333729" cy="2182666"/>
          </a:xfrm>
          <a:prstGeom prst="roundRect">
            <a:avLst>
              <a:gd name="adj" fmla="val 2778"/>
            </a:avLst>
          </a:prstGeom>
          <a:solidFill>
            <a:srgbClr val="F0F7FB"/>
          </a:solidFill>
          <a:ln/>
        </p:spPr>
        <p:txBody>
          <a:bodyPr wrap="square" rtlCol="0" anchor="ctr"/>
          <a:lstStyle/>
          <a:p>
            <a:pPr defTabSz="615940"/>
            <a:endParaRPr lang="en-US" sz="28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 9">
            <a:extLst>
              <a:ext uri="{FF2B5EF4-FFF2-40B4-BE49-F238E27FC236}">
                <a16:creationId xmlns:a16="http://schemas.microsoft.com/office/drawing/2014/main" id="{0A9755ED-4FDD-CAA7-36EF-0D0B01D8F517}"/>
              </a:ext>
            </a:extLst>
          </p:cNvPr>
          <p:cNvSpPr/>
          <p:nvPr/>
        </p:nvSpPr>
        <p:spPr>
          <a:xfrm>
            <a:off x="14354683" y="6719647"/>
            <a:ext cx="2772180" cy="2199977"/>
          </a:xfrm>
          <a:prstGeom prst="roundRect">
            <a:avLst>
              <a:gd name="adj" fmla="val 2778"/>
            </a:avLst>
          </a:prstGeom>
          <a:solidFill>
            <a:srgbClr val="FFF5F0"/>
          </a:solidFill>
          <a:ln/>
        </p:spPr>
        <p:txBody>
          <a:bodyPr wrap="square" rtlCol="0" anchor="ctr"/>
          <a:lstStyle/>
          <a:p>
            <a:pPr defTabSz="615940"/>
            <a:endParaRPr lang="en-US" sz="28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" name="Rounded Rectangle 60">
            <a:extLst>
              <a:ext uri="{FF2B5EF4-FFF2-40B4-BE49-F238E27FC236}">
                <a16:creationId xmlns:a16="http://schemas.microsoft.com/office/drawing/2014/main" id="{D6361535-F1F5-3F51-6CE1-3350D65713D6}"/>
              </a:ext>
            </a:extLst>
          </p:cNvPr>
          <p:cNvSpPr/>
          <p:nvPr/>
        </p:nvSpPr>
        <p:spPr>
          <a:xfrm>
            <a:off x="14971047" y="7503461"/>
            <a:ext cx="1539455" cy="552271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1100" dirty="0">
                <a:solidFill>
                  <a:srgbClr val="1D1D1D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10. Visualization of Key LR Pairs</a:t>
            </a:r>
          </a:p>
        </p:txBody>
      </p:sp>
      <p:sp>
        <p:nvSpPr>
          <p:cNvPr id="62" name="Rounded Rectangle 61">
            <a:extLst>
              <a:ext uri="{FF2B5EF4-FFF2-40B4-BE49-F238E27FC236}">
                <a16:creationId xmlns:a16="http://schemas.microsoft.com/office/drawing/2014/main" id="{D9690A0F-ECDF-F88B-07C5-B1103F81225B}"/>
              </a:ext>
            </a:extLst>
          </p:cNvPr>
          <p:cNvSpPr/>
          <p:nvPr/>
        </p:nvSpPr>
        <p:spPr>
          <a:xfrm>
            <a:off x="14971047" y="8249225"/>
            <a:ext cx="1539455" cy="552271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1100" dirty="0">
                <a:solidFill>
                  <a:srgbClr val="1D1D1D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11. Quantitative Analysis of Ligand-Receptor Interactions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620B5A7F-5C69-FE2D-2389-98967A6BB061}"/>
              </a:ext>
            </a:extLst>
          </p:cNvPr>
          <p:cNvGrpSpPr/>
          <p:nvPr/>
        </p:nvGrpSpPr>
        <p:grpSpPr>
          <a:xfrm>
            <a:off x="5737856" y="7294571"/>
            <a:ext cx="1540519" cy="854483"/>
            <a:chOff x="3044238" y="2746633"/>
            <a:chExt cx="2040521" cy="1131820"/>
          </a:xfrm>
        </p:grpSpPr>
        <p:sp>
          <p:nvSpPr>
            <p:cNvPr id="53" name="Rounded Rectangle 52">
              <a:extLst>
                <a:ext uri="{FF2B5EF4-FFF2-40B4-BE49-F238E27FC236}">
                  <a16:creationId xmlns:a16="http://schemas.microsoft.com/office/drawing/2014/main" id="{F0B4321E-202D-D3D3-9CBD-AE9205E96DC8}"/>
                </a:ext>
              </a:extLst>
            </p:cNvPr>
            <p:cNvSpPr/>
            <p:nvPr/>
          </p:nvSpPr>
          <p:spPr>
            <a:xfrm>
              <a:off x="3044238" y="2746633"/>
              <a:ext cx="2040521" cy="731520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100" dirty="0">
                  <a:latin typeface="Arial" panose="020B0604020202020204" pitchFamily="34" charset="0"/>
                  <a:cs typeface="Arial" panose="020B0604020202020204" pitchFamily="34" charset="0"/>
                </a:rPr>
                <a:t>1.Spatial Clustering Analysis</a:t>
              </a:r>
            </a:p>
          </p:txBody>
        </p:sp>
        <p:sp>
          <p:nvSpPr>
            <p:cNvPr id="1089" name="Rounded Rectangle 1088">
              <a:extLst>
                <a:ext uri="{FF2B5EF4-FFF2-40B4-BE49-F238E27FC236}">
                  <a16:creationId xmlns:a16="http://schemas.microsoft.com/office/drawing/2014/main" id="{8C8FF5E9-D936-7930-F07B-84730D7E0BCC}"/>
                </a:ext>
              </a:extLst>
            </p:cNvPr>
            <p:cNvSpPr/>
            <p:nvPr/>
          </p:nvSpPr>
          <p:spPr>
            <a:xfrm>
              <a:off x="3044238" y="3484744"/>
              <a:ext cx="2040521" cy="393709"/>
            </a:xfrm>
            <a:prstGeom prst="roundRect">
              <a:avLst>
                <a:gd name="adj" fmla="val 26051"/>
              </a:avLst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050" dirty="0">
                  <a:latin typeface="Arial" panose="020B0604020202020204" pitchFamily="34" charset="0"/>
                  <a:cs typeface="Arial" panose="020B0604020202020204" pitchFamily="34" charset="0"/>
                </a:rPr>
                <a:t>Biological interpretation</a:t>
              </a:r>
            </a:p>
          </p:txBody>
        </p:sp>
      </p:grpSp>
      <p:sp>
        <p:nvSpPr>
          <p:cNvPr id="1096" name="Rounded Rectangle 1095">
            <a:extLst>
              <a:ext uri="{FF2B5EF4-FFF2-40B4-BE49-F238E27FC236}">
                <a16:creationId xmlns:a16="http://schemas.microsoft.com/office/drawing/2014/main" id="{032FAF62-56AE-F017-3861-516648B6EF7B}"/>
              </a:ext>
            </a:extLst>
          </p:cNvPr>
          <p:cNvSpPr/>
          <p:nvPr/>
        </p:nvSpPr>
        <p:spPr>
          <a:xfrm>
            <a:off x="7354331" y="8423737"/>
            <a:ext cx="1540519" cy="382013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Select spatial cluster</a:t>
            </a:r>
          </a:p>
        </p:txBody>
      </p:sp>
      <p:sp>
        <p:nvSpPr>
          <p:cNvPr id="1109" name="Rounded Rectangle 1108">
            <a:extLst>
              <a:ext uri="{FF2B5EF4-FFF2-40B4-BE49-F238E27FC236}">
                <a16:creationId xmlns:a16="http://schemas.microsoft.com/office/drawing/2014/main" id="{A8985CF6-8FA1-6950-8AB1-FC8F1268B083}"/>
              </a:ext>
            </a:extLst>
          </p:cNvPr>
          <p:cNvSpPr/>
          <p:nvPr/>
        </p:nvSpPr>
        <p:spPr>
          <a:xfrm>
            <a:off x="7948398" y="10650379"/>
            <a:ext cx="1540519" cy="382013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Select Factor</a:t>
            </a:r>
          </a:p>
        </p:txBody>
      </p:sp>
      <p:sp>
        <p:nvSpPr>
          <p:cNvPr id="1110" name="Rounded Rectangle 1109">
            <a:extLst>
              <a:ext uri="{FF2B5EF4-FFF2-40B4-BE49-F238E27FC236}">
                <a16:creationId xmlns:a16="http://schemas.microsoft.com/office/drawing/2014/main" id="{BB0C0AC8-2D22-7929-AADB-8C079600C48E}"/>
              </a:ext>
            </a:extLst>
          </p:cNvPr>
          <p:cNvSpPr/>
          <p:nvPr/>
        </p:nvSpPr>
        <p:spPr>
          <a:xfrm>
            <a:off x="12058172" y="10639183"/>
            <a:ext cx="1540519" cy="382013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Select LR pair</a:t>
            </a:r>
          </a:p>
        </p:txBody>
      </p:sp>
      <p:grpSp>
        <p:nvGrpSpPr>
          <p:cNvPr id="1093" name="Group 1092">
            <a:extLst>
              <a:ext uri="{FF2B5EF4-FFF2-40B4-BE49-F238E27FC236}">
                <a16:creationId xmlns:a16="http://schemas.microsoft.com/office/drawing/2014/main" id="{A7E3171C-7FAB-C256-EDF5-FC27CFC3AEA0}"/>
              </a:ext>
            </a:extLst>
          </p:cNvPr>
          <p:cNvGrpSpPr/>
          <p:nvPr/>
        </p:nvGrpSpPr>
        <p:grpSpPr>
          <a:xfrm>
            <a:off x="14334873" y="9061848"/>
            <a:ext cx="2860638" cy="2185417"/>
            <a:chOff x="15060236" y="5484896"/>
            <a:chExt cx="2860638" cy="2185417"/>
          </a:xfrm>
        </p:grpSpPr>
        <p:grpSp>
          <p:nvGrpSpPr>
            <p:cNvPr id="1149" name="Group 1148">
              <a:extLst>
                <a:ext uri="{FF2B5EF4-FFF2-40B4-BE49-F238E27FC236}">
                  <a16:creationId xmlns:a16="http://schemas.microsoft.com/office/drawing/2014/main" id="{CA50BA74-2A8A-1F66-9623-3287FBA65C04}"/>
                </a:ext>
              </a:extLst>
            </p:cNvPr>
            <p:cNvGrpSpPr/>
            <p:nvPr/>
          </p:nvGrpSpPr>
          <p:grpSpPr>
            <a:xfrm>
              <a:off x="15060236" y="5484896"/>
              <a:ext cx="2772180" cy="2185417"/>
              <a:chOff x="7025650" y="1514638"/>
              <a:chExt cx="3299712" cy="3860850"/>
            </a:xfrm>
          </p:grpSpPr>
          <p:sp>
            <p:nvSpPr>
              <p:cNvPr id="1150" name="Text 9">
                <a:extLst>
                  <a:ext uri="{FF2B5EF4-FFF2-40B4-BE49-F238E27FC236}">
                    <a16:creationId xmlns:a16="http://schemas.microsoft.com/office/drawing/2014/main" id="{C3D506E0-06A6-A910-1821-81BF909B1800}"/>
                  </a:ext>
                </a:extLst>
              </p:cNvPr>
              <p:cNvSpPr/>
              <p:nvPr/>
            </p:nvSpPr>
            <p:spPr>
              <a:xfrm>
                <a:off x="7025650" y="1514638"/>
                <a:ext cx="3299712" cy="3860850"/>
              </a:xfrm>
              <a:prstGeom prst="roundRect">
                <a:avLst>
                  <a:gd name="adj" fmla="val 2778"/>
                </a:avLst>
              </a:prstGeom>
              <a:solidFill>
                <a:schemeClr val="bg1">
                  <a:lumMod val="85000"/>
                  <a:alpha val="70374"/>
                </a:schemeClr>
              </a:solidFill>
              <a:ln/>
            </p:spPr>
            <p:txBody>
              <a:bodyPr wrap="square" rtlCol="0" anchor="ctr"/>
              <a:lstStyle/>
              <a:p>
                <a:endParaRPr lang="en-US" sz="2800" dirty="0"/>
              </a:p>
            </p:txBody>
          </p:sp>
          <p:sp>
            <p:nvSpPr>
              <p:cNvPr id="1151" name="Text 10">
                <a:extLst>
                  <a:ext uri="{FF2B5EF4-FFF2-40B4-BE49-F238E27FC236}">
                    <a16:creationId xmlns:a16="http://schemas.microsoft.com/office/drawing/2014/main" id="{97BF985D-21D6-4D62-76F7-68C6B3B57B7C}"/>
                  </a:ext>
                </a:extLst>
              </p:cNvPr>
              <p:cNvSpPr/>
              <p:nvPr/>
            </p:nvSpPr>
            <p:spPr>
              <a:xfrm>
                <a:off x="7318568" y="1925933"/>
                <a:ext cx="1477363" cy="51912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>
                  <a:lnSpc>
                    <a:spcPts val="1333"/>
                  </a:lnSpc>
                  <a:spcAft>
                    <a:spcPts val="900"/>
                  </a:spcAft>
                </a:pPr>
                <a:r>
                  <a:rPr lang="en-US" sz="1300" b="1" dirty="0"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Summary</a:t>
                </a:r>
                <a:endParaRPr lang="en-US" sz="1300" dirty="0"/>
              </a:p>
            </p:txBody>
          </p:sp>
        </p:grpSp>
        <p:sp>
          <p:nvSpPr>
            <p:cNvPr id="1152" name="Text 4">
              <a:extLst>
                <a:ext uri="{FF2B5EF4-FFF2-40B4-BE49-F238E27FC236}">
                  <a16:creationId xmlns:a16="http://schemas.microsoft.com/office/drawing/2014/main" id="{3824B9B9-830B-F8C8-0BBB-807A329E1942}"/>
                </a:ext>
              </a:extLst>
            </p:cNvPr>
            <p:cNvSpPr/>
            <p:nvPr/>
          </p:nvSpPr>
          <p:spPr>
            <a:xfrm>
              <a:off x="15109074" y="6076697"/>
              <a:ext cx="2811800" cy="137874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123825" indent="-123825">
                <a:lnSpc>
                  <a:spcPts val="1320"/>
                </a:lnSpc>
                <a:buFont typeface="Arial" panose="020B0604020202020204" pitchFamily="34" charset="0"/>
                <a:buChar char="•"/>
              </a:pPr>
              <a:r>
                <a:rPr lang="en-US" sz="1100" dirty="0">
                  <a:solidFill>
                    <a:srgbClr val="1D1D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Integrated Findings Across All Analyses</a:t>
              </a:r>
            </a:p>
            <a:p>
              <a:pPr marL="123825" indent="-123825">
                <a:lnSpc>
                  <a:spcPts val="1320"/>
                </a:lnSpc>
                <a:buFont typeface="Arial" panose="020B0604020202020204" pitchFamily="34" charset="0"/>
                <a:buChar char="•"/>
              </a:pPr>
              <a:endParaRPr lang="en-US" sz="11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endParaRPr>
            </a:p>
            <a:p>
              <a:pPr marL="123825" indent="-123825">
                <a:lnSpc>
                  <a:spcPts val="1320"/>
                </a:lnSpc>
                <a:buFont typeface="Arial" panose="020B0604020202020204" pitchFamily="34" charset="0"/>
                <a:buChar char="•"/>
              </a:pPr>
              <a:r>
                <a:rPr lang="en-US" sz="1100" dirty="0">
                  <a:solidFill>
                    <a:srgbClr val="1D1D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Clinical and Therapeutic Implications</a:t>
              </a:r>
            </a:p>
            <a:p>
              <a:pPr marL="123825" indent="-123825">
                <a:lnSpc>
                  <a:spcPts val="1320"/>
                </a:lnSpc>
                <a:buFont typeface="Arial" panose="020B0604020202020204" pitchFamily="34" charset="0"/>
                <a:buChar char="•"/>
              </a:pPr>
              <a:endParaRPr lang="en-US" sz="11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endParaRPr>
            </a:p>
            <a:p>
              <a:pPr marL="123825" indent="-123825">
                <a:lnSpc>
                  <a:spcPts val="1320"/>
                </a:lnSpc>
                <a:buFont typeface="Arial" panose="020B0604020202020204" pitchFamily="34" charset="0"/>
                <a:buChar char="•"/>
              </a:pPr>
              <a:r>
                <a:rPr lang="en-US" sz="1100" dirty="0">
                  <a:solidFill>
                    <a:srgbClr val="1D1D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Methodological Innovations and Strengths</a:t>
              </a:r>
            </a:p>
            <a:p>
              <a:pPr marL="123825" indent="-123825">
                <a:lnSpc>
                  <a:spcPts val="1320"/>
                </a:lnSpc>
              </a:pPr>
              <a:endParaRPr lang="en-US" sz="11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endParaRPr>
            </a:p>
            <a:p>
              <a:pPr marL="123825" indent="-123825">
                <a:lnSpc>
                  <a:spcPts val="1320"/>
                </a:lnSpc>
                <a:buFont typeface="Arial" panose="020B0604020202020204" pitchFamily="34" charset="0"/>
                <a:buChar char="•"/>
              </a:pPr>
              <a:r>
                <a:rPr lang="en-US" sz="1100" dirty="0">
                  <a:solidFill>
                    <a:srgbClr val="1D1D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Conclusions</a:t>
              </a:r>
              <a:endParaRPr lang="en-US" sz="1100" dirty="0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1A03FFB5-FE2C-5363-6A7F-6CC3A3934460}"/>
              </a:ext>
            </a:extLst>
          </p:cNvPr>
          <p:cNvGrpSpPr/>
          <p:nvPr/>
        </p:nvGrpSpPr>
        <p:grpSpPr>
          <a:xfrm>
            <a:off x="7354331" y="7294571"/>
            <a:ext cx="1540519" cy="854483"/>
            <a:chOff x="5399808" y="2746633"/>
            <a:chExt cx="2040521" cy="1131820"/>
          </a:xfrm>
        </p:grpSpPr>
        <p:sp>
          <p:nvSpPr>
            <p:cNvPr id="49" name="Rounded Rectangle 48">
              <a:extLst>
                <a:ext uri="{FF2B5EF4-FFF2-40B4-BE49-F238E27FC236}">
                  <a16:creationId xmlns:a16="http://schemas.microsoft.com/office/drawing/2014/main" id="{64D38CBA-E74A-5382-38A9-30F01C507EB0}"/>
                </a:ext>
              </a:extLst>
            </p:cNvPr>
            <p:cNvSpPr/>
            <p:nvPr/>
          </p:nvSpPr>
          <p:spPr>
            <a:xfrm>
              <a:off x="5399808" y="2746633"/>
              <a:ext cx="2040521" cy="731520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100" dirty="0">
                  <a:latin typeface="Arial" panose="020B0604020202020204" pitchFamily="34" charset="0"/>
                  <a:cs typeface="Arial" panose="020B0604020202020204" pitchFamily="34" charset="0"/>
                </a:rPr>
                <a:t>2.Cell Type Composition Analysis</a:t>
              </a:r>
            </a:p>
          </p:txBody>
        </p:sp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F57FC686-29F0-306C-1529-21FB154909B9}"/>
                </a:ext>
              </a:extLst>
            </p:cNvPr>
            <p:cNvSpPr/>
            <p:nvPr/>
          </p:nvSpPr>
          <p:spPr>
            <a:xfrm>
              <a:off x="5399808" y="3484744"/>
              <a:ext cx="2040521" cy="393709"/>
            </a:xfrm>
            <a:prstGeom prst="roundRect">
              <a:avLst>
                <a:gd name="adj" fmla="val 26051"/>
              </a:avLst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050" dirty="0">
                  <a:latin typeface="Arial" panose="020B0604020202020204" pitchFamily="34" charset="0"/>
                  <a:cs typeface="Arial" panose="020B0604020202020204" pitchFamily="34" charset="0"/>
                </a:rPr>
                <a:t>Biological interpretation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C5D14DD8-EA06-BB49-0436-67B9178CBA37}"/>
              </a:ext>
            </a:extLst>
          </p:cNvPr>
          <p:cNvGrpSpPr/>
          <p:nvPr/>
        </p:nvGrpSpPr>
        <p:grpSpPr>
          <a:xfrm>
            <a:off x="8977874" y="7294571"/>
            <a:ext cx="1540519" cy="854483"/>
            <a:chOff x="7774230" y="2746633"/>
            <a:chExt cx="2040521" cy="1131820"/>
          </a:xfrm>
        </p:grpSpPr>
        <p:sp>
          <p:nvSpPr>
            <p:cNvPr id="50" name="Rounded Rectangle 49">
              <a:extLst>
                <a:ext uri="{FF2B5EF4-FFF2-40B4-BE49-F238E27FC236}">
                  <a16:creationId xmlns:a16="http://schemas.microsoft.com/office/drawing/2014/main" id="{47B13E23-05AC-C1EA-5AE4-CE4053571F74}"/>
                </a:ext>
              </a:extLst>
            </p:cNvPr>
            <p:cNvSpPr/>
            <p:nvPr/>
          </p:nvSpPr>
          <p:spPr>
            <a:xfrm>
              <a:off x="7774230" y="2746633"/>
              <a:ext cx="2040521" cy="731520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100" dirty="0">
                  <a:latin typeface="Arial" panose="020B0604020202020204" pitchFamily="34" charset="0"/>
                  <a:cs typeface="Arial" panose="020B0604020202020204" pitchFamily="34" charset="0"/>
                </a:rPr>
                <a:t>3. Neighborhood Enrichment Analysis</a:t>
              </a:r>
            </a:p>
          </p:txBody>
        </p:sp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904D7B69-AE55-FAEF-10DF-44BE5F1B10BB}"/>
                </a:ext>
              </a:extLst>
            </p:cNvPr>
            <p:cNvSpPr/>
            <p:nvPr/>
          </p:nvSpPr>
          <p:spPr>
            <a:xfrm>
              <a:off x="7774230" y="3484744"/>
              <a:ext cx="2040521" cy="393709"/>
            </a:xfrm>
            <a:prstGeom prst="roundRect">
              <a:avLst>
                <a:gd name="adj" fmla="val 26051"/>
              </a:avLst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050">
                  <a:latin typeface="Arial" panose="020B0604020202020204" pitchFamily="34" charset="0"/>
                  <a:cs typeface="Arial" panose="020B0604020202020204" pitchFamily="34" charset="0"/>
                </a:rPr>
                <a:t>Biological interpretation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47B6C64A-4E37-CE53-FD3D-6157AFD31ECF}"/>
              </a:ext>
            </a:extLst>
          </p:cNvPr>
          <p:cNvGrpSpPr/>
          <p:nvPr/>
        </p:nvGrpSpPr>
        <p:grpSpPr>
          <a:xfrm>
            <a:off x="10597883" y="7294571"/>
            <a:ext cx="1540519" cy="854483"/>
            <a:chOff x="10149016" y="2746633"/>
            <a:chExt cx="2040521" cy="1131820"/>
          </a:xfrm>
        </p:grpSpPr>
        <p:sp>
          <p:nvSpPr>
            <p:cNvPr id="51" name="Rounded Rectangle 50">
              <a:extLst>
                <a:ext uri="{FF2B5EF4-FFF2-40B4-BE49-F238E27FC236}">
                  <a16:creationId xmlns:a16="http://schemas.microsoft.com/office/drawing/2014/main" id="{FC1A38CC-29A5-FC5C-AF57-53C15A9B0EE4}"/>
                </a:ext>
              </a:extLst>
            </p:cNvPr>
            <p:cNvSpPr/>
            <p:nvPr/>
          </p:nvSpPr>
          <p:spPr>
            <a:xfrm>
              <a:off x="10149016" y="2746633"/>
              <a:ext cx="2040521" cy="731520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100" dirty="0">
                  <a:latin typeface="Arial" panose="020B0604020202020204" pitchFamily="34" charset="0"/>
                  <a:cs typeface="Arial" panose="020B0604020202020204" pitchFamily="34" charset="0"/>
                </a:rPr>
                <a:t>4. Spatial Pathway Enrichment Analysis</a:t>
              </a:r>
            </a:p>
          </p:txBody>
        </p:sp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181C4FB2-E5F9-49AA-6F0E-ACDBC4F31449}"/>
                </a:ext>
              </a:extLst>
            </p:cNvPr>
            <p:cNvSpPr/>
            <p:nvPr/>
          </p:nvSpPr>
          <p:spPr>
            <a:xfrm>
              <a:off x="10149016" y="3484744"/>
              <a:ext cx="2040521" cy="393709"/>
            </a:xfrm>
            <a:prstGeom prst="roundRect">
              <a:avLst>
                <a:gd name="adj" fmla="val 26051"/>
              </a:avLst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050">
                  <a:latin typeface="Arial" panose="020B0604020202020204" pitchFamily="34" charset="0"/>
                  <a:cs typeface="Arial" panose="020B0604020202020204" pitchFamily="34" charset="0"/>
                </a:rPr>
                <a:t>Biological interpretation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A1755294-07ED-153C-6FF9-16FD10258A66}"/>
              </a:ext>
            </a:extLst>
          </p:cNvPr>
          <p:cNvGrpSpPr/>
          <p:nvPr/>
        </p:nvGrpSpPr>
        <p:grpSpPr>
          <a:xfrm>
            <a:off x="12217892" y="7294571"/>
            <a:ext cx="1540519" cy="854483"/>
            <a:chOff x="12523803" y="2746633"/>
            <a:chExt cx="2040521" cy="1131820"/>
          </a:xfrm>
        </p:grpSpPr>
        <p:sp>
          <p:nvSpPr>
            <p:cNvPr id="52" name="Rounded Rectangle 51">
              <a:extLst>
                <a:ext uri="{FF2B5EF4-FFF2-40B4-BE49-F238E27FC236}">
                  <a16:creationId xmlns:a16="http://schemas.microsoft.com/office/drawing/2014/main" id="{172ACD47-E0A6-6398-D8D4-8259639EF14C}"/>
                </a:ext>
              </a:extLst>
            </p:cNvPr>
            <p:cNvSpPr/>
            <p:nvPr/>
          </p:nvSpPr>
          <p:spPr>
            <a:xfrm>
              <a:off x="12523803" y="2746633"/>
              <a:ext cx="2040521" cy="731520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100" dirty="0">
                  <a:latin typeface="Arial" panose="020B0604020202020204" pitchFamily="34" charset="0"/>
                  <a:cs typeface="Arial" panose="020B0604020202020204" pitchFamily="34" charset="0"/>
                </a:rPr>
                <a:t>5. Spatial Pathway-</a:t>
              </a:r>
              <a:r>
                <a:rPr lang="en-US" sz="1100" dirty="0" err="1">
                  <a:latin typeface="Arial" panose="020B0604020202020204" pitchFamily="34" charset="0"/>
                  <a:cs typeface="Arial" panose="020B0604020202020204" pitchFamily="34" charset="0"/>
                </a:rPr>
                <a:t>Celltype</a:t>
              </a:r>
              <a:r>
                <a:rPr lang="en-US" sz="1100" dirty="0">
                  <a:latin typeface="Arial" panose="020B0604020202020204" pitchFamily="34" charset="0"/>
                  <a:cs typeface="Arial" panose="020B0604020202020204" pitchFamily="34" charset="0"/>
                </a:rPr>
                <a:t> Relationship Analysis</a:t>
              </a:r>
            </a:p>
          </p:txBody>
        </p:sp>
        <p:sp>
          <p:nvSpPr>
            <p:cNvPr id="13" name="Rounded Rectangle 12">
              <a:extLst>
                <a:ext uri="{FF2B5EF4-FFF2-40B4-BE49-F238E27FC236}">
                  <a16:creationId xmlns:a16="http://schemas.microsoft.com/office/drawing/2014/main" id="{DD7666EE-1937-9F07-F64D-28B02494DCC9}"/>
                </a:ext>
              </a:extLst>
            </p:cNvPr>
            <p:cNvSpPr/>
            <p:nvPr/>
          </p:nvSpPr>
          <p:spPr>
            <a:xfrm>
              <a:off x="12523803" y="3484744"/>
              <a:ext cx="2040521" cy="393709"/>
            </a:xfrm>
            <a:prstGeom prst="roundRect">
              <a:avLst>
                <a:gd name="adj" fmla="val 26051"/>
              </a:avLst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050" dirty="0">
                  <a:latin typeface="Arial" panose="020B0604020202020204" pitchFamily="34" charset="0"/>
                  <a:cs typeface="Arial" panose="020B0604020202020204" pitchFamily="34" charset="0"/>
                </a:rPr>
                <a:t>Biological interpretation</a:t>
              </a:r>
            </a:p>
          </p:txBody>
        </p:sp>
      </p:grpSp>
      <p:grpSp>
        <p:nvGrpSpPr>
          <p:cNvPr id="1095" name="Group 1094">
            <a:extLst>
              <a:ext uri="{FF2B5EF4-FFF2-40B4-BE49-F238E27FC236}">
                <a16:creationId xmlns:a16="http://schemas.microsoft.com/office/drawing/2014/main" id="{0CF1D346-FA3B-8CCA-828E-0004B019B9FE}"/>
              </a:ext>
            </a:extLst>
          </p:cNvPr>
          <p:cNvGrpSpPr/>
          <p:nvPr/>
        </p:nvGrpSpPr>
        <p:grpSpPr>
          <a:xfrm>
            <a:off x="5903489" y="9559480"/>
            <a:ext cx="1540519" cy="853635"/>
            <a:chOff x="3125226" y="5769523"/>
            <a:chExt cx="2040521" cy="1130697"/>
          </a:xfrm>
        </p:grpSpPr>
        <p:sp>
          <p:nvSpPr>
            <p:cNvPr id="55" name="Rounded Rectangle 54">
              <a:extLst>
                <a:ext uri="{FF2B5EF4-FFF2-40B4-BE49-F238E27FC236}">
                  <a16:creationId xmlns:a16="http://schemas.microsoft.com/office/drawing/2014/main" id="{562FFAA3-09F3-E7D6-0674-78675C2D8A96}"/>
                </a:ext>
              </a:extLst>
            </p:cNvPr>
            <p:cNvSpPr/>
            <p:nvPr/>
          </p:nvSpPr>
          <p:spPr>
            <a:xfrm>
              <a:off x="3126635" y="5769523"/>
              <a:ext cx="2039112" cy="731520"/>
            </a:xfrm>
            <a:prstGeom prst="round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100" dirty="0">
                  <a:solidFill>
                    <a:srgbClr val="1D1D1D"/>
                  </a:solidFill>
                  <a:latin typeface="Arial" panose="020B0604020202020204" pitchFamily="34" charset="0"/>
                  <a:ea typeface="Arial" pitchFamily="34" charset="-122"/>
                  <a:cs typeface="Arial" panose="020B0604020202020204" pitchFamily="34" charset="0"/>
                </a:rPr>
                <a:t>6. LR Interaction Screening (Moran’s R)</a:t>
              </a:r>
            </a:p>
          </p:txBody>
        </p:sp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702FB854-94E2-2682-6502-9C1951CF25A3}"/>
                </a:ext>
              </a:extLst>
            </p:cNvPr>
            <p:cNvSpPr/>
            <p:nvPr/>
          </p:nvSpPr>
          <p:spPr>
            <a:xfrm>
              <a:off x="3125226" y="6506511"/>
              <a:ext cx="2040521" cy="393709"/>
            </a:xfrm>
            <a:prstGeom prst="roundRect">
              <a:avLst>
                <a:gd name="adj" fmla="val 26051"/>
              </a:avLst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050" dirty="0">
                  <a:latin typeface="Arial" panose="020B0604020202020204" pitchFamily="34" charset="0"/>
                  <a:cs typeface="Arial" panose="020B0604020202020204" pitchFamily="34" charset="0"/>
                </a:rPr>
                <a:t>Biological interpretation</a:t>
              </a:r>
            </a:p>
          </p:txBody>
        </p:sp>
      </p:grpSp>
      <p:grpSp>
        <p:nvGrpSpPr>
          <p:cNvPr id="1098" name="Group 1097">
            <a:extLst>
              <a:ext uri="{FF2B5EF4-FFF2-40B4-BE49-F238E27FC236}">
                <a16:creationId xmlns:a16="http://schemas.microsoft.com/office/drawing/2014/main" id="{F9A29245-7981-A300-97E1-2A54FB397BE8}"/>
              </a:ext>
            </a:extLst>
          </p:cNvPr>
          <p:cNvGrpSpPr/>
          <p:nvPr/>
        </p:nvGrpSpPr>
        <p:grpSpPr>
          <a:xfrm>
            <a:off x="7943675" y="9559480"/>
            <a:ext cx="1549965" cy="853635"/>
            <a:chOff x="6257872" y="5769523"/>
            <a:chExt cx="2053033" cy="1130697"/>
          </a:xfrm>
        </p:grpSpPr>
        <p:sp>
          <p:nvSpPr>
            <p:cNvPr id="56" name="Rounded Rectangle 55">
              <a:extLst>
                <a:ext uri="{FF2B5EF4-FFF2-40B4-BE49-F238E27FC236}">
                  <a16:creationId xmlns:a16="http://schemas.microsoft.com/office/drawing/2014/main" id="{EB76B920-41C0-BD19-16D9-AC003EEC5AAC}"/>
                </a:ext>
              </a:extLst>
            </p:cNvPr>
            <p:cNvSpPr/>
            <p:nvPr/>
          </p:nvSpPr>
          <p:spPr>
            <a:xfrm>
              <a:off x="6257872" y="5769523"/>
              <a:ext cx="2039112" cy="731520"/>
            </a:xfrm>
            <a:prstGeom prst="round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050" dirty="0">
                  <a:solidFill>
                    <a:srgbClr val="1D1D1D"/>
                  </a:solidFill>
                  <a:latin typeface="Arial" panose="020B0604020202020204" pitchFamily="34" charset="0"/>
                  <a:ea typeface="Arial" pitchFamily="34" charset="-122"/>
                  <a:cs typeface="Arial" panose="020B0604020202020204" pitchFamily="34" charset="0"/>
                </a:rPr>
                <a:t>7. Intercellular Communication Patterns (NMF Analysis)</a:t>
              </a:r>
            </a:p>
          </p:txBody>
        </p:sp>
        <p:sp>
          <p:nvSpPr>
            <p:cNvPr id="16" name="Rounded Rectangle 15">
              <a:extLst>
                <a:ext uri="{FF2B5EF4-FFF2-40B4-BE49-F238E27FC236}">
                  <a16:creationId xmlns:a16="http://schemas.microsoft.com/office/drawing/2014/main" id="{5A447B4B-EF4F-38D2-C800-20C0F76B4FB4}"/>
                </a:ext>
              </a:extLst>
            </p:cNvPr>
            <p:cNvSpPr/>
            <p:nvPr/>
          </p:nvSpPr>
          <p:spPr>
            <a:xfrm>
              <a:off x="6270384" y="6506511"/>
              <a:ext cx="2040521" cy="393709"/>
            </a:xfrm>
            <a:prstGeom prst="roundRect">
              <a:avLst>
                <a:gd name="adj" fmla="val 26051"/>
              </a:avLst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050" dirty="0">
                  <a:latin typeface="Arial" panose="020B0604020202020204" pitchFamily="34" charset="0"/>
                  <a:cs typeface="Arial" panose="020B0604020202020204" pitchFamily="34" charset="0"/>
                </a:rPr>
                <a:t>Biological interpretation</a:t>
              </a:r>
            </a:p>
          </p:txBody>
        </p:sp>
      </p:grpSp>
      <p:grpSp>
        <p:nvGrpSpPr>
          <p:cNvPr id="1099" name="Group 1098">
            <a:extLst>
              <a:ext uri="{FF2B5EF4-FFF2-40B4-BE49-F238E27FC236}">
                <a16:creationId xmlns:a16="http://schemas.microsoft.com/office/drawing/2014/main" id="{4DC529C8-540F-906F-8A5F-D210B0A75F51}"/>
              </a:ext>
            </a:extLst>
          </p:cNvPr>
          <p:cNvGrpSpPr/>
          <p:nvPr/>
        </p:nvGrpSpPr>
        <p:grpSpPr>
          <a:xfrm>
            <a:off x="10006485" y="9559480"/>
            <a:ext cx="1540519" cy="853635"/>
            <a:chOff x="9401619" y="5769523"/>
            <a:chExt cx="2040521" cy="1130697"/>
          </a:xfrm>
        </p:grpSpPr>
        <p:sp>
          <p:nvSpPr>
            <p:cNvPr id="58" name="Rounded Rectangle 57">
              <a:extLst>
                <a:ext uri="{FF2B5EF4-FFF2-40B4-BE49-F238E27FC236}">
                  <a16:creationId xmlns:a16="http://schemas.microsoft.com/office/drawing/2014/main" id="{C9461DBC-E707-C573-B107-1C0630B2D5DB}"/>
                </a:ext>
              </a:extLst>
            </p:cNvPr>
            <p:cNvSpPr/>
            <p:nvPr/>
          </p:nvSpPr>
          <p:spPr>
            <a:xfrm>
              <a:off x="9402326" y="5769523"/>
              <a:ext cx="2039112" cy="731520"/>
            </a:xfrm>
            <a:prstGeom prst="round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100" dirty="0">
                  <a:solidFill>
                    <a:srgbClr val="1D1D1D"/>
                  </a:solidFill>
                  <a:latin typeface="Arial" panose="020B0604020202020204" pitchFamily="34" charset="0"/>
                  <a:ea typeface="Arial" pitchFamily="34" charset="-122"/>
                  <a:cs typeface="Arial" panose="020B0604020202020204" pitchFamily="34" charset="0"/>
                </a:rPr>
                <a:t>8. Pathway Enrichment of Intercellular Patterns</a:t>
              </a:r>
            </a:p>
          </p:txBody>
        </p:sp>
        <p:sp>
          <p:nvSpPr>
            <p:cNvPr id="17" name="Rounded Rectangle 16">
              <a:extLst>
                <a:ext uri="{FF2B5EF4-FFF2-40B4-BE49-F238E27FC236}">
                  <a16:creationId xmlns:a16="http://schemas.microsoft.com/office/drawing/2014/main" id="{C789B64E-26E5-581C-5DB6-D4DC76A13830}"/>
                </a:ext>
              </a:extLst>
            </p:cNvPr>
            <p:cNvSpPr/>
            <p:nvPr/>
          </p:nvSpPr>
          <p:spPr>
            <a:xfrm>
              <a:off x="9401619" y="6506511"/>
              <a:ext cx="2040521" cy="393709"/>
            </a:xfrm>
            <a:prstGeom prst="roundRect">
              <a:avLst>
                <a:gd name="adj" fmla="val 26051"/>
              </a:avLst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050" dirty="0">
                  <a:latin typeface="Arial" panose="020B0604020202020204" pitchFamily="34" charset="0"/>
                  <a:cs typeface="Arial" panose="020B0604020202020204" pitchFamily="34" charset="0"/>
                </a:rPr>
                <a:t>Biological interpretation</a:t>
              </a:r>
            </a:p>
          </p:txBody>
        </p:sp>
      </p:grpSp>
      <p:grpSp>
        <p:nvGrpSpPr>
          <p:cNvPr id="1103" name="Group 1102">
            <a:extLst>
              <a:ext uri="{FF2B5EF4-FFF2-40B4-BE49-F238E27FC236}">
                <a16:creationId xmlns:a16="http://schemas.microsoft.com/office/drawing/2014/main" id="{63446546-3A59-65D6-74BC-034815056A92}"/>
              </a:ext>
            </a:extLst>
          </p:cNvPr>
          <p:cNvGrpSpPr/>
          <p:nvPr/>
        </p:nvGrpSpPr>
        <p:grpSpPr>
          <a:xfrm>
            <a:off x="12053979" y="9559480"/>
            <a:ext cx="1548902" cy="853635"/>
            <a:chOff x="12520345" y="5769523"/>
            <a:chExt cx="2051625" cy="1130697"/>
          </a:xfrm>
        </p:grpSpPr>
        <p:sp>
          <p:nvSpPr>
            <p:cNvPr id="59" name="Rounded Rectangle 58">
              <a:extLst>
                <a:ext uri="{FF2B5EF4-FFF2-40B4-BE49-F238E27FC236}">
                  <a16:creationId xmlns:a16="http://schemas.microsoft.com/office/drawing/2014/main" id="{CA77D110-73A3-0804-3AF5-CBA69719EFE9}"/>
                </a:ext>
              </a:extLst>
            </p:cNvPr>
            <p:cNvSpPr/>
            <p:nvPr/>
          </p:nvSpPr>
          <p:spPr>
            <a:xfrm>
              <a:off x="12520345" y="5769523"/>
              <a:ext cx="2039112" cy="731520"/>
            </a:xfrm>
            <a:prstGeom prst="round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100" dirty="0">
                  <a:solidFill>
                    <a:srgbClr val="1D1D1D"/>
                  </a:solidFill>
                  <a:latin typeface="Arial" panose="020B0604020202020204" pitchFamily="34" charset="0"/>
                  <a:ea typeface="Arial" pitchFamily="34" charset="-122"/>
                  <a:cs typeface="Arial" panose="020B0604020202020204" pitchFamily="34" charset="0"/>
                </a:rPr>
                <a:t>9. Cell Type-Specific</a:t>
              </a:r>
              <a:r>
                <a:rPr lang="ko-KR" altLang="en-US" sz="1100" dirty="0">
                  <a:solidFill>
                    <a:srgbClr val="1D1D1D"/>
                  </a:solidFill>
                  <a:latin typeface="Arial" panose="020B0604020202020204" pitchFamily="34" charset="0"/>
                  <a:ea typeface="Arial" pitchFamily="34" charset="-122"/>
                  <a:cs typeface="Arial" panose="020B0604020202020204" pitchFamily="34" charset="0"/>
                </a:rPr>
                <a:t> </a:t>
              </a:r>
              <a:r>
                <a:rPr lang="en-US" altLang="ko-KR" sz="1100" dirty="0">
                  <a:solidFill>
                    <a:srgbClr val="1D1D1D"/>
                  </a:solidFill>
                  <a:latin typeface="Arial" panose="020B0604020202020204" pitchFamily="34" charset="0"/>
                  <a:ea typeface="Arial" pitchFamily="34" charset="-122"/>
                  <a:cs typeface="Arial" panose="020B0604020202020204" pitchFamily="34" charset="0"/>
                </a:rPr>
                <a:t>SVGs analysis</a:t>
              </a:r>
              <a:endParaRPr lang="en-US" sz="1100" dirty="0">
                <a:solidFill>
                  <a:srgbClr val="1D1D1D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18" name="Rounded Rectangle 17">
              <a:extLst>
                <a:ext uri="{FF2B5EF4-FFF2-40B4-BE49-F238E27FC236}">
                  <a16:creationId xmlns:a16="http://schemas.microsoft.com/office/drawing/2014/main" id="{0EAA0D8D-3BB4-02D1-DADB-68688838026B}"/>
                </a:ext>
              </a:extLst>
            </p:cNvPr>
            <p:cNvSpPr/>
            <p:nvPr/>
          </p:nvSpPr>
          <p:spPr>
            <a:xfrm>
              <a:off x="12531449" y="6506511"/>
              <a:ext cx="2040521" cy="393709"/>
            </a:xfrm>
            <a:prstGeom prst="roundRect">
              <a:avLst>
                <a:gd name="adj" fmla="val 26051"/>
              </a:avLst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050">
                  <a:latin typeface="Arial" panose="020B0604020202020204" pitchFamily="34" charset="0"/>
                  <a:cs typeface="Arial" panose="020B0604020202020204" pitchFamily="34" charset="0"/>
                </a:rPr>
                <a:t>Biological interpretation</a:t>
              </a:r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0B8D4FB9-0807-A1C5-B47E-14CD0852A4D0}"/>
              </a:ext>
            </a:extLst>
          </p:cNvPr>
          <p:cNvSpPr txBox="1"/>
          <p:nvPr/>
        </p:nvSpPr>
        <p:spPr>
          <a:xfrm>
            <a:off x="7888941" y="6836483"/>
            <a:ext cx="3585083" cy="279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15940">
              <a:lnSpc>
                <a:spcPts val="1365"/>
              </a:lnSpc>
              <a:spcAft>
                <a:spcPts val="750"/>
              </a:spcAft>
            </a:pPr>
            <a:r>
              <a:rPr lang="en-US" sz="1200" dirty="0">
                <a:solidFill>
                  <a:srgbClr val="1D1D1D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Exploratory Analysis (Steps 1-5)</a:t>
            </a:r>
            <a:endParaRPr lang="en-US" sz="12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F6FDDE5-88D7-35FD-059F-9EF371502345}"/>
              </a:ext>
            </a:extLst>
          </p:cNvPr>
          <p:cNvSpPr txBox="1"/>
          <p:nvPr/>
        </p:nvSpPr>
        <p:spPr>
          <a:xfrm>
            <a:off x="5649559" y="6854293"/>
            <a:ext cx="1236520" cy="264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15940">
              <a:lnSpc>
                <a:spcPts val="1333"/>
              </a:lnSpc>
              <a:spcAft>
                <a:spcPts val="900"/>
              </a:spcAft>
            </a:pPr>
            <a:r>
              <a:rPr lang="en-US" sz="1300" b="1" dirty="0">
                <a:solidFill>
                  <a:srgbClr val="0B5394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Part 1</a:t>
            </a:r>
            <a:endParaRPr lang="en-US" sz="13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Text 6">
            <a:extLst>
              <a:ext uri="{FF2B5EF4-FFF2-40B4-BE49-F238E27FC236}">
                <a16:creationId xmlns:a16="http://schemas.microsoft.com/office/drawing/2014/main" id="{8CCB4153-BD55-5377-7559-18490EAD2BFD}"/>
              </a:ext>
            </a:extLst>
          </p:cNvPr>
          <p:cNvSpPr/>
          <p:nvPr/>
        </p:nvSpPr>
        <p:spPr>
          <a:xfrm>
            <a:off x="4784964" y="9718512"/>
            <a:ext cx="2699990" cy="677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15940">
              <a:lnSpc>
                <a:spcPts val="1333"/>
              </a:lnSpc>
              <a:spcAft>
                <a:spcPts val="900"/>
              </a:spcAft>
            </a:pPr>
            <a:endParaRPr lang="en-US" sz="1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C6AD0C0-0AE7-ECB8-8C1B-90F0527430C6}"/>
              </a:ext>
            </a:extLst>
          </p:cNvPr>
          <p:cNvSpPr txBox="1"/>
          <p:nvPr/>
        </p:nvSpPr>
        <p:spPr>
          <a:xfrm>
            <a:off x="5649559" y="9167505"/>
            <a:ext cx="1106424" cy="2590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15940">
              <a:lnSpc>
                <a:spcPts val="1333"/>
              </a:lnSpc>
              <a:spcAft>
                <a:spcPts val="900"/>
              </a:spcAft>
            </a:pPr>
            <a:r>
              <a:rPr lang="en-US" sz="1300" b="1" dirty="0">
                <a:solidFill>
                  <a:srgbClr val="16A085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Part 2</a:t>
            </a:r>
            <a:endParaRPr lang="en-US" sz="13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44C9E09-B489-EE61-F7F9-BA6111F63997}"/>
              </a:ext>
            </a:extLst>
          </p:cNvPr>
          <p:cNvSpPr txBox="1"/>
          <p:nvPr/>
        </p:nvSpPr>
        <p:spPr>
          <a:xfrm>
            <a:off x="8085853" y="9147049"/>
            <a:ext cx="3191256" cy="279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15940">
              <a:lnSpc>
                <a:spcPts val="1365"/>
              </a:lnSpc>
              <a:spcAft>
                <a:spcPts val="750"/>
              </a:spcAft>
            </a:pPr>
            <a:r>
              <a:rPr lang="en-US" sz="1200" dirty="0">
                <a:solidFill>
                  <a:srgbClr val="1D1D1D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CCI analysis with NMF (Steps 6-9)</a:t>
            </a:r>
            <a:endParaRPr lang="en-US" sz="12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79EB1DC-7910-E25F-7B1F-80B93E60A170}"/>
              </a:ext>
            </a:extLst>
          </p:cNvPr>
          <p:cNvSpPr txBox="1"/>
          <p:nvPr/>
        </p:nvSpPr>
        <p:spPr>
          <a:xfrm>
            <a:off x="14334873" y="7031534"/>
            <a:ext cx="2811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615940"/>
            <a:r>
              <a:rPr lang="en-US" sz="1200" dirty="0">
                <a:solidFill>
                  <a:srgbClr val="1D1D1D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Characterization and visualization</a:t>
            </a:r>
          </a:p>
          <a:p>
            <a:pPr algn="ctr" defTabSz="615940"/>
            <a:r>
              <a:rPr lang="en-US" sz="1200" dirty="0">
                <a:solidFill>
                  <a:srgbClr val="1D1D1D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(Steps 10-11)</a:t>
            </a:r>
            <a:endParaRPr lang="en-US" sz="12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90" name="TextBox 1089">
            <a:extLst>
              <a:ext uri="{FF2B5EF4-FFF2-40B4-BE49-F238E27FC236}">
                <a16:creationId xmlns:a16="http://schemas.microsoft.com/office/drawing/2014/main" id="{21B13270-6F4B-331F-8E3B-C4DC6EE2B500}"/>
              </a:ext>
            </a:extLst>
          </p:cNvPr>
          <p:cNvSpPr txBox="1"/>
          <p:nvPr/>
        </p:nvSpPr>
        <p:spPr>
          <a:xfrm>
            <a:off x="14440341" y="6761652"/>
            <a:ext cx="1136897" cy="2590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15940">
              <a:lnSpc>
                <a:spcPts val="1333"/>
              </a:lnSpc>
              <a:spcAft>
                <a:spcPts val="900"/>
              </a:spcAft>
            </a:pPr>
            <a:r>
              <a:rPr lang="en-US" sz="1300" b="1" dirty="0">
                <a:solidFill>
                  <a:srgbClr val="E67E22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Part 3</a:t>
            </a:r>
            <a:endParaRPr lang="en-US" sz="13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108" name="Elbow Connector 1107">
            <a:extLst>
              <a:ext uri="{FF2B5EF4-FFF2-40B4-BE49-F238E27FC236}">
                <a16:creationId xmlns:a16="http://schemas.microsoft.com/office/drawing/2014/main" id="{D2DCAE3C-762A-FEF8-3F87-CA75EF0E1516}"/>
              </a:ext>
            </a:extLst>
          </p:cNvPr>
          <p:cNvCxnSpPr>
            <a:stCxn id="1089" idx="2"/>
            <a:endCxn id="1096" idx="0"/>
          </p:cNvCxnSpPr>
          <p:nvPr/>
        </p:nvCxnSpPr>
        <p:spPr>
          <a:xfrm rot="16200000" flipH="1">
            <a:off x="7179012" y="7478157"/>
            <a:ext cx="274683" cy="1616475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4" name="Elbow Connector 1113">
            <a:extLst>
              <a:ext uri="{FF2B5EF4-FFF2-40B4-BE49-F238E27FC236}">
                <a16:creationId xmlns:a16="http://schemas.microsoft.com/office/drawing/2014/main" id="{42333728-823C-BA61-C42B-34246E96936D}"/>
              </a:ext>
            </a:extLst>
          </p:cNvPr>
          <p:cNvCxnSpPr>
            <a:cxnSpLocks/>
            <a:stCxn id="11" idx="2"/>
            <a:endCxn id="1096" idx="0"/>
          </p:cNvCxnSpPr>
          <p:nvPr/>
        </p:nvCxnSpPr>
        <p:spPr>
          <a:xfrm rot="5400000">
            <a:off x="8799022" y="7474624"/>
            <a:ext cx="274683" cy="162354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4" name="Straight Arrow Connector 1123">
            <a:extLst>
              <a:ext uri="{FF2B5EF4-FFF2-40B4-BE49-F238E27FC236}">
                <a16:creationId xmlns:a16="http://schemas.microsoft.com/office/drawing/2014/main" id="{17168448-139E-FC75-02FF-2443E8B64332}"/>
              </a:ext>
            </a:extLst>
          </p:cNvPr>
          <p:cNvCxnSpPr>
            <a:cxnSpLocks/>
            <a:stCxn id="10" idx="2"/>
            <a:endCxn id="1096" idx="0"/>
          </p:cNvCxnSpPr>
          <p:nvPr/>
        </p:nvCxnSpPr>
        <p:spPr>
          <a:xfrm>
            <a:off x="8124590" y="8149054"/>
            <a:ext cx="0" cy="2746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7" name="Rounded Rectangle 1126">
            <a:extLst>
              <a:ext uri="{FF2B5EF4-FFF2-40B4-BE49-F238E27FC236}">
                <a16:creationId xmlns:a16="http://schemas.microsoft.com/office/drawing/2014/main" id="{DE812C13-5807-6F09-4C17-E3AE2CABBE0F}"/>
              </a:ext>
            </a:extLst>
          </p:cNvPr>
          <p:cNvSpPr/>
          <p:nvPr/>
        </p:nvSpPr>
        <p:spPr>
          <a:xfrm>
            <a:off x="11421202" y="8423737"/>
            <a:ext cx="1540519" cy="382013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Select pathway</a:t>
            </a:r>
          </a:p>
        </p:txBody>
      </p:sp>
      <p:cxnSp>
        <p:nvCxnSpPr>
          <p:cNvPr id="1128" name="Elbow Connector 1127">
            <a:extLst>
              <a:ext uri="{FF2B5EF4-FFF2-40B4-BE49-F238E27FC236}">
                <a16:creationId xmlns:a16="http://schemas.microsoft.com/office/drawing/2014/main" id="{B1537CA6-C6FE-45F4-F1FB-F1CFB614ED3B}"/>
              </a:ext>
            </a:extLst>
          </p:cNvPr>
          <p:cNvCxnSpPr>
            <a:cxnSpLocks/>
            <a:stCxn id="12" idx="2"/>
            <a:endCxn id="1127" idx="0"/>
          </p:cNvCxnSpPr>
          <p:nvPr/>
        </p:nvCxnSpPr>
        <p:spPr>
          <a:xfrm rot="16200000" flipH="1">
            <a:off x="11642461" y="7874735"/>
            <a:ext cx="274683" cy="82331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1" name="Elbow Connector 1130">
            <a:extLst>
              <a:ext uri="{FF2B5EF4-FFF2-40B4-BE49-F238E27FC236}">
                <a16:creationId xmlns:a16="http://schemas.microsoft.com/office/drawing/2014/main" id="{325FAA0C-ED76-9726-522E-FE66EFCD7C4B}"/>
              </a:ext>
            </a:extLst>
          </p:cNvPr>
          <p:cNvCxnSpPr>
            <a:cxnSpLocks/>
            <a:stCxn id="13" idx="2"/>
            <a:endCxn id="1127" idx="0"/>
          </p:cNvCxnSpPr>
          <p:nvPr/>
        </p:nvCxnSpPr>
        <p:spPr>
          <a:xfrm rot="5400000">
            <a:off x="12452466" y="7888049"/>
            <a:ext cx="274683" cy="79669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4" name="Straight Arrow Connector 1133">
            <a:extLst>
              <a:ext uri="{FF2B5EF4-FFF2-40B4-BE49-F238E27FC236}">
                <a16:creationId xmlns:a16="http://schemas.microsoft.com/office/drawing/2014/main" id="{460995A1-5B88-239E-9491-D112B8BD8568}"/>
              </a:ext>
            </a:extLst>
          </p:cNvPr>
          <p:cNvCxnSpPr>
            <a:cxnSpLocks/>
          </p:cNvCxnSpPr>
          <p:nvPr/>
        </p:nvCxnSpPr>
        <p:spPr>
          <a:xfrm flipH="1">
            <a:off x="8716296" y="10413114"/>
            <a:ext cx="4723" cy="2372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7" name="Elbow Connector 1136">
            <a:extLst>
              <a:ext uri="{FF2B5EF4-FFF2-40B4-BE49-F238E27FC236}">
                <a16:creationId xmlns:a16="http://schemas.microsoft.com/office/drawing/2014/main" id="{B8644BDB-96FB-7924-F589-F8412A856430}"/>
              </a:ext>
            </a:extLst>
          </p:cNvPr>
          <p:cNvCxnSpPr>
            <a:cxnSpLocks/>
            <a:stCxn id="1127" idx="2"/>
            <a:endCxn id="58" idx="0"/>
          </p:cNvCxnSpPr>
          <p:nvPr/>
        </p:nvCxnSpPr>
        <p:spPr>
          <a:xfrm rot="5400000">
            <a:off x="11107239" y="8475258"/>
            <a:ext cx="753730" cy="1414715"/>
          </a:xfrm>
          <a:prstGeom prst="bentConnector3">
            <a:avLst>
              <a:gd name="adj1" fmla="val 50000"/>
            </a:avLst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0" name="Rounded Rectangle 1139">
            <a:extLst>
              <a:ext uri="{FF2B5EF4-FFF2-40B4-BE49-F238E27FC236}">
                <a16:creationId xmlns:a16="http://schemas.microsoft.com/office/drawing/2014/main" id="{C6B12C09-00EF-9381-5DEE-6D085A208B39}"/>
              </a:ext>
            </a:extLst>
          </p:cNvPr>
          <p:cNvSpPr/>
          <p:nvPr/>
        </p:nvSpPr>
        <p:spPr>
          <a:xfrm>
            <a:off x="10013573" y="10651140"/>
            <a:ext cx="1540519" cy="382013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Select pathway</a:t>
            </a:r>
          </a:p>
        </p:txBody>
      </p:sp>
      <p:cxnSp>
        <p:nvCxnSpPr>
          <p:cNvPr id="1141" name="Elbow Connector 1140">
            <a:extLst>
              <a:ext uri="{FF2B5EF4-FFF2-40B4-BE49-F238E27FC236}">
                <a16:creationId xmlns:a16="http://schemas.microsoft.com/office/drawing/2014/main" id="{277B88B6-0D78-D1DF-1A7F-38CAFD6654E9}"/>
              </a:ext>
            </a:extLst>
          </p:cNvPr>
          <p:cNvCxnSpPr>
            <a:cxnSpLocks/>
            <a:stCxn id="14" idx="2"/>
            <a:endCxn id="1109" idx="0"/>
          </p:cNvCxnSpPr>
          <p:nvPr/>
        </p:nvCxnSpPr>
        <p:spPr>
          <a:xfrm rot="16200000" flipH="1">
            <a:off x="7577570" y="9509292"/>
            <a:ext cx="237264" cy="204490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5" name="Straight Arrow Connector 1144">
            <a:extLst>
              <a:ext uri="{FF2B5EF4-FFF2-40B4-BE49-F238E27FC236}">
                <a16:creationId xmlns:a16="http://schemas.microsoft.com/office/drawing/2014/main" id="{D8578AD1-9029-41BB-B133-29CE5F663859}"/>
              </a:ext>
            </a:extLst>
          </p:cNvPr>
          <p:cNvCxnSpPr>
            <a:cxnSpLocks/>
            <a:endCxn id="1140" idx="0"/>
          </p:cNvCxnSpPr>
          <p:nvPr/>
        </p:nvCxnSpPr>
        <p:spPr>
          <a:xfrm>
            <a:off x="10783832" y="10417243"/>
            <a:ext cx="0" cy="2338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6" name="Straight Arrow Connector 1155">
            <a:extLst>
              <a:ext uri="{FF2B5EF4-FFF2-40B4-BE49-F238E27FC236}">
                <a16:creationId xmlns:a16="http://schemas.microsoft.com/office/drawing/2014/main" id="{E34BEEB6-107F-1417-2905-ADB5D9F2F505}"/>
              </a:ext>
            </a:extLst>
          </p:cNvPr>
          <p:cNvCxnSpPr>
            <a:cxnSpLocks/>
          </p:cNvCxnSpPr>
          <p:nvPr/>
        </p:nvCxnSpPr>
        <p:spPr>
          <a:xfrm>
            <a:off x="12826849" y="10417243"/>
            <a:ext cx="0" cy="2338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57" name="Picture 1156">
            <a:extLst>
              <a:ext uri="{FF2B5EF4-FFF2-40B4-BE49-F238E27FC236}">
                <a16:creationId xmlns:a16="http://schemas.microsoft.com/office/drawing/2014/main" id="{BBA43942-62DE-C65B-170A-AEAF7476C3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0055" y="5969397"/>
            <a:ext cx="2362200" cy="6184900"/>
          </a:xfrm>
          <a:prstGeom prst="rect">
            <a:avLst/>
          </a:prstGeom>
        </p:spPr>
      </p:pic>
      <p:sp>
        <p:nvSpPr>
          <p:cNvPr id="1158" name="Right Arrow 1157">
            <a:extLst>
              <a:ext uri="{FF2B5EF4-FFF2-40B4-BE49-F238E27FC236}">
                <a16:creationId xmlns:a16="http://schemas.microsoft.com/office/drawing/2014/main" id="{057354FB-1B4B-57DE-68B5-B6457FF71589}"/>
              </a:ext>
            </a:extLst>
          </p:cNvPr>
          <p:cNvSpPr/>
          <p:nvPr/>
        </p:nvSpPr>
        <p:spPr>
          <a:xfrm>
            <a:off x="13983288" y="8547377"/>
            <a:ext cx="283623" cy="879173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9" name="TextBox 1158">
            <a:extLst>
              <a:ext uri="{FF2B5EF4-FFF2-40B4-BE49-F238E27FC236}">
                <a16:creationId xmlns:a16="http://schemas.microsoft.com/office/drawing/2014/main" id="{1D759BF2-BA48-8147-E879-15ED96E7A4E2}"/>
              </a:ext>
            </a:extLst>
          </p:cNvPr>
          <p:cNvSpPr txBox="1"/>
          <p:nvPr/>
        </p:nvSpPr>
        <p:spPr>
          <a:xfrm>
            <a:off x="5514617" y="6154313"/>
            <a:ext cx="327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B</a:t>
            </a:r>
            <a:endParaRPr lang="en-US" b="1" dirty="0"/>
          </a:p>
        </p:txBody>
      </p:sp>
      <p:sp>
        <p:nvSpPr>
          <p:cNvPr id="1160" name="TextBox 1159">
            <a:extLst>
              <a:ext uri="{FF2B5EF4-FFF2-40B4-BE49-F238E27FC236}">
                <a16:creationId xmlns:a16="http://schemas.microsoft.com/office/drawing/2014/main" id="{2E56EB1B-199C-0A13-C742-D25A93F25F72}"/>
              </a:ext>
            </a:extLst>
          </p:cNvPr>
          <p:cNvSpPr txBox="1"/>
          <p:nvPr/>
        </p:nvSpPr>
        <p:spPr>
          <a:xfrm>
            <a:off x="2326388" y="6154313"/>
            <a:ext cx="327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913A8E4-015D-7AC5-FA53-BB83EBF18E83}"/>
              </a:ext>
            </a:extLst>
          </p:cNvPr>
          <p:cNvSpPr txBox="1"/>
          <p:nvPr/>
        </p:nvSpPr>
        <p:spPr>
          <a:xfrm>
            <a:off x="16566777" y="12711953"/>
            <a:ext cx="704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Fig. 4</a:t>
            </a:r>
          </a:p>
        </p:txBody>
      </p:sp>
    </p:spTree>
    <p:extLst>
      <p:ext uri="{BB962C8B-B14F-4D97-AF65-F5344CB8AC3E}">
        <p14:creationId xmlns:p14="http://schemas.microsoft.com/office/powerpoint/2010/main" val="36961954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fig" id="{97B56224-1A7D-4E45-96A0-163BD107D4EC}" vid="{ADFC3F09-DF55-4E44-A28F-FAE6AC179DB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14230</TotalTime>
  <Words>1792</Words>
  <Application>Microsoft Macintosh PowerPoint</Application>
  <PresentationFormat>Custom</PresentationFormat>
  <Paragraphs>272</Paragraphs>
  <Slides>14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ui-sans-serif</vt:lpstr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Junghyun Jung</dc:creator>
  <cp:lastModifiedBy>Junghyun Jung</cp:lastModifiedBy>
  <cp:revision>49</cp:revision>
  <dcterms:created xsi:type="dcterms:W3CDTF">2026-03-18T21:54:18Z</dcterms:created>
  <dcterms:modified xsi:type="dcterms:W3CDTF">2026-04-10T17:08:11Z</dcterms:modified>
</cp:coreProperties>
</file>