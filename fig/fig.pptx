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1"/>
  </p:notesMasterIdLst>
  <p:sldIdLst>
    <p:sldId id="256" r:id="rId2"/>
    <p:sldId id="259" r:id="rId3"/>
    <p:sldId id="257" r:id="rId4"/>
    <p:sldId id="263" r:id="rId5"/>
    <p:sldId id="262" r:id="rId6"/>
    <p:sldId id="261" r:id="rId7"/>
    <p:sldId id="264" r:id="rId8"/>
    <p:sldId id="266" r:id="rId9"/>
    <p:sldId id="265" r:id="rId10"/>
  </p:sldIdLst>
  <p:sldSz cx="182880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12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89"/>
    <p:restoredTop sz="79886"/>
  </p:normalViewPr>
  <p:slideViewPr>
    <p:cSldViewPr snapToGrid="0" showGuides="1">
      <p:cViewPr>
        <p:scale>
          <a:sx n="64" d="100"/>
          <a:sy n="64" d="100"/>
        </p:scale>
        <p:origin x="2168" y="120"/>
      </p:cViewPr>
      <p:guideLst>
        <p:guide orient="horz" pos="5712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B44AB8-C8D2-6C48-A188-05D311D83888}" type="datetimeFigureOut">
              <a:rPr lang="en-US" smtClean="0"/>
              <a:t>3/16/26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CACE96-7AB2-B243-B3F0-FB78F0A5C4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707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885950" y="1143000"/>
            <a:ext cx="3086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 1. </a:t>
            </a:r>
            <a:r>
              <a:rPr lang="en-US" b="1" dirty="0" err="1"/>
              <a:t>DeepAgent</a:t>
            </a:r>
            <a:r>
              <a:rPr lang="en-US" b="1" dirty="0"/>
              <a:t>: A deep multi-agent system for autonomous ST data and CCI analysis.</a:t>
            </a:r>
            <a:endParaRPr lang="en-US" dirty="0"/>
          </a:p>
          <a:p>
            <a:r>
              <a:rPr lang="en-US" b="1" dirty="0"/>
              <a:t>(A)</a:t>
            </a:r>
            <a:r>
              <a:rPr lang="en-US" dirty="0"/>
              <a:t> Schematic</a:t>
            </a:r>
            <a:r>
              <a:rPr lang="ko-KR" altLang="en-US" dirty="0"/>
              <a:t> </a:t>
            </a:r>
            <a:r>
              <a:rPr lang="en-US" altLang="ko-KR" dirty="0"/>
              <a:t>overview </a:t>
            </a:r>
            <a:r>
              <a:rPr lang="en-US" dirty="0"/>
              <a:t>of </a:t>
            </a:r>
            <a:r>
              <a:rPr lang="en-US" dirty="0" err="1"/>
              <a:t>DeepAgent</a:t>
            </a:r>
            <a:r>
              <a:rPr lang="en-US" dirty="0"/>
              <a:t> The system integrates ST data with single-cell reference data to perform ST data analysis, CCI analysis, and biological interpretation.</a:t>
            </a:r>
          </a:p>
          <a:p>
            <a:r>
              <a:rPr lang="en-US" b="1" dirty="0"/>
              <a:t>(B)</a:t>
            </a:r>
            <a:r>
              <a:rPr lang="en-US" dirty="0"/>
              <a:t> Architecture of </a:t>
            </a:r>
            <a:r>
              <a:rPr lang="en-US" dirty="0" err="1"/>
              <a:t>DeepAgent</a:t>
            </a:r>
            <a:r>
              <a:rPr lang="en-US" dirty="0"/>
              <a:t>. A Supervisor Agent coordinates three Expert Agents (Pipeline builder, Pipeline Executor, and Biological interpreter). These agents interact with five MCP Servers via MCP Client: Article-download for literature download, MAST-RAG for literature retrieval, </a:t>
            </a:r>
            <a:r>
              <a:rPr lang="en-US" dirty="0" err="1"/>
              <a:t>rMCPAgent</a:t>
            </a:r>
            <a:r>
              <a:rPr lang="en-US" dirty="0"/>
              <a:t> for R function integration, SC-reference-selector for single-cell reference dataset selection, and ST-CCI for spatial CCI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CACE96-7AB2-B243-B3F0-FB78F0A5C4C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159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885950" y="1143000"/>
            <a:ext cx="3086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 4. Biological Interpreter Agent performs autonomous spatial cell-cell interaction analysis.</a:t>
            </a:r>
            <a:endParaRPr lang="en-US" dirty="0"/>
          </a:p>
          <a:p>
            <a:r>
              <a:rPr lang="en-US" b="1" dirty="0"/>
              <a:t>(A)</a:t>
            </a:r>
            <a:r>
              <a:rPr lang="en-US" dirty="0"/>
              <a:t> Detailed architecture of the Biological Interpreter Agent. The agent utilizes multiple MCP servers to perform automated biological interpretation with human-in-the-loop validation at critical decision points.</a:t>
            </a:r>
          </a:p>
          <a:p>
            <a:r>
              <a:rPr lang="en-US" b="1" dirty="0"/>
              <a:t>(B)</a:t>
            </a:r>
            <a:r>
              <a:rPr lang="en-US" dirty="0"/>
              <a:t> Workflow of the ST-CCI MCP server. The analysis consists of three parts: Part 1 (Steps 1-5) performs exploratory spatial analysis. Part 2 (Steps 6-9) conducts cell-cell interaction analysis using non-negative matrix factorization (NMF) to identify ligand-receptor (LR) interaction patterns. Part 3 (Steps 10-11) provides characterization and visualization of key LR pairs with quantitative analysis. The workflow concludes with an integrated summary of findings, clinical and therapeutic implications, and methodological innovations.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CACE96-7AB2-B243-B3F0-FB78F0A5C4C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929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본문에 **통합 멀티패널 </a:t>
            </a:r>
            <a:r>
              <a:rPr lang="en-US" altLang="ko-KR" dirty="0"/>
              <a:t>1</a:t>
            </a:r>
            <a:r>
              <a:rPr lang="ko-KR" altLang="en-US" dirty="0"/>
              <a:t>개</a:t>
            </a:r>
            <a:r>
              <a:rPr lang="en-US" altLang="ko-KR" dirty="0"/>
              <a:t>(</a:t>
            </a:r>
            <a:r>
              <a:rPr lang="en-US" dirty="0" err="1"/>
              <a:t>Fig.Xa</a:t>
            </a:r>
            <a:r>
              <a:rPr lang="en-US" dirty="0"/>
              <a:t>/b/c)**</a:t>
            </a:r>
            <a:r>
              <a:rPr lang="ko-KR" altLang="en-US" dirty="0"/>
              <a:t>만 둡니다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  1. </a:t>
            </a:r>
            <a:r>
              <a:rPr lang="en-US" dirty="0"/>
              <a:t>Panel a: </a:t>
            </a:r>
            <a:r>
              <a:rPr lang="en-US" dirty="0" err="1"/>
              <a:t>fig_composite_cov_boxplot_case_mean.png</a:t>
            </a:r>
            <a:endParaRPr lang="en-US" dirty="0"/>
          </a:p>
          <a:p>
            <a:r>
              <a:rPr lang="en-US" dirty="0"/>
              <a:t>     </a:t>
            </a:r>
            <a:r>
              <a:rPr lang="ko-KR" altLang="en-US" dirty="0"/>
              <a:t>목적</a:t>
            </a:r>
            <a:r>
              <a:rPr lang="en-US" altLang="ko-KR" dirty="0"/>
              <a:t>: “</a:t>
            </a:r>
            <a:r>
              <a:rPr lang="ko-KR" altLang="en-US" dirty="0"/>
              <a:t>찾아내는 양</a:t>
            </a:r>
            <a:r>
              <a:rPr lang="en-US" altLang="ko-KR" dirty="0"/>
              <a:t>(</a:t>
            </a:r>
            <a:r>
              <a:rPr lang="en-US" dirty="0"/>
              <a:t>coverage) </a:t>
            </a:r>
            <a:r>
              <a:rPr lang="ko-KR" altLang="en-US" dirty="0"/>
              <a:t>자체가 </a:t>
            </a:r>
            <a:r>
              <a:rPr lang="en-US" dirty="0"/>
              <a:t>baseline</a:t>
            </a:r>
            <a:r>
              <a:rPr lang="ko-KR" altLang="en-US" dirty="0"/>
              <a:t>보다 충분히 높다”</a:t>
            </a:r>
          </a:p>
          <a:p>
            <a:r>
              <a:rPr lang="ko-KR" altLang="en-US" dirty="0"/>
              <a:t>  </a:t>
            </a:r>
            <a:r>
              <a:rPr lang="en-US" altLang="ko-KR" dirty="0"/>
              <a:t>2. </a:t>
            </a:r>
            <a:r>
              <a:rPr lang="en-US" dirty="0"/>
              <a:t>Panel b: </a:t>
            </a:r>
            <a:r>
              <a:rPr lang="en-US" dirty="0" err="1"/>
              <a:t>fig_contamination_boxplot_case_mean.png</a:t>
            </a:r>
            <a:endParaRPr lang="en-US" dirty="0"/>
          </a:p>
          <a:p>
            <a:r>
              <a:rPr lang="en-US" dirty="0"/>
              <a:t>     </a:t>
            </a:r>
            <a:r>
              <a:rPr lang="ko-KR" altLang="en-US" dirty="0"/>
              <a:t>목적</a:t>
            </a:r>
            <a:r>
              <a:rPr lang="en-US" altLang="ko-KR" dirty="0"/>
              <a:t>: “</a:t>
            </a:r>
            <a:r>
              <a:rPr lang="ko-KR" altLang="en-US" dirty="0"/>
              <a:t>질병 필터가 오염</a:t>
            </a:r>
            <a:r>
              <a:rPr lang="en-US" altLang="ko-KR" dirty="0"/>
              <a:t>(</a:t>
            </a:r>
            <a:r>
              <a:rPr lang="ko-KR" altLang="en-US" dirty="0" err="1"/>
              <a:t>할루시네이션성</a:t>
            </a:r>
            <a:r>
              <a:rPr lang="ko-KR" altLang="en-US" dirty="0"/>
              <a:t> 문맥 미스매치</a:t>
            </a:r>
            <a:r>
              <a:rPr lang="en-US" altLang="ko-KR" dirty="0"/>
              <a:t>)</a:t>
            </a:r>
            <a:r>
              <a:rPr lang="ko-KR" altLang="en-US" dirty="0"/>
              <a:t>을 강하게 억제한다”</a:t>
            </a:r>
          </a:p>
          <a:p>
            <a:r>
              <a:rPr lang="ko-KR" altLang="en-US" dirty="0"/>
              <a:t>  </a:t>
            </a:r>
            <a:r>
              <a:rPr lang="en-US" altLang="ko-KR" dirty="0"/>
              <a:t>3. </a:t>
            </a:r>
            <a:r>
              <a:rPr lang="en-US" dirty="0"/>
              <a:t>Panel c: fig_dynamic_repro_top10_vs_tail20_case_boxplot.png</a:t>
            </a:r>
          </a:p>
          <a:p>
            <a:r>
              <a:rPr lang="en-US" dirty="0"/>
              <a:t>     </a:t>
            </a:r>
            <a:r>
              <a:rPr lang="ko-KR" altLang="en-US" dirty="0"/>
              <a:t>목적</a:t>
            </a:r>
            <a:r>
              <a:rPr lang="en-US" altLang="ko-KR" dirty="0"/>
              <a:t>: “</a:t>
            </a:r>
            <a:r>
              <a:rPr lang="en-US" dirty="0"/>
              <a:t>Top-10</a:t>
            </a:r>
            <a:r>
              <a:rPr lang="ko-KR" altLang="en-US" dirty="0"/>
              <a:t>은 안정적</a:t>
            </a:r>
            <a:r>
              <a:rPr lang="en-US" altLang="ko-KR" dirty="0"/>
              <a:t>(</a:t>
            </a:r>
            <a:r>
              <a:rPr lang="ko-KR" altLang="en-US" dirty="0"/>
              <a:t>재현성 높음</a:t>
            </a:r>
            <a:r>
              <a:rPr lang="en-US" altLang="ko-KR" dirty="0"/>
              <a:t>), </a:t>
            </a:r>
            <a:r>
              <a:rPr lang="en-US" dirty="0"/>
              <a:t>Tail-20</a:t>
            </a:r>
            <a:r>
              <a:rPr lang="ko-KR" altLang="en-US" dirty="0"/>
              <a:t>은 다양성 유지”</a:t>
            </a:r>
          </a:p>
          <a:p>
            <a:endParaRPr lang="ko-KR" altLang="en-US" dirty="0"/>
          </a:p>
          <a:p>
            <a:r>
              <a:rPr lang="ko-KR" altLang="en-US" dirty="0"/>
              <a:t>  왜 이 구성이 맞나</a:t>
            </a:r>
          </a:p>
          <a:p>
            <a:endParaRPr lang="ko-KR" altLang="en-US" dirty="0"/>
          </a:p>
          <a:p>
            <a:r>
              <a:rPr lang="ko-KR" altLang="en-US" dirty="0"/>
              <a:t>  </a:t>
            </a:r>
            <a:r>
              <a:rPr lang="en-US" altLang="ko-KR" dirty="0"/>
              <a:t>- </a:t>
            </a:r>
            <a:r>
              <a:rPr lang="en-US" dirty="0" err="1"/>
              <a:t>a+b</a:t>
            </a:r>
            <a:r>
              <a:rPr lang="ko-KR" altLang="en-US" dirty="0"/>
              <a:t>가 “정확도</a:t>
            </a:r>
            <a:r>
              <a:rPr lang="en-US" altLang="ko-KR" dirty="0"/>
              <a:t>/</a:t>
            </a:r>
            <a:r>
              <a:rPr lang="ko-KR" altLang="en-US" dirty="0"/>
              <a:t>안전성</a:t>
            </a:r>
            <a:r>
              <a:rPr lang="en-US" altLang="ko-KR" dirty="0"/>
              <a:t>(</a:t>
            </a:r>
            <a:r>
              <a:rPr lang="ko-KR" altLang="en-US" dirty="0" err="1"/>
              <a:t>무할루시네이션</a:t>
            </a:r>
            <a:r>
              <a:rPr lang="en-US" altLang="ko-KR" dirty="0"/>
              <a:t>)”</a:t>
            </a:r>
            <a:r>
              <a:rPr lang="ko-KR" altLang="en-US" dirty="0"/>
              <a:t>의 핵심 증거 사슬</a:t>
            </a:r>
          </a:p>
          <a:p>
            <a:r>
              <a:rPr lang="ko-KR" altLang="en-US" dirty="0"/>
              <a:t>  </a:t>
            </a:r>
            <a:r>
              <a:rPr lang="en-US" altLang="ko-KR" dirty="0"/>
              <a:t>- </a:t>
            </a:r>
            <a:r>
              <a:rPr lang="en-US" dirty="0"/>
              <a:t>c</a:t>
            </a:r>
            <a:r>
              <a:rPr lang="ko-KR" altLang="en-US" dirty="0"/>
              <a:t>가 “안전하게 찾은 결과가 반복 시 어떻게 동작하는지</a:t>
            </a:r>
            <a:r>
              <a:rPr lang="en-US" altLang="ko-KR" dirty="0"/>
              <a:t>(</a:t>
            </a:r>
            <a:r>
              <a:rPr lang="ko-KR" altLang="en-US" dirty="0"/>
              <a:t>안정성</a:t>
            </a:r>
            <a:r>
              <a:rPr lang="en-US" altLang="ko-KR" dirty="0"/>
              <a:t>+</a:t>
            </a:r>
            <a:r>
              <a:rPr lang="ko-KR" altLang="en-US" dirty="0" err="1"/>
              <a:t>탐색성</a:t>
            </a:r>
            <a:r>
              <a:rPr lang="en-US" altLang="ko-KR" dirty="0"/>
              <a:t>)”</a:t>
            </a:r>
            <a:r>
              <a:rPr lang="ko-KR" altLang="en-US" dirty="0" err="1"/>
              <a:t>를</a:t>
            </a:r>
            <a:r>
              <a:rPr lang="ko-KR" altLang="en-US" dirty="0"/>
              <a:t> 보강</a:t>
            </a:r>
          </a:p>
          <a:p>
            <a:r>
              <a:rPr lang="ko-KR" altLang="en-US" dirty="0"/>
              <a:t>  </a:t>
            </a:r>
            <a:r>
              <a:rPr lang="en-US" altLang="ko-KR" dirty="0"/>
              <a:t>- </a:t>
            </a:r>
            <a:r>
              <a:rPr lang="ko-KR" altLang="en-US" dirty="0"/>
              <a:t>즉</a:t>
            </a:r>
            <a:r>
              <a:rPr lang="en-US" altLang="ko-KR" dirty="0"/>
              <a:t>, “</a:t>
            </a:r>
            <a:r>
              <a:rPr lang="ko-KR" altLang="en-US" dirty="0"/>
              <a:t>많이 찾기만 한 게 아니라</a:t>
            </a:r>
            <a:r>
              <a:rPr lang="en-US" altLang="ko-KR" dirty="0"/>
              <a:t>, </a:t>
            </a:r>
            <a:r>
              <a:rPr lang="ko-KR" altLang="en-US" dirty="0"/>
              <a:t>오염을 통제하면서 핵심은 </a:t>
            </a:r>
            <a:r>
              <a:rPr lang="ko-KR" altLang="en-US" dirty="0" err="1"/>
              <a:t>안정적”이라는</a:t>
            </a:r>
            <a:r>
              <a:rPr lang="ko-KR" altLang="en-US" dirty="0"/>
              <a:t> 논리</a:t>
            </a:r>
          </a:p>
          <a:p>
            <a:r>
              <a:rPr lang="ko-KR" altLang="en-US" dirty="0"/>
              <a:t>    흐름이 완성됩니다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  </a:t>
            </a:r>
            <a:r>
              <a:rPr lang="en-US" dirty="0"/>
              <a:t>Supplement</a:t>
            </a:r>
            <a:r>
              <a:rPr lang="ko-KR" altLang="en-US" dirty="0"/>
              <a:t>로 보내는 것</a:t>
            </a:r>
          </a:p>
          <a:p>
            <a:endParaRPr lang="ko-KR" altLang="en-US" dirty="0"/>
          </a:p>
          <a:p>
            <a:r>
              <a:rPr lang="ko-KR" altLang="en-US" dirty="0"/>
              <a:t>  </a:t>
            </a:r>
            <a:r>
              <a:rPr lang="en-US" altLang="ko-KR" dirty="0"/>
              <a:t>- </a:t>
            </a:r>
            <a:r>
              <a:rPr lang="en-US" dirty="0"/>
              <a:t>fig_dynamic_repro_top10_vs_tail20_pair_violin_box.png</a:t>
            </a:r>
          </a:p>
          <a:p>
            <a:r>
              <a:rPr lang="en-US" dirty="0"/>
              <a:t>    </a:t>
            </a:r>
            <a:r>
              <a:rPr lang="ko-KR" altLang="en-US" dirty="0"/>
              <a:t>역할</a:t>
            </a:r>
            <a:r>
              <a:rPr lang="en-US" altLang="ko-KR" dirty="0"/>
              <a:t>: </a:t>
            </a:r>
            <a:r>
              <a:rPr lang="en-US" dirty="0"/>
              <a:t>case-level </a:t>
            </a:r>
            <a:r>
              <a:rPr lang="ko-KR" altLang="en-US" dirty="0"/>
              <a:t>결론을 </a:t>
            </a:r>
            <a:r>
              <a:rPr lang="en-US" dirty="0"/>
              <a:t>pairwise(5700</a:t>
            </a:r>
            <a:r>
              <a:rPr lang="ko-KR" altLang="en-US" dirty="0"/>
              <a:t>쌍</a:t>
            </a:r>
            <a:r>
              <a:rPr lang="en-US" altLang="ko-KR" dirty="0"/>
              <a:t>)</a:t>
            </a:r>
            <a:r>
              <a:rPr lang="ko-KR" altLang="en-US" dirty="0"/>
              <a:t>에서도 재확인하는 보강 증거</a:t>
            </a:r>
          </a:p>
          <a:p>
            <a:r>
              <a:rPr lang="ko-KR" altLang="en-US" dirty="0"/>
              <a:t>  </a:t>
            </a:r>
            <a:r>
              <a:rPr lang="en-US" altLang="ko-KR" dirty="0"/>
              <a:t>- </a:t>
            </a:r>
            <a:r>
              <a:rPr lang="ko-KR" altLang="en-US" dirty="0"/>
              <a:t>필요 시 </a:t>
            </a:r>
            <a:r>
              <a:rPr lang="en-US" dirty="0" err="1"/>
              <a:t>fig_dynamic_repro_pairwise_violin_box.png</a:t>
            </a:r>
            <a:r>
              <a:rPr lang="en-US" dirty="0"/>
              <a:t>(Jaccard vs Top-10) </a:t>
            </a:r>
            <a:r>
              <a:rPr lang="ko-KR" altLang="en-US" dirty="0"/>
              <a:t>추가</a:t>
            </a:r>
          </a:p>
          <a:p>
            <a:endParaRPr lang="ko-KR" altLang="en-US" dirty="0"/>
          </a:p>
          <a:p>
            <a:r>
              <a:rPr lang="ko-KR" altLang="en-US" dirty="0"/>
              <a:t>  캡션 문구 핵심 프레임</a:t>
            </a:r>
          </a:p>
          <a:p>
            <a:endParaRPr lang="ko-KR" altLang="en-US" dirty="0"/>
          </a:p>
          <a:p>
            <a:r>
              <a:rPr lang="ko-KR" altLang="en-US" dirty="0"/>
              <a:t>  </a:t>
            </a:r>
            <a:r>
              <a:rPr lang="en-US" altLang="ko-KR" dirty="0"/>
              <a:t>- “</a:t>
            </a:r>
            <a:r>
              <a:rPr lang="en-US" dirty="0"/>
              <a:t>Dynamic</a:t>
            </a:r>
            <a:r>
              <a:rPr lang="ko-KR" altLang="en-US" dirty="0"/>
              <a:t>은 </a:t>
            </a:r>
            <a:r>
              <a:rPr lang="en-US" dirty="0"/>
              <a:t>baseline </a:t>
            </a:r>
            <a:r>
              <a:rPr lang="ko-KR" altLang="en-US" dirty="0"/>
              <a:t>대비 높은 </a:t>
            </a:r>
            <a:r>
              <a:rPr lang="en-US" dirty="0"/>
              <a:t>coverage</a:t>
            </a:r>
            <a:r>
              <a:rPr lang="ko-KR" altLang="en-US" dirty="0" err="1"/>
              <a:t>를</a:t>
            </a:r>
            <a:r>
              <a:rPr lang="ko-KR" altLang="en-US" dirty="0"/>
              <a:t> 유지하면서</a:t>
            </a:r>
            <a:r>
              <a:rPr lang="en-US" altLang="ko-KR" dirty="0"/>
              <a:t>, </a:t>
            </a:r>
            <a:r>
              <a:rPr lang="en-US" dirty="0"/>
              <a:t>disease filter</a:t>
            </a:r>
            <a:r>
              <a:rPr lang="ko-KR" altLang="en-US" dirty="0"/>
              <a:t>로</a:t>
            </a:r>
          </a:p>
          <a:p>
            <a:r>
              <a:rPr lang="ko-KR" altLang="en-US" dirty="0"/>
              <a:t>    </a:t>
            </a:r>
            <a:r>
              <a:rPr lang="en-US" dirty="0"/>
              <a:t>contamination</a:t>
            </a:r>
            <a:r>
              <a:rPr lang="ko-KR" altLang="en-US" dirty="0"/>
              <a:t>을 억제한다</a:t>
            </a:r>
            <a:r>
              <a:rPr lang="en-US" altLang="ko-KR" dirty="0"/>
              <a:t>. </a:t>
            </a:r>
            <a:r>
              <a:rPr lang="ko-KR" altLang="en-US" dirty="0"/>
              <a:t>또한 반복 실행에서 </a:t>
            </a:r>
            <a:r>
              <a:rPr lang="en-US" dirty="0"/>
              <a:t>Top-10 </a:t>
            </a:r>
            <a:r>
              <a:rPr lang="ko-KR" altLang="en-US" dirty="0"/>
              <a:t>후보는 높은 일치도를</a:t>
            </a:r>
          </a:p>
          <a:p>
            <a:r>
              <a:rPr lang="ko-KR" altLang="en-US" dirty="0"/>
              <a:t>    보이고</a:t>
            </a:r>
            <a:r>
              <a:rPr lang="en-US" altLang="ko-KR" dirty="0"/>
              <a:t>, </a:t>
            </a:r>
            <a:r>
              <a:rPr lang="en-US" dirty="0"/>
              <a:t>Tail-20</a:t>
            </a:r>
            <a:r>
              <a:rPr lang="ko-KR" altLang="en-US" dirty="0"/>
              <a:t>은 상대적으로 다양한 후보를 제공한다</a:t>
            </a:r>
            <a:r>
              <a:rPr lang="en-US" altLang="ko-KR" dirty="0"/>
              <a:t>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CACE96-7AB2-B243-B3F0-FB78F0A5C4C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3999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F2C8E-233C-0CFE-A2B2-B0637774A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0EC2C1-6B05-2359-CA38-E1916CE45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885950" y="1143000"/>
            <a:ext cx="30861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195D42-8C09-6D1F-405C-36C3A9D00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 2. Pipeline builder agent autonomously constructs customized spatial transcriptomics analysis workflows.</a:t>
            </a:r>
            <a:endParaRPr lang="en-US" dirty="0"/>
          </a:p>
          <a:p>
            <a:r>
              <a:rPr lang="en-US" b="1" dirty="0"/>
              <a:t>(A)</a:t>
            </a:r>
            <a:r>
              <a:rPr lang="en-US" dirty="0"/>
              <a:t> Detailed architecture of the Pipeline builder agent. The agent follows a sequential workflow including information collection, pipeline generation with Human in the loop (HITL).</a:t>
            </a:r>
          </a:p>
          <a:p>
            <a:r>
              <a:rPr lang="en-US" b="1" dirty="0"/>
              <a:t>(B)</a:t>
            </a:r>
            <a:r>
              <a:rPr lang="en-US" dirty="0"/>
              <a:t> Example of the information collection process. The agent interacts with users to gather essential metadata including technology platform, sample details, computational resources, and analysis objectives required for pipeline construction.</a:t>
            </a:r>
          </a:p>
          <a:p>
            <a:r>
              <a:rPr lang="en-US" b="1" dirty="0"/>
              <a:t>(C)</a:t>
            </a:r>
            <a:r>
              <a:rPr lang="en-US" dirty="0"/>
              <a:t> Knowledge-augmented pipeline selection using MAST-RAG. When users request reference-based pipelines, the agent generates multiple specific queries to retrieve optimal methods from the knowledge base.</a:t>
            </a:r>
          </a:p>
          <a:p>
            <a:r>
              <a:rPr lang="en-US" b="1" dirty="0"/>
              <a:t>(D)</a:t>
            </a:r>
            <a:r>
              <a:rPr lang="en-US" dirty="0"/>
              <a:t> Output of the Pipeline builder agent. The generated pipeline provides a complete spatial transcriptomics analysis workflow including step-by-step procedures (data normalization, cell type deconvolution, spatial clustering).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963EB-4FD9-959C-821E-7014152D6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CACE96-7AB2-B243-B3F0-FB78F0A5C4C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0225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96AD3-7D14-F13A-2870-78F54E457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F8FB71-2490-67ED-DAB0-7EE5F41DA5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885950" y="1143000"/>
            <a:ext cx="30861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07948-AEF3-1E11-51A1-C15F9222A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 3. Pipeline Executor Agent executes spatial transcriptomics workflows.</a:t>
            </a:r>
            <a:endParaRPr lang="en-US" dirty="0"/>
          </a:p>
          <a:p>
            <a:r>
              <a:rPr lang="en-US" b="1" dirty="0"/>
              <a:t>(A)</a:t>
            </a:r>
            <a:r>
              <a:rPr lang="en-US" dirty="0"/>
              <a:t> Detailed architecture of the Pipeline Executor Agent. The agent orchestrates the complete execution workflow including pipeline preparation, data loading (ST and single-cell reference data when needed), and automated execution through MCP Servers.</a:t>
            </a:r>
          </a:p>
          <a:p>
            <a:r>
              <a:rPr lang="en-US" b="1" dirty="0"/>
              <a:t>(B)</a:t>
            </a:r>
            <a:r>
              <a:rPr lang="en-US" dirty="0"/>
              <a:t> TBD</a:t>
            </a:r>
          </a:p>
          <a:p>
            <a:r>
              <a:rPr lang="en-US" b="1" dirty="0"/>
              <a:t>(C)</a:t>
            </a:r>
            <a:r>
              <a:rPr lang="en-US" dirty="0"/>
              <a:t> Schematic overview of </a:t>
            </a:r>
            <a:r>
              <a:rPr lang="en-US" dirty="0" err="1"/>
              <a:t>rMCPAgent</a:t>
            </a:r>
            <a:r>
              <a:rPr lang="en-US" dirty="0"/>
              <a:t>. The agent converts R functions into MCP servers through five sequential steps with workflow templates: input validation, data loading, workflow integration, error handling, and output validation. The processed workflows are then deployed as MCP servers for automated analysis.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6C8C5-88F0-3A54-D3DB-44EEA1760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CACE96-7AB2-B243-B3F0-FB78F0A5C4C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526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CACE96-7AB2-B243-B3F0-FB78F0A5C4C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7093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992968"/>
            <a:ext cx="15544800" cy="6366933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9605435"/>
            <a:ext cx="13716000" cy="4415365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24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621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4559305"/>
            <a:ext cx="15773400" cy="7607299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12238572"/>
            <a:ext cx="15773400" cy="4000499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091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4868333"/>
            <a:ext cx="77724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4868333"/>
            <a:ext cx="77724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019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73670"/>
            <a:ext cx="15773400" cy="353483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4483101"/>
            <a:ext cx="7736680" cy="2197099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6680200"/>
            <a:ext cx="7736680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4483101"/>
            <a:ext cx="7774782" cy="2197099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6680200"/>
            <a:ext cx="7774782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508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885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375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1219200"/>
            <a:ext cx="5898356" cy="42672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2633137"/>
            <a:ext cx="9258300" cy="12996333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5486400"/>
            <a:ext cx="5898356" cy="10164235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647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1219200"/>
            <a:ext cx="5898356" cy="42672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2633137"/>
            <a:ext cx="9258300" cy="12996333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5486400"/>
            <a:ext cx="5898356" cy="10164235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497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162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973666"/>
            <a:ext cx="3943350" cy="154982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973666"/>
            <a:ext cx="11601450" cy="154982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47055-459B-C345-AAA3-B8FDF97E4C97}" type="datetimeFigureOut">
              <a:rPr lang="en-US" smtClean="0"/>
              <a:t>3/16/26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50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973670"/>
            <a:ext cx="15773400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4868333"/>
            <a:ext cx="15773400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647055-459B-C345-AAA3-B8FDF97E4C97}" type="datetimeFigureOut">
              <a:rPr lang="en-US" smtClean="0"/>
              <a:t>3/16/26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6950271"/>
            <a:ext cx="61722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B5A499-64D8-C949-B147-724D33CCD1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41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Box 59">
            <a:extLst>
              <a:ext uri="{FF2B5EF4-FFF2-40B4-BE49-F238E27FC236}">
                <a16:creationId xmlns:a16="http://schemas.microsoft.com/office/drawing/2014/main" id="{ECDBB265-8D07-39C0-3ABC-39F69B89F5EF}"/>
              </a:ext>
            </a:extLst>
          </p:cNvPr>
          <p:cNvSpPr txBox="1"/>
          <p:nvPr/>
        </p:nvSpPr>
        <p:spPr>
          <a:xfrm>
            <a:off x="21695366" y="12582744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Fig 1</a:t>
            </a:r>
          </a:p>
        </p:txBody>
      </p:sp>
      <p:sp>
        <p:nvSpPr>
          <p:cNvPr id="1147" name="TextBox 1146">
            <a:extLst>
              <a:ext uri="{FF2B5EF4-FFF2-40B4-BE49-F238E27FC236}">
                <a16:creationId xmlns:a16="http://schemas.microsoft.com/office/drawing/2014/main" id="{53DE63B7-8F2D-78E0-444B-5F139E77C926}"/>
              </a:ext>
            </a:extLst>
          </p:cNvPr>
          <p:cNvSpPr txBox="1"/>
          <p:nvPr/>
        </p:nvSpPr>
        <p:spPr>
          <a:xfrm>
            <a:off x="2929034" y="49929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148" name="TextBox 1147">
            <a:extLst>
              <a:ext uri="{FF2B5EF4-FFF2-40B4-BE49-F238E27FC236}">
                <a16:creationId xmlns:a16="http://schemas.microsoft.com/office/drawing/2014/main" id="{3FFFC079-53D6-8F26-9D98-7A6CC1692BEA}"/>
              </a:ext>
            </a:extLst>
          </p:cNvPr>
          <p:cNvSpPr txBox="1"/>
          <p:nvPr/>
        </p:nvSpPr>
        <p:spPr>
          <a:xfrm>
            <a:off x="16566776" y="17450208"/>
            <a:ext cx="6396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5BD8EF-0EB0-3220-A518-67766B35D590}"/>
              </a:ext>
            </a:extLst>
          </p:cNvPr>
          <p:cNvSpPr/>
          <p:nvPr/>
        </p:nvSpPr>
        <p:spPr>
          <a:xfrm>
            <a:off x="6328346" y="10373029"/>
            <a:ext cx="1864179" cy="21969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논문 검색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DC5CC9-FE62-74F7-3551-0F6E2069B489}"/>
              </a:ext>
            </a:extLst>
          </p:cNvPr>
          <p:cNvSpPr/>
          <p:nvPr/>
        </p:nvSpPr>
        <p:spPr>
          <a:xfrm>
            <a:off x="10993048" y="10373028"/>
            <a:ext cx="1864179" cy="21969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drug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DB6D86-8A5F-F579-6D26-1ABB9F70088E}"/>
              </a:ext>
            </a:extLst>
          </p:cNvPr>
          <p:cNvSpPr/>
          <p:nvPr/>
        </p:nvSpPr>
        <p:spPr>
          <a:xfrm>
            <a:off x="8660697" y="10373029"/>
            <a:ext cx="1864179" cy="21969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rmcpagnet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2FFDD3-B65B-DBA5-B514-7638D945E459}"/>
              </a:ext>
            </a:extLst>
          </p:cNvPr>
          <p:cNvSpPr txBox="1"/>
          <p:nvPr/>
        </p:nvSpPr>
        <p:spPr>
          <a:xfrm>
            <a:off x="9753389" y="13514787"/>
            <a:ext cx="9926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rMCPAgent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7B64186-E920-8748-C893-E8AA637041F3}"/>
              </a:ext>
            </a:extLst>
          </p:cNvPr>
          <p:cNvGrpSpPr/>
          <p:nvPr/>
        </p:nvGrpSpPr>
        <p:grpSpPr>
          <a:xfrm>
            <a:off x="9561858" y="13806055"/>
            <a:ext cx="1375729" cy="2880199"/>
            <a:chOff x="10708648" y="4445559"/>
            <a:chExt cx="1375729" cy="322959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2891DB85-FC67-F0E0-C175-EC24DCF33D7B}"/>
                </a:ext>
              </a:extLst>
            </p:cNvPr>
            <p:cNvSpPr/>
            <p:nvPr/>
          </p:nvSpPr>
          <p:spPr>
            <a:xfrm>
              <a:off x="10764049" y="4604386"/>
              <a:ext cx="1264926" cy="449141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1. Input validation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7DB16D0D-385A-4501-14AF-CFB0D64E2B8A}"/>
                </a:ext>
              </a:extLst>
            </p:cNvPr>
            <p:cNvSpPr/>
            <p:nvPr/>
          </p:nvSpPr>
          <p:spPr>
            <a:xfrm>
              <a:off x="10764049" y="5219265"/>
              <a:ext cx="1264926" cy="449141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2. Data</a:t>
              </a:r>
              <a:r>
                <a:rPr lang="ko-KR" alt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ko-KR" sz="1000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oading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9190D7E2-E7FA-FA99-2EC0-427268407289}"/>
                </a:ext>
              </a:extLst>
            </p:cNvPr>
            <p:cNvSpPr/>
            <p:nvPr/>
          </p:nvSpPr>
          <p:spPr>
            <a:xfrm>
              <a:off x="10764049" y="5834144"/>
              <a:ext cx="1264926" cy="449141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3. Workflow</a:t>
              </a:r>
              <a:r>
                <a:rPr lang="ko-KR" alt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integration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27C55872-BF9D-93C9-F222-817DB59D1ED2}"/>
                </a:ext>
              </a:extLst>
            </p:cNvPr>
            <p:cNvSpPr/>
            <p:nvPr/>
          </p:nvSpPr>
          <p:spPr>
            <a:xfrm>
              <a:off x="10764049" y="6449023"/>
              <a:ext cx="1264926" cy="449141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4.Error</a:t>
              </a:r>
              <a:r>
                <a:rPr lang="ko-KR" alt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handling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F82CB4D-6EA2-A90C-692F-2BE9B32DD8FC}"/>
                </a:ext>
              </a:extLst>
            </p:cNvPr>
            <p:cNvSpPr/>
            <p:nvPr/>
          </p:nvSpPr>
          <p:spPr>
            <a:xfrm>
              <a:off x="10764049" y="7063901"/>
              <a:ext cx="1264926" cy="449141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5.Output </a:t>
              </a:r>
            </a:p>
            <a:p>
              <a:pPr algn="ct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validation &amp; MCP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5FFB8543-76BD-6009-BB99-63DB51420018}"/>
                </a:ext>
              </a:extLst>
            </p:cNvPr>
            <p:cNvSpPr/>
            <p:nvPr/>
          </p:nvSpPr>
          <p:spPr>
            <a:xfrm>
              <a:off x="10708648" y="4445559"/>
              <a:ext cx="1375729" cy="3229599"/>
            </a:xfrm>
            <a:prstGeom prst="roundRect">
              <a:avLst>
                <a:gd name="adj" fmla="val 18631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482DC5D-FD9E-0EAF-AE4A-7D004356382A}"/>
                </a:ext>
              </a:extLst>
            </p:cNvPr>
            <p:cNvCxnSpPr>
              <a:stCxn id="7" idx="2"/>
              <a:endCxn id="8" idx="0"/>
            </p:cNvCxnSpPr>
            <p:nvPr/>
          </p:nvCxnSpPr>
          <p:spPr>
            <a:xfrm>
              <a:off x="11396512" y="5053527"/>
              <a:ext cx="0" cy="1657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352B97E-734D-121C-7404-805DF63D2F04}"/>
                </a:ext>
              </a:extLst>
            </p:cNvPr>
            <p:cNvCxnSpPr>
              <a:cxnSpLocks/>
              <a:stCxn id="8" idx="2"/>
              <a:endCxn id="9" idx="0"/>
            </p:cNvCxnSpPr>
            <p:nvPr/>
          </p:nvCxnSpPr>
          <p:spPr>
            <a:xfrm>
              <a:off x="11396512" y="5668406"/>
              <a:ext cx="0" cy="1657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A307416-236D-65AC-3BAC-9C51C4900D86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>
              <a:off x="11396512" y="6283285"/>
              <a:ext cx="0" cy="1657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93A7900-3233-457D-3C9A-0646AAF18AE3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11396512" y="6898164"/>
              <a:ext cx="0" cy="1657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E93647D-F07D-1CC8-4B4A-9D3C8F48BD42}"/>
              </a:ext>
            </a:extLst>
          </p:cNvPr>
          <p:cNvGrpSpPr/>
          <p:nvPr/>
        </p:nvGrpSpPr>
        <p:grpSpPr>
          <a:xfrm>
            <a:off x="11671629" y="14722779"/>
            <a:ext cx="994022" cy="939383"/>
            <a:chOff x="12316478" y="6324837"/>
            <a:chExt cx="700998" cy="662466"/>
          </a:xfrm>
        </p:grpSpPr>
        <p:sp>
          <p:nvSpPr>
            <p:cNvPr id="18" name="Snip Single Corner Rectangle 17">
              <a:extLst>
                <a:ext uri="{FF2B5EF4-FFF2-40B4-BE49-F238E27FC236}">
                  <a16:creationId xmlns:a16="http://schemas.microsoft.com/office/drawing/2014/main" id="{FC2BB1B5-6CBE-FEC7-CD84-70F3CCF94B11}"/>
                </a:ext>
              </a:extLst>
            </p:cNvPr>
            <p:cNvSpPr/>
            <p:nvPr/>
          </p:nvSpPr>
          <p:spPr>
            <a:xfrm>
              <a:off x="12411742" y="6324837"/>
              <a:ext cx="462116" cy="662466"/>
            </a:xfrm>
            <a:prstGeom prst="snip1Rect">
              <a:avLst/>
            </a:prstGeom>
            <a:noFill/>
            <a:ln w="2857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endParaRPr lang="en-US" sz="1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7A59533-EDFA-B809-E891-11A705C55CFA}"/>
                </a:ext>
              </a:extLst>
            </p:cNvPr>
            <p:cNvCxnSpPr>
              <a:cxnSpLocks/>
            </p:cNvCxnSpPr>
            <p:nvPr/>
          </p:nvCxnSpPr>
          <p:spPr>
            <a:xfrm>
              <a:off x="12504420" y="6436076"/>
              <a:ext cx="216908" cy="0"/>
            </a:xfrm>
            <a:prstGeom prst="line">
              <a:avLst/>
            </a:prstGeom>
            <a:ln w="285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78FD943-BA4E-23DB-6337-575A73C43333}"/>
                </a:ext>
              </a:extLst>
            </p:cNvPr>
            <p:cNvCxnSpPr>
              <a:cxnSpLocks/>
            </p:cNvCxnSpPr>
            <p:nvPr/>
          </p:nvCxnSpPr>
          <p:spPr>
            <a:xfrm>
              <a:off x="12504420" y="6497036"/>
              <a:ext cx="266700" cy="0"/>
            </a:xfrm>
            <a:prstGeom prst="line">
              <a:avLst/>
            </a:prstGeom>
            <a:ln w="285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861AA06-9852-2891-E400-FB01A5FA5FAD}"/>
                </a:ext>
              </a:extLst>
            </p:cNvPr>
            <p:cNvCxnSpPr>
              <a:cxnSpLocks/>
            </p:cNvCxnSpPr>
            <p:nvPr/>
          </p:nvCxnSpPr>
          <p:spPr>
            <a:xfrm>
              <a:off x="12504420" y="6557996"/>
              <a:ext cx="266700" cy="0"/>
            </a:xfrm>
            <a:prstGeom prst="line">
              <a:avLst/>
            </a:prstGeom>
            <a:ln w="285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CD54F5A-28C0-273F-2EAA-EBEA7C96FB6F}"/>
                </a:ext>
              </a:extLst>
            </p:cNvPr>
            <p:cNvSpPr/>
            <p:nvPr/>
          </p:nvSpPr>
          <p:spPr>
            <a:xfrm>
              <a:off x="12316478" y="6618956"/>
              <a:ext cx="700998" cy="282465"/>
            </a:xfrm>
            <a:prstGeom prst="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ct val="70000"/>
                </a:lnSpc>
              </a:pP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MCP server</a:t>
              </a:r>
            </a:p>
            <a:p>
              <a:pPr algn="ctr">
                <a:lnSpc>
                  <a:spcPct val="70000"/>
                </a:lnSpc>
              </a:pP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(.R file)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A11777A-3B21-E330-91B7-18DB9EE06E5D}"/>
              </a:ext>
            </a:extLst>
          </p:cNvPr>
          <p:cNvGrpSpPr/>
          <p:nvPr/>
        </p:nvGrpSpPr>
        <p:grpSpPr>
          <a:xfrm>
            <a:off x="7966611" y="15339859"/>
            <a:ext cx="1492508" cy="1391034"/>
            <a:chOff x="9127669" y="6418577"/>
            <a:chExt cx="1492508" cy="1391034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6F6C904-35D5-B8F8-3E15-A86FB2398FC4}"/>
                </a:ext>
              </a:extLst>
            </p:cNvPr>
            <p:cNvGrpSpPr/>
            <p:nvPr/>
          </p:nvGrpSpPr>
          <p:grpSpPr>
            <a:xfrm>
              <a:off x="9127669" y="6860443"/>
              <a:ext cx="1492508" cy="949168"/>
              <a:chOff x="10206322" y="5380072"/>
              <a:chExt cx="1817611" cy="949168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CD861F5-F308-4E45-8DAF-48173C8FA8B3}"/>
                  </a:ext>
                </a:extLst>
              </p:cNvPr>
              <p:cNvSpPr txBox="1"/>
              <p:nvPr/>
            </p:nvSpPr>
            <p:spPr>
              <a:xfrm>
                <a:off x="10206322" y="5959908"/>
                <a:ext cx="181761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Deconvolution.yaml</a:t>
                </a:r>
                <a:endParaRPr lang="en-US" sz="9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900" dirty="0">
                    <a:latin typeface="Arial" panose="020B0604020202020204" pitchFamily="34" charset="0"/>
                    <a:cs typeface="Arial" panose="020B0604020202020204" pitchFamily="34" charset="0"/>
                  </a:rPr>
                  <a:t>Spatial </a:t>
                </a:r>
                <a:r>
                  <a:rPr lang="en-US" sz="9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clustering.yaml</a:t>
                </a:r>
                <a:endParaRPr lang="en-US" sz="9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A96CF967-9D46-4D49-EB0B-8CE5AA32B50C}"/>
                  </a:ext>
                </a:extLst>
              </p:cNvPr>
              <p:cNvGrpSpPr/>
              <p:nvPr/>
            </p:nvGrpSpPr>
            <p:grpSpPr>
              <a:xfrm>
                <a:off x="10788805" y="5380072"/>
                <a:ext cx="652645" cy="599768"/>
                <a:chOff x="12316478" y="6324837"/>
                <a:chExt cx="652645" cy="599768"/>
              </a:xfrm>
            </p:grpSpPr>
            <p:sp>
              <p:nvSpPr>
                <p:cNvPr id="28" name="Snip Single Corner Rectangle 27">
                  <a:extLst>
                    <a:ext uri="{FF2B5EF4-FFF2-40B4-BE49-F238E27FC236}">
                      <a16:creationId xmlns:a16="http://schemas.microsoft.com/office/drawing/2014/main" id="{1D568919-235D-FA47-5A82-40931F69660F}"/>
                    </a:ext>
                  </a:extLst>
                </p:cNvPr>
                <p:cNvSpPr/>
                <p:nvPr/>
              </p:nvSpPr>
              <p:spPr>
                <a:xfrm>
                  <a:off x="12411742" y="6324837"/>
                  <a:ext cx="462116" cy="599768"/>
                </a:xfrm>
                <a:prstGeom prst="snip1Rect">
                  <a:avLst/>
                </a:prstGeom>
                <a:noFill/>
                <a:ln w="28575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en-US" sz="10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5EF0B417-1817-2A0E-0430-C765C7F3C9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504420" y="6436076"/>
                  <a:ext cx="216908" cy="0"/>
                </a:xfrm>
                <a:prstGeom prst="line">
                  <a:avLst/>
                </a:prstGeom>
                <a:ln w="28575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C5B4C9B9-D51D-5315-91D1-A9F846729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504420" y="6497036"/>
                  <a:ext cx="266700" cy="0"/>
                </a:xfrm>
                <a:prstGeom prst="line">
                  <a:avLst/>
                </a:prstGeom>
                <a:ln w="28575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186B26CE-260A-0FF1-7A3B-43EFABD047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504420" y="6557996"/>
                  <a:ext cx="266700" cy="0"/>
                </a:xfrm>
                <a:prstGeom prst="line">
                  <a:avLst/>
                </a:prstGeom>
                <a:ln w="28575">
                  <a:solidFill>
                    <a:schemeClr val="bg1">
                      <a:lumMod val="6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19A53589-C650-4A4B-4401-F89662951510}"/>
                    </a:ext>
                  </a:extLst>
                </p:cNvPr>
                <p:cNvSpPr/>
                <p:nvPr/>
              </p:nvSpPr>
              <p:spPr>
                <a:xfrm>
                  <a:off x="12316478" y="6618957"/>
                  <a:ext cx="652645" cy="193672"/>
                </a:xfrm>
                <a:prstGeom prst="rect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sz="10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YAML</a:t>
                  </a:r>
                </a:p>
              </p:txBody>
            </p:sp>
          </p:grp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98E6484-00C5-57A9-575B-B9B4DC62FD43}"/>
                </a:ext>
              </a:extLst>
            </p:cNvPr>
            <p:cNvSpPr txBox="1"/>
            <p:nvPr/>
          </p:nvSpPr>
          <p:spPr>
            <a:xfrm>
              <a:off x="9377591" y="6418577"/>
              <a:ext cx="99266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Workflow template</a:t>
              </a:r>
            </a:p>
          </p:txBody>
        </p:sp>
      </p:grpSp>
      <p:sp>
        <p:nvSpPr>
          <p:cNvPr id="33" name="Cross 32">
            <a:extLst>
              <a:ext uri="{FF2B5EF4-FFF2-40B4-BE49-F238E27FC236}">
                <a16:creationId xmlns:a16="http://schemas.microsoft.com/office/drawing/2014/main" id="{3F0D3660-6CB1-368B-EB1B-9E53B0BCA338}"/>
              </a:ext>
            </a:extLst>
          </p:cNvPr>
          <p:cNvSpPr/>
          <p:nvPr/>
        </p:nvSpPr>
        <p:spPr>
          <a:xfrm>
            <a:off x="9114425" y="15774356"/>
            <a:ext cx="330492" cy="292867"/>
          </a:xfrm>
          <a:prstGeom prst="plus">
            <a:avLst>
              <a:gd name="adj" fmla="val 4185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A989BF7-1CBF-8E1C-66AF-122504F33428}"/>
              </a:ext>
            </a:extLst>
          </p:cNvPr>
          <p:cNvGrpSpPr/>
          <p:nvPr/>
        </p:nvGrpSpPr>
        <p:grpSpPr>
          <a:xfrm>
            <a:off x="8045509" y="13771605"/>
            <a:ext cx="992664" cy="1350612"/>
            <a:chOff x="9274234" y="4527231"/>
            <a:chExt cx="992664" cy="1350612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AEBD150A-A71E-9605-7ABE-E9B2C77C74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342329" y="4971555"/>
              <a:ext cx="856474" cy="662466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23F22E1-1B61-04C8-FA1D-B1DB5911D2ED}"/>
                </a:ext>
              </a:extLst>
            </p:cNvPr>
            <p:cNvSpPr txBox="1"/>
            <p:nvPr/>
          </p:nvSpPr>
          <p:spPr>
            <a:xfrm>
              <a:off x="9274234" y="4527231"/>
              <a:ext cx="992664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ST analysis tools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D2225B0-5D41-27CF-9DE8-5459F6DA70B8}"/>
                </a:ext>
              </a:extLst>
            </p:cNvPr>
            <p:cNvSpPr txBox="1"/>
            <p:nvPr/>
          </p:nvSpPr>
          <p:spPr>
            <a:xfrm>
              <a:off x="9274234" y="5647011"/>
              <a:ext cx="9926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>
                  <a:latin typeface="Arial" panose="020B0604020202020204" pitchFamily="34" charset="0"/>
                  <a:cs typeface="Arial" panose="020B0604020202020204" pitchFamily="34" charset="0"/>
                </a:rPr>
                <a:t>R functions</a:t>
              </a:r>
            </a:p>
          </p:txBody>
        </p:sp>
      </p:grpSp>
      <p:sp>
        <p:nvSpPr>
          <p:cNvPr id="38" name="Right Arrow 37">
            <a:extLst>
              <a:ext uri="{FF2B5EF4-FFF2-40B4-BE49-F238E27FC236}">
                <a16:creationId xmlns:a16="http://schemas.microsoft.com/office/drawing/2014/main" id="{73ED0896-BC93-EF56-EF5C-4A94B3477EC1}"/>
              </a:ext>
            </a:extLst>
          </p:cNvPr>
          <p:cNvSpPr/>
          <p:nvPr/>
        </p:nvSpPr>
        <p:spPr>
          <a:xfrm>
            <a:off x="9117091" y="14352347"/>
            <a:ext cx="342028" cy="367841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ight Arrow 38">
            <a:extLst>
              <a:ext uri="{FF2B5EF4-FFF2-40B4-BE49-F238E27FC236}">
                <a16:creationId xmlns:a16="http://schemas.microsoft.com/office/drawing/2014/main" id="{2D911560-751E-A530-6E06-41AD268B5E86}"/>
              </a:ext>
            </a:extLst>
          </p:cNvPr>
          <p:cNvSpPr/>
          <p:nvPr/>
        </p:nvSpPr>
        <p:spPr>
          <a:xfrm>
            <a:off x="11158577" y="15044413"/>
            <a:ext cx="342028" cy="367841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AC26B45-6FE1-CA86-EF28-ED7BA375AED4}"/>
              </a:ext>
            </a:extLst>
          </p:cNvPr>
          <p:cNvSpPr txBox="1"/>
          <p:nvPr/>
        </p:nvSpPr>
        <p:spPr>
          <a:xfrm>
            <a:off x="8963799" y="6875031"/>
            <a:ext cx="1321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Multi-agent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5386511-E3C2-A5CF-583D-032ACE0CF517}"/>
              </a:ext>
            </a:extLst>
          </p:cNvPr>
          <p:cNvSpPr txBox="1"/>
          <p:nvPr/>
        </p:nvSpPr>
        <p:spPr>
          <a:xfrm>
            <a:off x="9096742" y="5950362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8849897-E7EC-7B11-9910-EA2305B52EBA}"/>
              </a:ext>
            </a:extLst>
          </p:cNvPr>
          <p:cNvSpPr txBox="1"/>
          <p:nvPr/>
        </p:nvSpPr>
        <p:spPr>
          <a:xfrm>
            <a:off x="12857227" y="10373028"/>
            <a:ext cx="694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skills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7DE89A2-AD66-1A46-0653-6C3FF2F7365F}"/>
              </a:ext>
            </a:extLst>
          </p:cNvPr>
          <p:cNvSpPr txBox="1"/>
          <p:nvPr/>
        </p:nvSpPr>
        <p:spPr>
          <a:xfrm>
            <a:off x="12857227" y="11047585"/>
            <a:ext cx="27863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Progressive disclosure</a:t>
            </a:r>
          </a:p>
          <a:p>
            <a:r>
              <a:rPr lang="en-US" dirty="0"/>
              <a:t>Think – search- </a:t>
            </a:r>
            <a:r>
              <a:rPr lang="en-US" dirty="0" err="1"/>
              <a:t>refelection</a:t>
            </a:r>
            <a:endParaRPr lang="en-US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4BFF205E-B417-C60E-B61E-AE55FA2A68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8173" y="757124"/>
            <a:ext cx="8821130" cy="7478179"/>
          </a:xfrm>
          <a:prstGeom prst="rect">
            <a:avLst/>
          </a:prstGeom>
        </p:spPr>
      </p:pic>
      <p:pic>
        <p:nvPicPr>
          <p:cNvPr id="1106" name="Picture 1105">
            <a:extLst>
              <a:ext uri="{FF2B5EF4-FFF2-40B4-BE49-F238E27FC236}">
                <a16:creationId xmlns:a16="http://schemas.microsoft.com/office/drawing/2014/main" id="{FDD74EC9-A93C-7DEF-6152-CCAD08E50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5065" y="623521"/>
            <a:ext cx="4266561" cy="9259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687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F7775-51AA-ABAC-7548-F391FC564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5">
            <a:extLst>
              <a:ext uri="{FF2B5EF4-FFF2-40B4-BE49-F238E27FC236}">
                <a16:creationId xmlns:a16="http://schemas.microsoft.com/office/drawing/2014/main" id="{978AE496-2939-16CA-27CD-5B9BFCB9B02E}"/>
              </a:ext>
            </a:extLst>
          </p:cNvPr>
          <p:cNvSpPr/>
          <p:nvPr/>
        </p:nvSpPr>
        <p:spPr>
          <a:xfrm>
            <a:off x="5514618" y="9061847"/>
            <a:ext cx="8333729" cy="2185416"/>
          </a:xfrm>
          <a:prstGeom prst="roundRect">
            <a:avLst>
              <a:gd name="adj" fmla="val 2778"/>
            </a:avLst>
          </a:prstGeom>
          <a:solidFill>
            <a:srgbClr val="F0F9F6"/>
          </a:solidFill>
          <a:ln/>
        </p:spPr>
        <p:txBody>
          <a:bodyPr wrap="square" rtlCol="0" anchor="ctr"/>
          <a:lstStyle/>
          <a:p>
            <a:pPr defTabSz="615940"/>
            <a:endParaRPr lang="en-US" sz="28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969BE928-A91D-F1AE-081E-F98EC73A2D1B}"/>
              </a:ext>
            </a:extLst>
          </p:cNvPr>
          <p:cNvSpPr/>
          <p:nvPr/>
        </p:nvSpPr>
        <p:spPr>
          <a:xfrm>
            <a:off x="5514618" y="6719646"/>
            <a:ext cx="8333729" cy="2182666"/>
          </a:xfrm>
          <a:prstGeom prst="roundRect">
            <a:avLst>
              <a:gd name="adj" fmla="val 2778"/>
            </a:avLst>
          </a:prstGeom>
          <a:solidFill>
            <a:srgbClr val="F0F7FB"/>
          </a:solidFill>
          <a:ln/>
        </p:spPr>
        <p:txBody>
          <a:bodyPr wrap="square" rtlCol="0" anchor="ctr"/>
          <a:lstStyle/>
          <a:p>
            <a:pPr defTabSz="615940"/>
            <a:endParaRPr lang="en-US" sz="28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9">
            <a:extLst>
              <a:ext uri="{FF2B5EF4-FFF2-40B4-BE49-F238E27FC236}">
                <a16:creationId xmlns:a16="http://schemas.microsoft.com/office/drawing/2014/main" id="{0A9755ED-4FDD-CAA7-36EF-0D0B01D8F517}"/>
              </a:ext>
            </a:extLst>
          </p:cNvPr>
          <p:cNvSpPr/>
          <p:nvPr/>
        </p:nvSpPr>
        <p:spPr>
          <a:xfrm>
            <a:off x="14354683" y="6719647"/>
            <a:ext cx="2772180" cy="2199977"/>
          </a:xfrm>
          <a:prstGeom prst="roundRect">
            <a:avLst>
              <a:gd name="adj" fmla="val 2778"/>
            </a:avLst>
          </a:prstGeom>
          <a:solidFill>
            <a:srgbClr val="FFF5F0"/>
          </a:solidFill>
          <a:ln/>
        </p:spPr>
        <p:txBody>
          <a:bodyPr wrap="square" rtlCol="0" anchor="ctr"/>
          <a:lstStyle/>
          <a:p>
            <a:pPr defTabSz="615940"/>
            <a:endParaRPr lang="en-US" sz="28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D6361535-F1F5-3F51-6CE1-3350D65713D6}"/>
              </a:ext>
            </a:extLst>
          </p:cNvPr>
          <p:cNvSpPr/>
          <p:nvPr/>
        </p:nvSpPr>
        <p:spPr>
          <a:xfrm>
            <a:off x="14971047" y="7503461"/>
            <a:ext cx="1539455" cy="55227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solidFill>
                  <a:srgbClr val="1D1D1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10. Visualization of Key LR Pairs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D9690A0F-ECDF-F88B-07C5-B1103F81225B}"/>
              </a:ext>
            </a:extLst>
          </p:cNvPr>
          <p:cNvSpPr/>
          <p:nvPr/>
        </p:nvSpPr>
        <p:spPr>
          <a:xfrm>
            <a:off x="14971047" y="8249225"/>
            <a:ext cx="1539455" cy="55227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solidFill>
                  <a:srgbClr val="1D1D1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11. Quantitative Analysis of Ligand-Receptor Interactions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20B5A7F-5C69-FE2D-2389-98967A6BB061}"/>
              </a:ext>
            </a:extLst>
          </p:cNvPr>
          <p:cNvGrpSpPr/>
          <p:nvPr/>
        </p:nvGrpSpPr>
        <p:grpSpPr>
          <a:xfrm>
            <a:off x="5737856" y="7294571"/>
            <a:ext cx="1540519" cy="854483"/>
            <a:chOff x="3044238" y="2746633"/>
            <a:chExt cx="2040521" cy="1131820"/>
          </a:xfrm>
        </p:grpSpPr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F0B4321E-202D-D3D3-9CBD-AE9205E96DC8}"/>
                </a:ext>
              </a:extLst>
            </p:cNvPr>
            <p:cNvSpPr/>
            <p:nvPr/>
          </p:nvSpPr>
          <p:spPr>
            <a:xfrm>
              <a:off x="3044238" y="2746633"/>
              <a:ext cx="2040521" cy="73152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1.Spatial Clustering Analysis</a:t>
              </a:r>
            </a:p>
          </p:txBody>
        </p:sp>
        <p:sp>
          <p:nvSpPr>
            <p:cNvPr id="1089" name="Rounded Rectangle 1088">
              <a:extLst>
                <a:ext uri="{FF2B5EF4-FFF2-40B4-BE49-F238E27FC236}">
                  <a16:creationId xmlns:a16="http://schemas.microsoft.com/office/drawing/2014/main" id="{8C8FF5E9-D936-7930-F07B-84730D7E0BCC}"/>
                </a:ext>
              </a:extLst>
            </p:cNvPr>
            <p:cNvSpPr/>
            <p:nvPr/>
          </p:nvSpPr>
          <p:spPr>
            <a:xfrm>
              <a:off x="3044238" y="3484744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sp>
        <p:nvSpPr>
          <p:cNvPr id="1096" name="Rounded Rectangle 1095">
            <a:extLst>
              <a:ext uri="{FF2B5EF4-FFF2-40B4-BE49-F238E27FC236}">
                <a16:creationId xmlns:a16="http://schemas.microsoft.com/office/drawing/2014/main" id="{032FAF62-56AE-F017-3861-516648B6EF7B}"/>
              </a:ext>
            </a:extLst>
          </p:cNvPr>
          <p:cNvSpPr/>
          <p:nvPr/>
        </p:nvSpPr>
        <p:spPr>
          <a:xfrm>
            <a:off x="7354331" y="8423737"/>
            <a:ext cx="1540519" cy="38201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Select spatial cluster</a:t>
            </a:r>
          </a:p>
        </p:txBody>
      </p:sp>
      <p:sp>
        <p:nvSpPr>
          <p:cNvPr id="1109" name="Rounded Rectangle 1108">
            <a:extLst>
              <a:ext uri="{FF2B5EF4-FFF2-40B4-BE49-F238E27FC236}">
                <a16:creationId xmlns:a16="http://schemas.microsoft.com/office/drawing/2014/main" id="{A8985CF6-8FA1-6950-8AB1-FC8F1268B083}"/>
              </a:ext>
            </a:extLst>
          </p:cNvPr>
          <p:cNvSpPr/>
          <p:nvPr/>
        </p:nvSpPr>
        <p:spPr>
          <a:xfrm>
            <a:off x="7948398" y="10650379"/>
            <a:ext cx="1540519" cy="38201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Select Factor</a:t>
            </a:r>
          </a:p>
        </p:txBody>
      </p:sp>
      <p:sp>
        <p:nvSpPr>
          <p:cNvPr id="1110" name="Rounded Rectangle 1109">
            <a:extLst>
              <a:ext uri="{FF2B5EF4-FFF2-40B4-BE49-F238E27FC236}">
                <a16:creationId xmlns:a16="http://schemas.microsoft.com/office/drawing/2014/main" id="{BB0C0AC8-2D22-7929-AADB-8C079600C48E}"/>
              </a:ext>
            </a:extLst>
          </p:cNvPr>
          <p:cNvSpPr/>
          <p:nvPr/>
        </p:nvSpPr>
        <p:spPr>
          <a:xfrm>
            <a:off x="12058172" y="10639183"/>
            <a:ext cx="1540519" cy="38201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Select LR pair</a:t>
            </a:r>
          </a:p>
        </p:txBody>
      </p:sp>
      <p:grpSp>
        <p:nvGrpSpPr>
          <p:cNvPr id="1093" name="Group 1092">
            <a:extLst>
              <a:ext uri="{FF2B5EF4-FFF2-40B4-BE49-F238E27FC236}">
                <a16:creationId xmlns:a16="http://schemas.microsoft.com/office/drawing/2014/main" id="{A7E3171C-7FAB-C256-EDF5-FC27CFC3AEA0}"/>
              </a:ext>
            </a:extLst>
          </p:cNvPr>
          <p:cNvGrpSpPr/>
          <p:nvPr/>
        </p:nvGrpSpPr>
        <p:grpSpPr>
          <a:xfrm>
            <a:off x="14334873" y="9061848"/>
            <a:ext cx="2860638" cy="2185417"/>
            <a:chOff x="15060236" y="5484896"/>
            <a:chExt cx="2860638" cy="2185417"/>
          </a:xfrm>
        </p:grpSpPr>
        <p:grpSp>
          <p:nvGrpSpPr>
            <p:cNvPr id="1149" name="Group 1148">
              <a:extLst>
                <a:ext uri="{FF2B5EF4-FFF2-40B4-BE49-F238E27FC236}">
                  <a16:creationId xmlns:a16="http://schemas.microsoft.com/office/drawing/2014/main" id="{CA50BA74-2A8A-1F66-9623-3287FBA65C04}"/>
                </a:ext>
              </a:extLst>
            </p:cNvPr>
            <p:cNvGrpSpPr/>
            <p:nvPr/>
          </p:nvGrpSpPr>
          <p:grpSpPr>
            <a:xfrm>
              <a:off x="15060236" y="5484896"/>
              <a:ext cx="2772180" cy="2185417"/>
              <a:chOff x="7025650" y="1514638"/>
              <a:chExt cx="3299712" cy="3860850"/>
            </a:xfrm>
          </p:grpSpPr>
          <p:sp>
            <p:nvSpPr>
              <p:cNvPr id="1150" name="Text 9">
                <a:extLst>
                  <a:ext uri="{FF2B5EF4-FFF2-40B4-BE49-F238E27FC236}">
                    <a16:creationId xmlns:a16="http://schemas.microsoft.com/office/drawing/2014/main" id="{C3D506E0-06A6-A910-1821-81BF909B1800}"/>
                  </a:ext>
                </a:extLst>
              </p:cNvPr>
              <p:cNvSpPr/>
              <p:nvPr/>
            </p:nvSpPr>
            <p:spPr>
              <a:xfrm>
                <a:off x="7025650" y="1514638"/>
                <a:ext cx="3299712" cy="3860850"/>
              </a:xfrm>
              <a:prstGeom prst="roundRect">
                <a:avLst>
                  <a:gd name="adj" fmla="val 2778"/>
                </a:avLst>
              </a:prstGeom>
              <a:solidFill>
                <a:schemeClr val="bg1">
                  <a:lumMod val="85000"/>
                  <a:alpha val="70374"/>
                </a:schemeClr>
              </a:solidFill>
              <a:ln/>
            </p:spPr>
            <p:txBody>
              <a:bodyPr wrap="square" rtlCol="0" anchor="ctr"/>
              <a:lstStyle/>
              <a:p>
                <a:endParaRPr lang="en-US" sz="2800" dirty="0"/>
              </a:p>
            </p:txBody>
          </p:sp>
          <p:sp>
            <p:nvSpPr>
              <p:cNvPr id="1151" name="Text 10">
                <a:extLst>
                  <a:ext uri="{FF2B5EF4-FFF2-40B4-BE49-F238E27FC236}">
                    <a16:creationId xmlns:a16="http://schemas.microsoft.com/office/drawing/2014/main" id="{97BF985D-21D6-4D62-76F7-68C6B3B57B7C}"/>
                  </a:ext>
                </a:extLst>
              </p:cNvPr>
              <p:cNvSpPr/>
              <p:nvPr/>
            </p:nvSpPr>
            <p:spPr>
              <a:xfrm>
                <a:off x="7318568" y="1925933"/>
                <a:ext cx="1477363" cy="5191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>
                  <a:lnSpc>
                    <a:spcPts val="1333"/>
                  </a:lnSpc>
                  <a:spcAft>
                    <a:spcPts val="900"/>
                  </a:spcAft>
                </a:pPr>
                <a:r>
                  <a:rPr lang="en-US" sz="1300" b="1" dirty="0"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Summary</a:t>
                </a:r>
                <a:endParaRPr lang="en-US" sz="1300" dirty="0"/>
              </a:p>
            </p:txBody>
          </p:sp>
        </p:grpSp>
        <p:sp>
          <p:nvSpPr>
            <p:cNvPr id="1152" name="Text 4">
              <a:extLst>
                <a:ext uri="{FF2B5EF4-FFF2-40B4-BE49-F238E27FC236}">
                  <a16:creationId xmlns:a16="http://schemas.microsoft.com/office/drawing/2014/main" id="{3824B9B9-830B-F8C8-0BBB-807A329E1942}"/>
                </a:ext>
              </a:extLst>
            </p:cNvPr>
            <p:cNvSpPr/>
            <p:nvPr/>
          </p:nvSpPr>
          <p:spPr>
            <a:xfrm>
              <a:off x="15109074" y="6076697"/>
              <a:ext cx="2811800" cy="137874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23825" indent="-123825">
                <a:lnSpc>
                  <a:spcPts val="1320"/>
                </a:lnSpc>
                <a:buFont typeface="Arial" panose="020B0604020202020204" pitchFamily="34" charset="0"/>
                <a:buChar char="•"/>
              </a:pPr>
              <a:r>
                <a:rPr lang="en-US" sz="1100" dirty="0">
                  <a:solidFill>
                    <a:srgbClr val="1D1D1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Integrated Findings Across All Analyses</a:t>
              </a:r>
            </a:p>
            <a:p>
              <a:pPr marL="123825" indent="-123825">
                <a:lnSpc>
                  <a:spcPts val="1320"/>
                </a:lnSpc>
                <a:buFont typeface="Arial" panose="020B0604020202020204" pitchFamily="34" charset="0"/>
                <a:buChar char="•"/>
              </a:pPr>
              <a:endParaRPr lang="en-US" sz="11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endParaRPr>
            </a:p>
            <a:p>
              <a:pPr marL="123825" indent="-123825">
                <a:lnSpc>
                  <a:spcPts val="1320"/>
                </a:lnSpc>
                <a:buFont typeface="Arial" panose="020B0604020202020204" pitchFamily="34" charset="0"/>
                <a:buChar char="•"/>
              </a:pPr>
              <a:r>
                <a:rPr lang="en-US" sz="1100" dirty="0">
                  <a:solidFill>
                    <a:srgbClr val="1D1D1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Clinical and Therapeutic Implications</a:t>
              </a:r>
            </a:p>
            <a:p>
              <a:pPr marL="123825" indent="-123825">
                <a:lnSpc>
                  <a:spcPts val="1320"/>
                </a:lnSpc>
                <a:buFont typeface="Arial" panose="020B0604020202020204" pitchFamily="34" charset="0"/>
                <a:buChar char="•"/>
              </a:pPr>
              <a:endParaRPr lang="en-US" sz="11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endParaRPr>
            </a:p>
            <a:p>
              <a:pPr marL="123825" indent="-123825">
                <a:lnSpc>
                  <a:spcPts val="1320"/>
                </a:lnSpc>
                <a:buFont typeface="Arial" panose="020B0604020202020204" pitchFamily="34" charset="0"/>
                <a:buChar char="•"/>
              </a:pPr>
              <a:r>
                <a:rPr lang="en-US" sz="1100" dirty="0">
                  <a:solidFill>
                    <a:srgbClr val="1D1D1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Methodological Innovations and Strengths</a:t>
              </a:r>
            </a:p>
            <a:p>
              <a:pPr marL="123825" indent="-123825">
                <a:lnSpc>
                  <a:spcPts val="1320"/>
                </a:lnSpc>
              </a:pPr>
              <a:endParaRPr lang="en-US" sz="1100" dirty="0">
                <a:solidFill>
                  <a:srgbClr val="1D1D1D"/>
                </a:solidFill>
                <a:latin typeface="Arial" pitchFamily="34" charset="0"/>
                <a:ea typeface="Arial" pitchFamily="34" charset="-122"/>
                <a:cs typeface="Arial" pitchFamily="34" charset="-120"/>
              </a:endParaRPr>
            </a:p>
            <a:p>
              <a:pPr marL="123825" indent="-123825">
                <a:lnSpc>
                  <a:spcPts val="1320"/>
                </a:lnSpc>
                <a:buFont typeface="Arial" panose="020B0604020202020204" pitchFamily="34" charset="0"/>
                <a:buChar char="•"/>
              </a:pPr>
              <a:r>
                <a:rPr lang="en-US" sz="1100" dirty="0">
                  <a:solidFill>
                    <a:srgbClr val="1D1D1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Conclusions</a:t>
              </a:r>
              <a:endParaRPr lang="en-US" sz="11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A03FFB5-FE2C-5363-6A7F-6CC3A3934460}"/>
              </a:ext>
            </a:extLst>
          </p:cNvPr>
          <p:cNvGrpSpPr/>
          <p:nvPr/>
        </p:nvGrpSpPr>
        <p:grpSpPr>
          <a:xfrm>
            <a:off x="7354331" y="7294571"/>
            <a:ext cx="1540519" cy="854483"/>
            <a:chOff x="5399808" y="2746633"/>
            <a:chExt cx="2040521" cy="1131820"/>
          </a:xfrm>
        </p:grpSpPr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64D38CBA-E74A-5382-38A9-30F01C507EB0}"/>
                </a:ext>
              </a:extLst>
            </p:cNvPr>
            <p:cNvSpPr/>
            <p:nvPr/>
          </p:nvSpPr>
          <p:spPr>
            <a:xfrm>
              <a:off x="5399808" y="2746633"/>
              <a:ext cx="2040521" cy="73152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2.Cell Type Composition Analysis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F57FC686-29F0-306C-1529-21FB154909B9}"/>
                </a:ext>
              </a:extLst>
            </p:cNvPr>
            <p:cNvSpPr/>
            <p:nvPr/>
          </p:nvSpPr>
          <p:spPr>
            <a:xfrm>
              <a:off x="5399808" y="3484744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5D14DD8-EA06-BB49-0436-67B9178CBA37}"/>
              </a:ext>
            </a:extLst>
          </p:cNvPr>
          <p:cNvGrpSpPr/>
          <p:nvPr/>
        </p:nvGrpSpPr>
        <p:grpSpPr>
          <a:xfrm>
            <a:off x="8977874" y="7294571"/>
            <a:ext cx="1540519" cy="854483"/>
            <a:chOff x="7774230" y="2746633"/>
            <a:chExt cx="2040521" cy="1131820"/>
          </a:xfrm>
        </p:grpSpPr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47B13E23-05AC-C1EA-5AE4-CE4053571F74}"/>
                </a:ext>
              </a:extLst>
            </p:cNvPr>
            <p:cNvSpPr/>
            <p:nvPr/>
          </p:nvSpPr>
          <p:spPr>
            <a:xfrm>
              <a:off x="7774230" y="2746633"/>
              <a:ext cx="2040521" cy="73152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3. Neighborhood Enrichment Analysis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04D7B69-AE55-FAEF-10DF-44BE5F1B10BB}"/>
                </a:ext>
              </a:extLst>
            </p:cNvPr>
            <p:cNvSpPr/>
            <p:nvPr/>
          </p:nvSpPr>
          <p:spPr>
            <a:xfrm>
              <a:off x="7774230" y="3484744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7B6C64A-4E37-CE53-FD3D-6157AFD31ECF}"/>
              </a:ext>
            </a:extLst>
          </p:cNvPr>
          <p:cNvGrpSpPr/>
          <p:nvPr/>
        </p:nvGrpSpPr>
        <p:grpSpPr>
          <a:xfrm>
            <a:off x="10597883" y="7294571"/>
            <a:ext cx="1540519" cy="854483"/>
            <a:chOff x="10149016" y="2746633"/>
            <a:chExt cx="2040521" cy="1131820"/>
          </a:xfrm>
        </p:grpSpPr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C1A38CC-29A5-FC5C-AF57-53C15A9B0EE4}"/>
                </a:ext>
              </a:extLst>
            </p:cNvPr>
            <p:cNvSpPr/>
            <p:nvPr/>
          </p:nvSpPr>
          <p:spPr>
            <a:xfrm>
              <a:off x="10149016" y="2746633"/>
              <a:ext cx="2040521" cy="73152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4. Spatial Pathway Enrichment Analysis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181C4FB2-E5F9-49AA-6F0E-ACDBC4F31449}"/>
                </a:ext>
              </a:extLst>
            </p:cNvPr>
            <p:cNvSpPr/>
            <p:nvPr/>
          </p:nvSpPr>
          <p:spPr>
            <a:xfrm>
              <a:off x="10149016" y="3484744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1755294-07ED-153C-6FF9-16FD10258A66}"/>
              </a:ext>
            </a:extLst>
          </p:cNvPr>
          <p:cNvGrpSpPr/>
          <p:nvPr/>
        </p:nvGrpSpPr>
        <p:grpSpPr>
          <a:xfrm>
            <a:off x="12217892" y="7294571"/>
            <a:ext cx="1540519" cy="854483"/>
            <a:chOff x="12523803" y="2746633"/>
            <a:chExt cx="2040521" cy="1131820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172ACD47-E0A6-6398-D8D4-8259639EF14C}"/>
                </a:ext>
              </a:extLst>
            </p:cNvPr>
            <p:cNvSpPr/>
            <p:nvPr/>
          </p:nvSpPr>
          <p:spPr>
            <a:xfrm>
              <a:off x="12523803" y="2746633"/>
              <a:ext cx="2040521" cy="731520"/>
            </a:xfrm>
            <a:prstGeom prst="round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5. Spatial Pathway-</a:t>
              </a:r>
              <a:r>
                <a:rPr lang="en-US" sz="1100" dirty="0" err="1">
                  <a:latin typeface="Arial" panose="020B0604020202020204" pitchFamily="34" charset="0"/>
                  <a:cs typeface="Arial" panose="020B0604020202020204" pitchFamily="34" charset="0"/>
                </a:rPr>
                <a:t>Celltype</a:t>
              </a:r>
              <a:r>
                <a:rPr lang="en-US" sz="1100" dirty="0">
                  <a:latin typeface="Arial" panose="020B0604020202020204" pitchFamily="34" charset="0"/>
                  <a:cs typeface="Arial" panose="020B0604020202020204" pitchFamily="34" charset="0"/>
                </a:rPr>
                <a:t> Relationship Analysis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D7666EE-1937-9F07-F64D-28B02494DCC9}"/>
                </a:ext>
              </a:extLst>
            </p:cNvPr>
            <p:cNvSpPr/>
            <p:nvPr/>
          </p:nvSpPr>
          <p:spPr>
            <a:xfrm>
              <a:off x="12523803" y="3484744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grpSp>
        <p:nvGrpSpPr>
          <p:cNvPr id="1095" name="Group 1094">
            <a:extLst>
              <a:ext uri="{FF2B5EF4-FFF2-40B4-BE49-F238E27FC236}">
                <a16:creationId xmlns:a16="http://schemas.microsoft.com/office/drawing/2014/main" id="{0CF1D346-FA3B-8CCA-828E-0004B019B9FE}"/>
              </a:ext>
            </a:extLst>
          </p:cNvPr>
          <p:cNvGrpSpPr/>
          <p:nvPr/>
        </p:nvGrpSpPr>
        <p:grpSpPr>
          <a:xfrm>
            <a:off x="5903489" y="9559480"/>
            <a:ext cx="1540519" cy="853635"/>
            <a:chOff x="3125226" y="5769523"/>
            <a:chExt cx="2040521" cy="1130697"/>
          </a:xfrm>
        </p:grpSpPr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562FFAA3-09F3-E7D6-0674-78675C2D8A96}"/>
                </a:ext>
              </a:extLst>
            </p:cNvPr>
            <p:cNvSpPr/>
            <p:nvPr/>
          </p:nvSpPr>
          <p:spPr>
            <a:xfrm>
              <a:off x="3126635" y="5769523"/>
              <a:ext cx="2039112" cy="73152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solidFill>
                    <a:srgbClr val="1D1D1D"/>
                  </a:solidFill>
                  <a:latin typeface="Arial" panose="020B0604020202020204" pitchFamily="34" charset="0"/>
                  <a:ea typeface="Arial" pitchFamily="34" charset="-122"/>
                  <a:cs typeface="Arial" panose="020B0604020202020204" pitchFamily="34" charset="0"/>
                </a:rPr>
                <a:t>6. LR Interaction Screening (Moran’s R)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702FB854-94E2-2682-6502-9C1951CF25A3}"/>
                </a:ext>
              </a:extLst>
            </p:cNvPr>
            <p:cNvSpPr/>
            <p:nvPr/>
          </p:nvSpPr>
          <p:spPr>
            <a:xfrm>
              <a:off x="3125226" y="6506511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grpSp>
        <p:nvGrpSpPr>
          <p:cNvPr id="1098" name="Group 1097">
            <a:extLst>
              <a:ext uri="{FF2B5EF4-FFF2-40B4-BE49-F238E27FC236}">
                <a16:creationId xmlns:a16="http://schemas.microsoft.com/office/drawing/2014/main" id="{F9A29245-7981-A300-97E1-2A54FB397BE8}"/>
              </a:ext>
            </a:extLst>
          </p:cNvPr>
          <p:cNvGrpSpPr/>
          <p:nvPr/>
        </p:nvGrpSpPr>
        <p:grpSpPr>
          <a:xfrm>
            <a:off x="7943675" y="9559480"/>
            <a:ext cx="1549965" cy="853635"/>
            <a:chOff x="6257872" y="5769523"/>
            <a:chExt cx="2053033" cy="1130697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EB76B920-41C0-BD19-16D9-AC003EEC5AAC}"/>
                </a:ext>
              </a:extLst>
            </p:cNvPr>
            <p:cNvSpPr/>
            <p:nvPr/>
          </p:nvSpPr>
          <p:spPr>
            <a:xfrm>
              <a:off x="6257872" y="5769523"/>
              <a:ext cx="2039112" cy="73152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solidFill>
                    <a:srgbClr val="1D1D1D"/>
                  </a:solidFill>
                  <a:latin typeface="Arial" panose="020B0604020202020204" pitchFamily="34" charset="0"/>
                  <a:ea typeface="Arial" pitchFamily="34" charset="-122"/>
                  <a:cs typeface="Arial" panose="020B0604020202020204" pitchFamily="34" charset="0"/>
                </a:rPr>
                <a:t>7. Intercellular Communication Patterns (NMF Analysis)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5A447B4B-EF4F-38D2-C800-20C0F76B4FB4}"/>
                </a:ext>
              </a:extLst>
            </p:cNvPr>
            <p:cNvSpPr/>
            <p:nvPr/>
          </p:nvSpPr>
          <p:spPr>
            <a:xfrm>
              <a:off x="6270384" y="6506511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grpSp>
        <p:nvGrpSpPr>
          <p:cNvPr id="1099" name="Group 1098">
            <a:extLst>
              <a:ext uri="{FF2B5EF4-FFF2-40B4-BE49-F238E27FC236}">
                <a16:creationId xmlns:a16="http://schemas.microsoft.com/office/drawing/2014/main" id="{4DC529C8-540F-906F-8A5F-D210B0A75F51}"/>
              </a:ext>
            </a:extLst>
          </p:cNvPr>
          <p:cNvGrpSpPr/>
          <p:nvPr/>
        </p:nvGrpSpPr>
        <p:grpSpPr>
          <a:xfrm>
            <a:off x="10006485" y="9559480"/>
            <a:ext cx="1540519" cy="853635"/>
            <a:chOff x="9401619" y="5769523"/>
            <a:chExt cx="2040521" cy="1130697"/>
          </a:xfrm>
        </p:grpSpPr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C9461DBC-E707-C573-B107-1C0630B2D5DB}"/>
                </a:ext>
              </a:extLst>
            </p:cNvPr>
            <p:cNvSpPr/>
            <p:nvPr/>
          </p:nvSpPr>
          <p:spPr>
            <a:xfrm>
              <a:off x="9402326" y="5769523"/>
              <a:ext cx="2039112" cy="73152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solidFill>
                    <a:srgbClr val="1D1D1D"/>
                  </a:solidFill>
                  <a:latin typeface="Arial" panose="020B0604020202020204" pitchFamily="34" charset="0"/>
                  <a:ea typeface="Arial" pitchFamily="34" charset="-122"/>
                  <a:cs typeface="Arial" panose="020B0604020202020204" pitchFamily="34" charset="0"/>
                </a:rPr>
                <a:t>8. Pathway Enrichment of Intercellular Patterns</a:t>
              </a: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C789B64E-26E5-581C-5DB6-D4DC76A13830}"/>
                </a:ext>
              </a:extLst>
            </p:cNvPr>
            <p:cNvSpPr/>
            <p:nvPr/>
          </p:nvSpPr>
          <p:spPr>
            <a:xfrm>
              <a:off x="9401619" y="6506511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grpSp>
        <p:nvGrpSpPr>
          <p:cNvPr id="1103" name="Group 1102">
            <a:extLst>
              <a:ext uri="{FF2B5EF4-FFF2-40B4-BE49-F238E27FC236}">
                <a16:creationId xmlns:a16="http://schemas.microsoft.com/office/drawing/2014/main" id="{63446546-3A59-65D6-74BC-034815056A92}"/>
              </a:ext>
            </a:extLst>
          </p:cNvPr>
          <p:cNvGrpSpPr/>
          <p:nvPr/>
        </p:nvGrpSpPr>
        <p:grpSpPr>
          <a:xfrm>
            <a:off x="12053979" y="9559480"/>
            <a:ext cx="1548902" cy="853635"/>
            <a:chOff x="12520345" y="5769523"/>
            <a:chExt cx="2051625" cy="1130697"/>
          </a:xfrm>
        </p:grpSpPr>
        <p:sp>
          <p:nvSpPr>
            <p:cNvPr id="59" name="Rounded Rectangle 58">
              <a:extLst>
                <a:ext uri="{FF2B5EF4-FFF2-40B4-BE49-F238E27FC236}">
                  <a16:creationId xmlns:a16="http://schemas.microsoft.com/office/drawing/2014/main" id="{CA77D110-73A3-0804-3AF5-CBA69719EFE9}"/>
                </a:ext>
              </a:extLst>
            </p:cNvPr>
            <p:cNvSpPr/>
            <p:nvPr/>
          </p:nvSpPr>
          <p:spPr>
            <a:xfrm>
              <a:off x="12520345" y="5769523"/>
              <a:ext cx="2039112" cy="73152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100" dirty="0">
                  <a:solidFill>
                    <a:srgbClr val="1D1D1D"/>
                  </a:solidFill>
                  <a:latin typeface="Arial" panose="020B0604020202020204" pitchFamily="34" charset="0"/>
                  <a:ea typeface="Arial" pitchFamily="34" charset="-122"/>
                  <a:cs typeface="Arial" panose="020B0604020202020204" pitchFamily="34" charset="0"/>
                </a:rPr>
                <a:t>9. Cell Type-Specific</a:t>
              </a:r>
              <a:r>
                <a:rPr lang="ko-KR" altLang="en-US" sz="1100" dirty="0">
                  <a:solidFill>
                    <a:srgbClr val="1D1D1D"/>
                  </a:solidFill>
                  <a:latin typeface="Arial" panose="020B0604020202020204" pitchFamily="34" charset="0"/>
                  <a:ea typeface="Arial" pitchFamily="34" charset="-122"/>
                  <a:cs typeface="Arial" panose="020B0604020202020204" pitchFamily="34" charset="0"/>
                </a:rPr>
                <a:t> </a:t>
              </a:r>
              <a:r>
                <a:rPr lang="en-US" altLang="ko-KR" sz="1100" dirty="0">
                  <a:solidFill>
                    <a:srgbClr val="1D1D1D"/>
                  </a:solidFill>
                  <a:latin typeface="Arial" panose="020B0604020202020204" pitchFamily="34" charset="0"/>
                  <a:ea typeface="Arial" pitchFamily="34" charset="-122"/>
                  <a:cs typeface="Arial" panose="020B0604020202020204" pitchFamily="34" charset="0"/>
                </a:rPr>
                <a:t>SVGs analysis</a:t>
              </a:r>
              <a:endParaRPr lang="en-US" sz="1100" dirty="0">
                <a:solidFill>
                  <a:srgbClr val="1D1D1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endParaRP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0EAA0D8D-3BB4-02D1-DADB-68688838026B}"/>
                </a:ext>
              </a:extLst>
            </p:cNvPr>
            <p:cNvSpPr/>
            <p:nvPr/>
          </p:nvSpPr>
          <p:spPr>
            <a:xfrm>
              <a:off x="12531449" y="6506511"/>
              <a:ext cx="2040521" cy="393709"/>
            </a:xfrm>
            <a:prstGeom prst="roundRect">
              <a:avLst>
                <a:gd name="adj" fmla="val 26051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>
                  <a:latin typeface="Arial" panose="020B0604020202020204" pitchFamily="34" charset="0"/>
                  <a:cs typeface="Arial" panose="020B0604020202020204" pitchFamily="34" charset="0"/>
                </a:rPr>
                <a:t>Biological interpretation</a:t>
              </a: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0B8D4FB9-0807-A1C5-B47E-14CD0852A4D0}"/>
              </a:ext>
            </a:extLst>
          </p:cNvPr>
          <p:cNvSpPr txBox="1"/>
          <p:nvPr/>
        </p:nvSpPr>
        <p:spPr>
          <a:xfrm>
            <a:off x="7888941" y="6836483"/>
            <a:ext cx="3585083" cy="2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15940">
              <a:lnSpc>
                <a:spcPts val="1365"/>
              </a:lnSpc>
              <a:spcAft>
                <a:spcPts val="750"/>
              </a:spcAft>
            </a:pPr>
            <a:r>
              <a:rPr lang="en-US" sz="1200" dirty="0">
                <a:solidFill>
                  <a:srgbClr val="1D1D1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Exploratory Analysis (Steps 1-5)</a:t>
            </a:r>
            <a:endParaRPr lang="en-US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F6FDDE5-88D7-35FD-059F-9EF371502345}"/>
              </a:ext>
            </a:extLst>
          </p:cNvPr>
          <p:cNvSpPr txBox="1"/>
          <p:nvPr/>
        </p:nvSpPr>
        <p:spPr>
          <a:xfrm>
            <a:off x="5649559" y="6854293"/>
            <a:ext cx="1236520" cy="26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15940">
              <a:lnSpc>
                <a:spcPts val="1333"/>
              </a:lnSpc>
              <a:spcAft>
                <a:spcPts val="900"/>
              </a:spcAft>
            </a:pPr>
            <a:r>
              <a:rPr lang="en-US" sz="1300" b="1" dirty="0">
                <a:solidFill>
                  <a:srgbClr val="0B5394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Part 1</a:t>
            </a:r>
            <a:endParaRPr lang="en-US" sz="13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 6">
            <a:extLst>
              <a:ext uri="{FF2B5EF4-FFF2-40B4-BE49-F238E27FC236}">
                <a16:creationId xmlns:a16="http://schemas.microsoft.com/office/drawing/2014/main" id="{8CCB4153-BD55-5377-7559-18490EAD2BFD}"/>
              </a:ext>
            </a:extLst>
          </p:cNvPr>
          <p:cNvSpPr/>
          <p:nvPr/>
        </p:nvSpPr>
        <p:spPr>
          <a:xfrm>
            <a:off x="4784964" y="9718512"/>
            <a:ext cx="2699990" cy="67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615940">
              <a:lnSpc>
                <a:spcPts val="1333"/>
              </a:lnSpc>
              <a:spcAft>
                <a:spcPts val="900"/>
              </a:spcAft>
            </a:pPr>
            <a:endParaRPr lang="en-US" sz="14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C6AD0C0-0AE7-ECB8-8C1B-90F0527430C6}"/>
              </a:ext>
            </a:extLst>
          </p:cNvPr>
          <p:cNvSpPr txBox="1"/>
          <p:nvPr/>
        </p:nvSpPr>
        <p:spPr>
          <a:xfrm>
            <a:off x="5649559" y="9167505"/>
            <a:ext cx="1106424" cy="259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15940">
              <a:lnSpc>
                <a:spcPts val="1333"/>
              </a:lnSpc>
              <a:spcAft>
                <a:spcPts val="900"/>
              </a:spcAft>
            </a:pPr>
            <a:r>
              <a:rPr lang="en-US" sz="1300" b="1" dirty="0">
                <a:solidFill>
                  <a:srgbClr val="16A085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Part 2</a:t>
            </a:r>
            <a:endParaRPr lang="en-US" sz="13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44C9E09-B489-EE61-F7F9-BA6111F63997}"/>
              </a:ext>
            </a:extLst>
          </p:cNvPr>
          <p:cNvSpPr txBox="1"/>
          <p:nvPr/>
        </p:nvSpPr>
        <p:spPr>
          <a:xfrm>
            <a:off x="8085853" y="9147049"/>
            <a:ext cx="3191256" cy="2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15940">
              <a:lnSpc>
                <a:spcPts val="1365"/>
              </a:lnSpc>
              <a:spcAft>
                <a:spcPts val="750"/>
              </a:spcAft>
            </a:pPr>
            <a:r>
              <a:rPr lang="en-US" sz="1200" dirty="0">
                <a:solidFill>
                  <a:srgbClr val="1D1D1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CCI analysis with NMF (Steps 6-9)</a:t>
            </a:r>
            <a:endParaRPr lang="en-US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9EB1DC-7910-E25F-7B1F-80B93E60A170}"/>
              </a:ext>
            </a:extLst>
          </p:cNvPr>
          <p:cNvSpPr txBox="1"/>
          <p:nvPr/>
        </p:nvSpPr>
        <p:spPr>
          <a:xfrm>
            <a:off x="14334873" y="7031534"/>
            <a:ext cx="281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615940"/>
            <a:r>
              <a:rPr lang="en-US" sz="1200" dirty="0">
                <a:solidFill>
                  <a:srgbClr val="1D1D1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Characterization and visualization</a:t>
            </a:r>
          </a:p>
          <a:p>
            <a:pPr algn="ctr" defTabSz="615940"/>
            <a:r>
              <a:rPr lang="en-US" sz="1200" dirty="0">
                <a:solidFill>
                  <a:srgbClr val="1D1D1D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(Steps 10-11)</a:t>
            </a:r>
            <a:endParaRPr lang="en-US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0" name="TextBox 1089">
            <a:extLst>
              <a:ext uri="{FF2B5EF4-FFF2-40B4-BE49-F238E27FC236}">
                <a16:creationId xmlns:a16="http://schemas.microsoft.com/office/drawing/2014/main" id="{21B13270-6F4B-331F-8E3B-C4DC6EE2B500}"/>
              </a:ext>
            </a:extLst>
          </p:cNvPr>
          <p:cNvSpPr txBox="1"/>
          <p:nvPr/>
        </p:nvSpPr>
        <p:spPr>
          <a:xfrm>
            <a:off x="14440341" y="6761652"/>
            <a:ext cx="1136897" cy="259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15940">
              <a:lnSpc>
                <a:spcPts val="1333"/>
              </a:lnSpc>
              <a:spcAft>
                <a:spcPts val="900"/>
              </a:spcAft>
            </a:pPr>
            <a:r>
              <a:rPr lang="en-US" sz="1300" b="1" dirty="0">
                <a:solidFill>
                  <a:srgbClr val="E67E22"/>
                </a:solidFill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Part 3</a:t>
            </a:r>
            <a:endParaRPr lang="en-US" sz="13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08" name="Elbow Connector 1107">
            <a:extLst>
              <a:ext uri="{FF2B5EF4-FFF2-40B4-BE49-F238E27FC236}">
                <a16:creationId xmlns:a16="http://schemas.microsoft.com/office/drawing/2014/main" id="{D2DCAE3C-762A-FEF8-3F87-CA75EF0E1516}"/>
              </a:ext>
            </a:extLst>
          </p:cNvPr>
          <p:cNvCxnSpPr>
            <a:stCxn id="1089" idx="2"/>
            <a:endCxn id="1096" idx="0"/>
          </p:cNvCxnSpPr>
          <p:nvPr/>
        </p:nvCxnSpPr>
        <p:spPr>
          <a:xfrm rot="16200000" flipH="1">
            <a:off x="7179012" y="7478157"/>
            <a:ext cx="274683" cy="161647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4" name="Elbow Connector 1113">
            <a:extLst>
              <a:ext uri="{FF2B5EF4-FFF2-40B4-BE49-F238E27FC236}">
                <a16:creationId xmlns:a16="http://schemas.microsoft.com/office/drawing/2014/main" id="{42333728-823C-BA61-C42B-34246E96936D}"/>
              </a:ext>
            </a:extLst>
          </p:cNvPr>
          <p:cNvCxnSpPr>
            <a:cxnSpLocks/>
            <a:stCxn id="11" idx="2"/>
            <a:endCxn id="1096" idx="0"/>
          </p:cNvCxnSpPr>
          <p:nvPr/>
        </p:nvCxnSpPr>
        <p:spPr>
          <a:xfrm rot="5400000">
            <a:off x="8799022" y="7474624"/>
            <a:ext cx="274683" cy="16235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4" name="Straight Arrow Connector 1123">
            <a:extLst>
              <a:ext uri="{FF2B5EF4-FFF2-40B4-BE49-F238E27FC236}">
                <a16:creationId xmlns:a16="http://schemas.microsoft.com/office/drawing/2014/main" id="{17168448-139E-FC75-02FF-2443E8B64332}"/>
              </a:ext>
            </a:extLst>
          </p:cNvPr>
          <p:cNvCxnSpPr>
            <a:cxnSpLocks/>
            <a:stCxn id="10" idx="2"/>
            <a:endCxn id="1096" idx="0"/>
          </p:cNvCxnSpPr>
          <p:nvPr/>
        </p:nvCxnSpPr>
        <p:spPr>
          <a:xfrm>
            <a:off x="8124590" y="8149054"/>
            <a:ext cx="0" cy="274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Rounded Rectangle 1126">
            <a:extLst>
              <a:ext uri="{FF2B5EF4-FFF2-40B4-BE49-F238E27FC236}">
                <a16:creationId xmlns:a16="http://schemas.microsoft.com/office/drawing/2014/main" id="{DE812C13-5807-6F09-4C17-E3AE2CABBE0F}"/>
              </a:ext>
            </a:extLst>
          </p:cNvPr>
          <p:cNvSpPr/>
          <p:nvPr/>
        </p:nvSpPr>
        <p:spPr>
          <a:xfrm>
            <a:off x="11421202" y="8423737"/>
            <a:ext cx="1540519" cy="38201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Select pathway</a:t>
            </a:r>
          </a:p>
        </p:txBody>
      </p:sp>
      <p:cxnSp>
        <p:nvCxnSpPr>
          <p:cNvPr id="1128" name="Elbow Connector 1127">
            <a:extLst>
              <a:ext uri="{FF2B5EF4-FFF2-40B4-BE49-F238E27FC236}">
                <a16:creationId xmlns:a16="http://schemas.microsoft.com/office/drawing/2014/main" id="{B1537CA6-C6FE-45F4-F1FB-F1CFB614ED3B}"/>
              </a:ext>
            </a:extLst>
          </p:cNvPr>
          <p:cNvCxnSpPr>
            <a:cxnSpLocks/>
            <a:stCxn id="12" idx="2"/>
            <a:endCxn id="1127" idx="0"/>
          </p:cNvCxnSpPr>
          <p:nvPr/>
        </p:nvCxnSpPr>
        <p:spPr>
          <a:xfrm rot="16200000" flipH="1">
            <a:off x="11642461" y="7874735"/>
            <a:ext cx="274683" cy="8233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Elbow Connector 1130">
            <a:extLst>
              <a:ext uri="{FF2B5EF4-FFF2-40B4-BE49-F238E27FC236}">
                <a16:creationId xmlns:a16="http://schemas.microsoft.com/office/drawing/2014/main" id="{325FAA0C-ED76-9726-522E-FE66EFCD7C4B}"/>
              </a:ext>
            </a:extLst>
          </p:cNvPr>
          <p:cNvCxnSpPr>
            <a:cxnSpLocks/>
            <a:stCxn id="13" idx="2"/>
            <a:endCxn id="1127" idx="0"/>
          </p:cNvCxnSpPr>
          <p:nvPr/>
        </p:nvCxnSpPr>
        <p:spPr>
          <a:xfrm rot="5400000">
            <a:off x="12452466" y="7888049"/>
            <a:ext cx="274683" cy="79669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4" name="Straight Arrow Connector 1133">
            <a:extLst>
              <a:ext uri="{FF2B5EF4-FFF2-40B4-BE49-F238E27FC236}">
                <a16:creationId xmlns:a16="http://schemas.microsoft.com/office/drawing/2014/main" id="{460995A1-5B88-239E-9491-D112B8BD8568}"/>
              </a:ext>
            </a:extLst>
          </p:cNvPr>
          <p:cNvCxnSpPr>
            <a:cxnSpLocks/>
          </p:cNvCxnSpPr>
          <p:nvPr/>
        </p:nvCxnSpPr>
        <p:spPr>
          <a:xfrm flipH="1">
            <a:off x="8716296" y="10413114"/>
            <a:ext cx="4723" cy="237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7" name="Elbow Connector 1136">
            <a:extLst>
              <a:ext uri="{FF2B5EF4-FFF2-40B4-BE49-F238E27FC236}">
                <a16:creationId xmlns:a16="http://schemas.microsoft.com/office/drawing/2014/main" id="{B8644BDB-96FB-7924-F589-F8412A856430}"/>
              </a:ext>
            </a:extLst>
          </p:cNvPr>
          <p:cNvCxnSpPr>
            <a:cxnSpLocks/>
            <a:stCxn id="1127" idx="2"/>
            <a:endCxn id="58" idx="0"/>
          </p:cNvCxnSpPr>
          <p:nvPr/>
        </p:nvCxnSpPr>
        <p:spPr>
          <a:xfrm rot="5400000">
            <a:off x="11107239" y="8475258"/>
            <a:ext cx="753730" cy="141471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0" name="Rounded Rectangle 1139">
            <a:extLst>
              <a:ext uri="{FF2B5EF4-FFF2-40B4-BE49-F238E27FC236}">
                <a16:creationId xmlns:a16="http://schemas.microsoft.com/office/drawing/2014/main" id="{C6B12C09-00EF-9381-5DEE-6D085A208B39}"/>
              </a:ext>
            </a:extLst>
          </p:cNvPr>
          <p:cNvSpPr/>
          <p:nvPr/>
        </p:nvSpPr>
        <p:spPr>
          <a:xfrm>
            <a:off x="10013573" y="10651140"/>
            <a:ext cx="1540519" cy="382013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Select pathway</a:t>
            </a:r>
          </a:p>
        </p:txBody>
      </p:sp>
      <p:cxnSp>
        <p:nvCxnSpPr>
          <p:cNvPr id="1141" name="Elbow Connector 1140">
            <a:extLst>
              <a:ext uri="{FF2B5EF4-FFF2-40B4-BE49-F238E27FC236}">
                <a16:creationId xmlns:a16="http://schemas.microsoft.com/office/drawing/2014/main" id="{277B88B6-0D78-D1DF-1A7F-38CAFD6654E9}"/>
              </a:ext>
            </a:extLst>
          </p:cNvPr>
          <p:cNvCxnSpPr>
            <a:cxnSpLocks/>
            <a:stCxn id="14" idx="2"/>
            <a:endCxn id="1109" idx="0"/>
          </p:cNvCxnSpPr>
          <p:nvPr/>
        </p:nvCxnSpPr>
        <p:spPr>
          <a:xfrm rot="16200000" flipH="1">
            <a:off x="7577570" y="9509292"/>
            <a:ext cx="237264" cy="20449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5" name="Straight Arrow Connector 1144">
            <a:extLst>
              <a:ext uri="{FF2B5EF4-FFF2-40B4-BE49-F238E27FC236}">
                <a16:creationId xmlns:a16="http://schemas.microsoft.com/office/drawing/2014/main" id="{D8578AD1-9029-41BB-B133-29CE5F663859}"/>
              </a:ext>
            </a:extLst>
          </p:cNvPr>
          <p:cNvCxnSpPr>
            <a:cxnSpLocks/>
            <a:endCxn id="1140" idx="0"/>
          </p:cNvCxnSpPr>
          <p:nvPr/>
        </p:nvCxnSpPr>
        <p:spPr>
          <a:xfrm>
            <a:off x="10783832" y="10417243"/>
            <a:ext cx="0" cy="233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6" name="Straight Arrow Connector 1155">
            <a:extLst>
              <a:ext uri="{FF2B5EF4-FFF2-40B4-BE49-F238E27FC236}">
                <a16:creationId xmlns:a16="http://schemas.microsoft.com/office/drawing/2014/main" id="{E34BEEB6-107F-1417-2905-ADB5D9F2F505}"/>
              </a:ext>
            </a:extLst>
          </p:cNvPr>
          <p:cNvCxnSpPr>
            <a:cxnSpLocks/>
          </p:cNvCxnSpPr>
          <p:nvPr/>
        </p:nvCxnSpPr>
        <p:spPr>
          <a:xfrm>
            <a:off x="12826849" y="10417243"/>
            <a:ext cx="0" cy="233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57" name="Picture 1156">
            <a:extLst>
              <a:ext uri="{FF2B5EF4-FFF2-40B4-BE49-F238E27FC236}">
                <a16:creationId xmlns:a16="http://schemas.microsoft.com/office/drawing/2014/main" id="{BBA43942-62DE-C65B-170A-AEAF7476C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055" y="5969397"/>
            <a:ext cx="2362200" cy="6184900"/>
          </a:xfrm>
          <a:prstGeom prst="rect">
            <a:avLst/>
          </a:prstGeom>
        </p:spPr>
      </p:pic>
      <p:sp>
        <p:nvSpPr>
          <p:cNvPr id="1158" name="Right Arrow 1157">
            <a:extLst>
              <a:ext uri="{FF2B5EF4-FFF2-40B4-BE49-F238E27FC236}">
                <a16:creationId xmlns:a16="http://schemas.microsoft.com/office/drawing/2014/main" id="{057354FB-1B4B-57DE-68B5-B6457FF71589}"/>
              </a:ext>
            </a:extLst>
          </p:cNvPr>
          <p:cNvSpPr/>
          <p:nvPr/>
        </p:nvSpPr>
        <p:spPr>
          <a:xfrm>
            <a:off x="13983288" y="8547377"/>
            <a:ext cx="283623" cy="879173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9" name="TextBox 1158">
            <a:extLst>
              <a:ext uri="{FF2B5EF4-FFF2-40B4-BE49-F238E27FC236}">
                <a16:creationId xmlns:a16="http://schemas.microsoft.com/office/drawing/2014/main" id="{1D759BF2-BA48-8147-E879-15ED96E7A4E2}"/>
              </a:ext>
            </a:extLst>
          </p:cNvPr>
          <p:cNvSpPr txBox="1"/>
          <p:nvPr/>
        </p:nvSpPr>
        <p:spPr>
          <a:xfrm>
            <a:off x="5514617" y="6154313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B</a:t>
            </a:r>
            <a:endParaRPr lang="en-US" b="1" dirty="0"/>
          </a:p>
        </p:txBody>
      </p:sp>
      <p:sp>
        <p:nvSpPr>
          <p:cNvPr id="1160" name="TextBox 1159">
            <a:extLst>
              <a:ext uri="{FF2B5EF4-FFF2-40B4-BE49-F238E27FC236}">
                <a16:creationId xmlns:a16="http://schemas.microsoft.com/office/drawing/2014/main" id="{2E56EB1B-199C-0A13-C742-D25A93F25F72}"/>
              </a:ext>
            </a:extLst>
          </p:cNvPr>
          <p:cNvSpPr txBox="1"/>
          <p:nvPr/>
        </p:nvSpPr>
        <p:spPr>
          <a:xfrm>
            <a:off x="2326388" y="6154313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913A8E4-015D-7AC5-FA53-BB83EBF18E83}"/>
              </a:ext>
            </a:extLst>
          </p:cNvPr>
          <p:cNvSpPr txBox="1"/>
          <p:nvPr/>
        </p:nvSpPr>
        <p:spPr>
          <a:xfrm>
            <a:off x="16566777" y="12711953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4</a:t>
            </a:r>
          </a:p>
        </p:txBody>
      </p:sp>
    </p:spTree>
    <p:extLst>
      <p:ext uri="{BB962C8B-B14F-4D97-AF65-F5344CB8AC3E}">
        <p14:creationId xmlns:p14="http://schemas.microsoft.com/office/powerpoint/2010/main" val="3696195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E3A4C-0A6B-3D6A-4623-535A04331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0DFDFB-3C5D-9224-C2D2-3D28775D4A5A}"/>
              </a:ext>
            </a:extLst>
          </p:cNvPr>
          <p:cNvSpPr txBox="1"/>
          <p:nvPr/>
        </p:nvSpPr>
        <p:spPr>
          <a:xfrm>
            <a:off x="16566777" y="12711953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3C4D3D-7DF3-90FB-C72B-2A4542FF70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6291" y="3455441"/>
            <a:ext cx="9570486" cy="2120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5EFFD8C-47FD-BF9C-92A1-0A599FB277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7848600"/>
            <a:ext cx="777240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88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92EFB-8231-0BAF-6B5A-8CC118473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C51C400-C88A-E25D-72AA-F8C763925BA5}"/>
              </a:ext>
            </a:extLst>
          </p:cNvPr>
          <p:cNvSpPr txBox="1"/>
          <p:nvPr/>
        </p:nvSpPr>
        <p:spPr>
          <a:xfrm>
            <a:off x="16566777" y="12711953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7</a:t>
            </a:r>
          </a:p>
        </p:txBody>
      </p:sp>
    </p:spTree>
    <p:extLst>
      <p:ext uri="{BB962C8B-B14F-4D97-AF65-F5344CB8AC3E}">
        <p14:creationId xmlns:p14="http://schemas.microsoft.com/office/powerpoint/2010/main" val="16078348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BC8BD-104B-DCEA-A224-CF7A599BB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3802E9-8AEE-1F6B-4327-46DB8AB577B4}"/>
              </a:ext>
            </a:extLst>
          </p:cNvPr>
          <p:cNvSpPr txBox="1"/>
          <p:nvPr/>
        </p:nvSpPr>
        <p:spPr>
          <a:xfrm>
            <a:off x="16566777" y="12711953"/>
            <a:ext cx="835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</a:t>
            </a:r>
            <a:r>
              <a:rPr lang="en-US" altLang="ko-KR" dirty="0"/>
              <a:t>S1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F05C65-0A7E-8D02-F33E-3898A76B7CD4}"/>
              </a:ext>
            </a:extLst>
          </p:cNvPr>
          <p:cNvSpPr txBox="1"/>
          <p:nvPr/>
        </p:nvSpPr>
        <p:spPr>
          <a:xfrm>
            <a:off x="9989633" y="5833889"/>
            <a:ext cx="5054424" cy="6601807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1000" b="1" dirty="0">
                <a:latin typeface="ui-sans-serif"/>
              </a:rPr>
              <a:t>🧬 Spatial Transcriptomics Analysis Pipeline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endParaRPr lang="en-US" sz="1000" b="1" dirty="0">
              <a:latin typeface="ui-sans-serif"/>
            </a:endParaRP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1000" b="1" dirty="0">
                <a:latin typeface="ui-sans-serif"/>
              </a:rPr>
              <a:t>📋 Pipeline Summary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900" dirty="0">
                <a:latin typeface="ui-sans-serif"/>
              </a:rPr>
              <a:t>log normalization → CARD (Deconvolution) → </a:t>
            </a:r>
            <a:r>
              <a:rPr lang="en-US" sz="900" dirty="0" err="1">
                <a:latin typeface="ui-sans-serif"/>
              </a:rPr>
              <a:t>BayesSpace</a:t>
            </a:r>
            <a:r>
              <a:rPr lang="en-US" sz="900" dirty="0">
                <a:latin typeface="ui-sans-serif"/>
              </a:rPr>
              <a:t> (Spatial clustering)</a:t>
            </a:r>
          </a:p>
          <a:p>
            <a:pPr>
              <a:spcBef>
                <a:spcPts val="100"/>
              </a:spcBef>
              <a:spcAft>
                <a:spcPts val="500"/>
              </a:spcAft>
            </a:pPr>
            <a:endParaRPr lang="en-US" sz="900" dirty="0"/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900" b="1" dirty="0">
                <a:latin typeface="ui-sans-serif"/>
              </a:rPr>
              <a:t>🔧 Step 1: Data Normalization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Tool</a:t>
            </a:r>
            <a:r>
              <a:rPr lang="en-US" sz="800" dirty="0">
                <a:latin typeface="ui-sans-serif"/>
              </a:rPr>
              <a:t>: log normalization (e.g., Seurat::</a:t>
            </a:r>
            <a:r>
              <a:rPr lang="en-US" sz="800" dirty="0" err="1">
                <a:latin typeface="ui-sans-serif"/>
              </a:rPr>
              <a:t>NormalizeData</a:t>
            </a:r>
            <a:r>
              <a:rPr lang="en-US" sz="800" dirty="0">
                <a:latin typeface="ui-sans-serif"/>
              </a:rPr>
              <a:t> or base R log1p)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Purpose</a:t>
            </a:r>
            <a:r>
              <a:rPr lang="en-US" sz="800" dirty="0">
                <a:latin typeface="ui-sans-serif"/>
              </a:rPr>
              <a:t>: Normalization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Language</a:t>
            </a:r>
            <a:r>
              <a:rPr lang="en-US" sz="800" dirty="0">
                <a:latin typeface="ui-sans-serif"/>
              </a:rPr>
              <a:t>: R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Computational Requirements</a:t>
            </a:r>
            <a:r>
              <a:rPr lang="en-US" sz="800" dirty="0">
                <a:latin typeface="ui-sans-serif"/>
              </a:rPr>
              <a:t>: CPU, minimal memory for a single </a:t>
            </a:r>
            <a:r>
              <a:rPr lang="en-US" sz="800" dirty="0" err="1">
                <a:latin typeface="ui-sans-serif"/>
              </a:rPr>
              <a:t>Visium</a:t>
            </a:r>
            <a:r>
              <a:rPr lang="en-US" sz="800" dirty="0">
                <a:latin typeface="ui-sans-serif"/>
              </a:rPr>
              <a:t> sample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why this tool</a:t>
            </a:r>
            <a:r>
              <a:rPr lang="en-US" sz="800" dirty="0">
                <a:latin typeface="ui-sans-serif"/>
              </a:rPr>
              <a:t>: Log normalization is the standard preprocessing for </a:t>
            </a:r>
            <a:r>
              <a:rPr lang="en-US" sz="800" dirty="0" err="1">
                <a:latin typeface="ui-sans-serif"/>
              </a:rPr>
              <a:t>Visium</a:t>
            </a:r>
            <a:r>
              <a:rPr lang="en-US" sz="800" dirty="0">
                <a:latin typeface="ui-sans-serif"/>
              </a:rPr>
              <a:t> data and is compatible with all downstream R-based tools.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800" dirty="0"/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900" b="1" dirty="0">
                <a:latin typeface="ui-sans-serif"/>
              </a:rPr>
              <a:t>🔬 Step 2: Cell Type Analysis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Tool</a:t>
            </a:r>
            <a:r>
              <a:rPr lang="en-US" sz="800" dirty="0">
                <a:latin typeface="ui-sans-serif"/>
              </a:rPr>
              <a:t>: CARD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Purpose</a:t>
            </a:r>
            <a:r>
              <a:rPr lang="en-US" sz="800" dirty="0">
                <a:latin typeface="ui-sans-serif"/>
              </a:rPr>
              <a:t>: Deconvolution for spot-based data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Language</a:t>
            </a:r>
            <a:r>
              <a:rPr lang="en-US" sz="800" dirty="0">
                <a:latin typeface="ui-sans-serif"/>
              </a:rPr>
              <a:t>: R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Computational Requirements</a:t>
            </a:r>
            <a:r>
              <a:rPr lang="en-US" sz="800" dirty="0">
                <a:latin typeface="ui-sans-serif"/>
              </a:rPr>
              <a:t>: CPU, very low memory usage (CARD is 0.2–10% of the memory of alternatives)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why this tool</a:t>
            </a:r>
            <a:r>
              <a:rPr lang="en-US" sz="800" dirty="0">
                <a:latin typeface="ui-sans-serif"/>
              </a:rPr>
              <a:t>: CARD is highly efficient, accurate, and specifically designed for spot-based (</a:t>
            </a:r>
            <a:r>
              <a:rPr lang="en-US" sz="800" dirty="0" err="1">
                <a:latin typeface="ui-sans-serif"/>
              </a:rPr>
              <a:t>Visium</a:t>
            </a:r>
            <a:r>
              <a:rPr lang="en-US" sz="800" dirty="0">
                <a:latin typeface="ui-sans-serif"/>
              </a:rPr>
              <a:t>) data. It is widely benchmarked, easy to use on Mac/CPU, and has been applied to human cancer datasets.</a:t>
            </a:r>
          </a:p>
          <a:p>
            <a:pPr>
              <a:buNone/>
            </a:pPr>
            <a:endParaRPr lang="en-US" sz="800" dirty="0"/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900" b="1" dirty="0">
                <a:latin typeface="ui-sans-serif"/>
              </a:rPr>
              <a:t>🔬 Step 3: Spatial Clustering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Tool</a:t>
            </a:r>
            <a:r>
              <a:rPr lang="en-US" sz="800" dirty="0">
                <a:latin typeface="ui-sans-serif"/>
              </a:rPr>
              <a:t>: </a:t>
            </a:r>
            <a:r>
              <a:rPr lang="en-US" sz="800" dirty="0" err="1">
                <a:latin typeface="ui-sans-serif"/>
              </a:rPr>
              <a:t>BayesSpace</a:t>
            </a:r>
            <a:endParaRPr lang="en-US" sz="800" dirty="0">
              <a:latin typeface="ui-sans-serif"/>
            </a:endParaRP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Purpose</a:t>
            </a:r>
            <a:r>
              <a:rPr lang="en-US" sz="800" dirty="0">
                <a:latin typeface="ui-sans-serif"/>
              </a:rPr>
              <a:t>: Spatial clustering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Language</a:t>
            </a:r>
            <a:r>
              <a:rPr lang="en-US" sz="800" dirty="0">
                <a:latin typeface="ui-sans-serif"/>
              </a:rPr>
              <a:t>: R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Computational Requirements</a:t>
            </a:r>
            <a:r>
              <a:rPr lang="en-US" sz="800" dirty="0">
                <a:latin typeface="ui-sans-serif"/>
              </a:rPr>
              <a:t>: CPU, moderate memory for a single sample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why this tool</a:t>
            </a:r>
            <a:r>
              <a:rPr lang="en-US" sz="800" dirty="0">
                <a:latin typeface="ui-sans-serif"/>
              </a:rPr>
              <a:t>: </a:t>
            </a:r>
            <a:r>
              <a:rPr lang="en-US" sz="800" dirty="0" err="1">
                <a:latin typeface="ui-sans-serif"/>
              </a:rPr>
              <a:t>BayesSpace</a:t>
            </a:r>
            <a:r>
              <a:rPr lang="en-US" sz="800" dirty="0">
                <a:latin typeface="ui-sans-serif"/>
              </a:rPr>
              <a:t> is the gold standard for spatial clustering in </a:t>
            </a:r>
            <a:r>
              <a:rPr lang="en-US" sz="800" dirty="0" err="1">
                <a:latin typeface="ui-sans-serif"/>
              </a:rPr>
              <a:t>Visium</a:t>
            </a:r>
            <a:r>
              <a:rPr lang="en-US" sz="800" dirty="0">
                <a:latin typeface="ui-sans-serif"/>
              </a:rPr>
              <a:t> data, integrates seamlessly with R workflows, and is efficient on Mac/CPU. It is widely used in human cancer spatial transcriptomics.</a:t>
            </a:r>
          </a:p>
          <a:p>
            <a:pPr>
              <a:buNone/>
            </a:pPr>
            <a:endParaRPr lang="en-US" sz="800" dirty="0"/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900" b="1" dirty="0">
                <a:latin typeface="ui-sans-serif"/>
              </a:rPr>
              <a:t>📊 Computational Overview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Total RAM Required</a:t>
            </a:r>
            <a:r>
              <a:rPr lang="en-US" sz="800" dirty="0">
                <a:latin typeface="ui-sans-serif"/>
              </a:rPr>
              <a:t>: Low to moderate (CARD is highly efficient; </a:t>
            </a:r>
            <a:r>
              <a:rPr lang="en-US" sz="800" dirty="0" err="1">
                <a:latin typeface="ui-sans-serif"/>
              </a:rPr>
              <a:t>BayesSpace</a:t>
            </a:r>
            <a:r>
              <a:rPr lang="en-US" sz="800" dirty="0">
                <a:latin typeface="ui-sans-serif"/>
              </a:rPr>
              <a:t> is moderate for a single sample)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GPU Required</a:t>
            </a:r>
            <a:r>
              <a:rPr lang="en-US" sz="800" dirty="0">
                <a:latin typeface="ui-sans-serif"/>
              </a:rPr>
              <a:t>: No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b="1" dirty="0">
                <a:latin typeface="ui-sans-serif"/>
              </a:rPr>
              <a:t>Estimated Runtime</a:t>
            </a:r>
            <a:r>
              <a:rPr lang="en-US" sz="800" dirty="0">
                <a:latin typeface="ui-sans-serif"/>
              </a:rPr>
              <a:t>: Under 1 hour for a single </a:t>
            </a:r>
            <a:r>
              <a:rPr lang="en-US" sz="800" dirty="0" err="1">
                <a:latin typeface="ui-sans-serif"/>
              </a:rPr>
              <a:t>Visium</a:t>
            </a:r>
            <a:r>
              <a:rPr lang="en-US" sz="800" dirty="0">
                <a:latin typeface="ui-sans-serif"/>
              </a:rPr>
              <a:t> sample on a modern Mac CPU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endParaRPr lang="en-US" sz="800" dirty="0"/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900" b="1" dirty="0">
                <a:latin typeface="ui-sans-serif"/>
              </a:rPr>
              <a:t>📚 Sources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dirty="0">
                <a:latin typeface="ui-sans-serif"/>
              </a:rPr>
              <a:t>CARD: "</a:t>
            </a:r>
            <a:r>
              <a:rPr lang="en-US" sz="800" dirty="0" err="1">
                <a:latin typeface="ui-sans-serif"/>
              </a:rPr>
              <a:t>CARD.pdf</a:t>
            </a:r>
            <a:r>
              <a:rPr lang="en-US" sz="800" dirty="0">
                <a:latin typeface="ui-sans-serif"/>
              </a:rPr>
              <a:t>" (see Supplementary Table 5, 6 for efficiency and memory benchmarks)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dirty="0" err="1">
                <a:latin typeface="ui-sans-serif"/>
              </a:rPr>
              <a:t>BayesSpace</a:t>
            </a:r>
            <a:r>
              <a:rPr lang="en-US" sz="800" dirty="0">
                <a:latin typeface="ui-sans-serif"/>
              </a:rPr>
              <a:t>: "</a:t>
            </a:r>
            <a:r>
              <a:rPr lang="en-US" sz="800" dirty="0" err="1">
                <a:latin typeface="ui-sans-serif"/>
              </a:rPr>
              <a:t>BayesSpace.pdf</a:t>
            </a:r>
            <a:r>
              <a:rPr lang="en-US" sz="800" dirty="0">
                <a:latin typeface="ui-sans-serif"/>
              </a:rPr>
              <a:t>" (see Discussion and Methods for </a:t>
            </a:r>
            <a:r>
              <a:rPr lang="en-US" sz="800" dirty="0" err="1">
                <a:latin typeface="ui-sans-serif"/>
              </a:rPr>
              <a:t>Visium</a:t>
            </a:r>
            <a:r>
              <a:rPr lang="en-US" sz="800" dirty="0">
                <a:latin typeface="ui-sans-serif"/>
              </a:rPr>
              <a:t>/CPU compatibility)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dirty="0">
                <a:latin typeface="ui-sans-serif"/>
              </a:rPr>
              <a:t>IRIS: "</a:t>
            </a:r>
            <a:r>
              <a:rPr lang="en-US" sz="800" dirty="0" err="1">
                <a:latin typeface="ui-sans-serif"/>
              </a:rPr>
              <a:t>IRIS.pdf</a:t>
            </a:r>
            <a:r>
              <a:rPr lang="en-US" sz="800" dirty="0">
                <a:latin typeface="ui-sans-serif"/>
              </a:rPr>
              <a:t>" (alternative, but CARD/</a:t>
            </a:r>
            <a:r>
              <a:rPr lang="en-US" sz="800" dirty="0" err="1">
                <a:latin typeface="ui-sans-serif"/>
              </a:rPr>
              <a:t>BayesSpace</a:t>
            </a:r>
            <a:r>
              <a:rPr lang="en-US" sz="800" dirty="0">
                <a:latin typeface="ui-sans-serif"/>
              </a:rPr>
              <a:t> are more widely benchmarked)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dirty="0" err="1">
                <a:latin typeface="ui-sans-serif"/>
              </a:rPr>
              <a:t>SPOTlight</a:t>
            </a:r>
            <a:r>
              <a:rPr lang="en-US" sz="800" dirty="0">
                <a:latin typeface="ui-sans-serif"/>
              </a:rPr>
              <a:t>: "</a:t>
            </a:r>
            <a:r>
              <a:rPr lang="en-US" sz="800" dirty="0" err="1">
                <a:latin typeface="ui-sans-serif"/>
              </a:rPr>
              <a:t>SPOTlight.pdf</a:t>
            </a:r>
            <a:r>
              <a:rPr lang="en-US" sz="800" dirty="0">
                <a:latin typeface="ui-sans-serif"/>
              </a:rPr>
              <a:t>" (alternative deconvolution)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dirty="0">
                <a:latin typeface="ui-sans-serif"/>
              </a:rPr>
              <a:t>Cell2Location: "Cell2Location.pdf" (alternative deconvolution)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dirty="0" err="1">
                <a:latin typeface="ui-sans-serif"/>
              </a:rPr>
              <a:t>CellCharter</a:t>
            </a:r>
            <a:r>
              <a:rPr lang="en-US" sz="800" dirty="0">
                <a:latin typeface="ui-sans-serif"/>
              </a:rPr>
              <a:t>: "</a:t>
            </a:r>
            <a:r>
              <a:rPr lang="en-US" sz="800" dirty="0" err="1">
                <a:latin typeface="ui-sans-serif"/>
              </a:rPr>
              <a:t>CellCharter.pdf</a:t>
            </a:r>
            <a:r>
              <a:rPr lang="en-US" sz="800" dirty="0">
                <a:latin typeface="ui-sans-serif"/>
              </a:rPr>
              <a:t>" (alternative clustering)</a:t>
            </a:r>
          </a:p>
          <a:p>
            <a:pPr marL="230188" indent="-115888">
              <a:buFont typeface="Arial" panose="020B0604020202020204" pitchFamily="34" charset="0"/>
              <a:buChar char="•"/>
            </a:pPr>
            <a:r>
              <a:rPr lang="en-US" sz="800" dirty="0" err="1">
                <a:latin typeface="ui-sans-serif"/>
              </a:rPr>
              <a:t>GraphST</a:t>
            </a:r>
            <a:r>
              <a:rPr lang="en-US" sz="800" dirty="0">
                <a:latin typeface="ui-sans-serif"/>
              </a:rPr>
              <a:t>: "</a:t>
            </a:r>
            <a:r>
              <a:rPr lang="en-US" sz="800" dirty="0" err="1">
                <a:latin typeface="ui-sans-serif"/>
              </a:rPr>
              <a:t>GraphST.pdf</a:t>
            </a:r>
            <a:r>
              <a:rPr lang="en-US" sz="800" dirty="0">
                <a:latin typeface="ui-sans-serif"/>
              </a:rPr>
              <a:t>" (alternative clustering)</a:t>
            </a:r>
          </a:p>
          <a:p>
            <a:pPr>
              <a:buNone/>
            </a:pPr>
            <a:br>
              <a:rPr lang="en-US" sz="800" dirty="0"/>
            </a:br>
            <a:endParaRPr lang="en-US" sz="800" dirty="0"/>
          </a:p>
          <a:p>
            <a:pPr>
              <a:spcBef>
                <a:spcPts val="100"/>
              </a:spcBef>
              <a:spcAft>
                <a:spcPts val="500"/>
              </a:spcAft>
            </a:pPr>
            <a:r>
              <a:rPr lang="en-US" sz="800" b="1" dirty="0">
                <a:latin typeface="ui-sans-serif"/>
              </a:rPr>
              <a:t>This pipeline is optimal for your scenario: efficient, reproducible, and widely used in the field.</a:t>
            </a:r>
            <a:endParaRPr lang="en-US" sz="800" dirty="0">
              <a:latin typeface="ui-sans-serif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BE9738-100F-96C5-B6F7-5FBB0237AF9F}"/>
              </a:ext>
            </a:extLst>
          </p:cNvPr>
          <p:cNvSpPr txBox="1"/>
          <p:nvPr/>
        </p:nvSpPr>
        <p:spPr>
          <a:xfrm>
            <a:off x="6817679" y="8015369"/>
            <a:ext cx="2430208" cy="202619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45720" rIns="0" bIns="45720" rtlCol="0" anchor="ctr">
            <a:spAutoFit/>
          </a:bodyPr>
          <a:lstStyle/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Human Input Required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Please choose one of the following options: 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1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1️⃣ Default Pipeline - Proceed with the suggested pipeline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 </a:t>
            </a:r>
            <a:r>
              <a:rPr lang="ko-KR" altLang="en-US" sz="700" b="1" dirty="0">
                <a:solidFill>
                  <a:schemeClr val="tx1"/>
                </a:solidFill>
                <a:latin typeface="ui-sans-serif"/>
              </a:rPr>
              <a:t>  </a:t>
            </a: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↳ Type: "1", "default" or "proceed" 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1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2️⃣ Customize Pipeline - Modify specific components 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ko-KR" altLang="en-US" sz="700" b="1" dirty="0">
                <a:solidFill>
                  <a:schemeClr val="tx1"/>
                </a:solidFill>
                <a:latin typeface="ui-sans-serif"/>
              </a:rPr>
              <a:t>  </a:t>
            </a: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↳ Type: "2", "custom" or "update" 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1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3️⃣ Reference-based Pipeline - Use </a:t>
            </a:r>
            <a:r>
              <a:rPr lang="en-US" altLang="en-US" sz="700" b="1" dirty="0" err="1">
                <a:solidFill>
                  <a:schemeClr val="tx1"/>
                </a:solidFill>
                <a:latin typeface="ui-sans-serif"/>
              </a:rPr>
              <a:t>DeepMAST</a:t>
            </a: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-RAG to find  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1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      methods from literature 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ko-KR" altLang="en-US" sz="700" b="1" dirty="0">
                <a:solidFill>
                  <a:schemeClr val="tx1"/>
                </a:solidFill>
                <a:latin typeface="ui-sans-serif"/>
              </a:rPr>
              <a:t>  </a:t>
            </a: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↳ Type: "3", "reference" or "select" 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What would you like to do?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en-US" altLang="en-US" sz="700" b="1" dirty="0">
                <a:solidFill>
                  <a:schemeClr val="tx1"/>
                </a:solidFill>
                <a:latin typeface="ui-sans-serif"/>
              </a:rPr>
              <a:t>Please provide your response:</a:t>
            </a:r>
          </a:p>
          <a:p>
            <a:pPr marL="61913" defTabSz="914400" eaLnBrk="0" fontAlgn="base" hangingPunct="0">
              <a:spcBef>
                <a:spcPts val="100"/>
              </a:spcBef>
              <a:spcAft>
                <a:spcPts val="500"/>
              </a:spcAft>
            </a:pPr>
            <a:r>
              <a:rPr lang="en-US" altLang="en-US" sz="700" b="1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   Enter your response…</a:t>
            </a:r>
          </a:p>
        </p:txBody>
      </p:sp>
      <p:sp>
        <p:nvSpPr>
          <p:cNvPr id="18" name="Oval Callout 17">
            <a:extLst>
              <a:ext uri="{FF2B5EF4-FFF2-40B4-BE49-F238E27FC236}">
                <a16:creationId xmlns:a16="http://schemas.microsoft.com/office/drawing/2014/main" id="{199E7EC7-B16C-BDBB-E31D-B258C4124060}"/>
              </a:ext>
            </a:extLst>
          </p:cNvPr>
          <p:cNvSpPr/>
          <p:nvPr/>
        </p:nvSpPr>
        <p:spPr>
          <a:xfrm>
            <a:off x="7144463" y="5442858"/>
            <a:ext cx="2122366" cy="668004"/>
          </a:xfrm>
          <a:prstGeom prst="wedgeEllipseCallout">
            <a:avLst>
              <a:gd name="adj1" fmla="val -59197"/>
              <a:gd name="adj2" fmla="val 56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0" rIns="45720" bIns="0" rtlCol="0" anchor="ctr"/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800" b="1" dirty="0">
                <a:solidFill>
                  <a:schemeClr val="tx1"/>
                </a:solidFill>
                <a:latin typeface="ui-sans-serif"/>
              </a:rPr>
              <a:t>I need a pipeline for analyzing one breast cancer </a:t>
            </a:r>
            <a:r>
              <a:rPr lang="en-US" altLang="en-US" sz="80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altLang="en-US" sz="800" b="1" dirty="0">
                <a:solidFill>
                  <a:schemeClr val="tx1"/>
                </a:solidFill>
                <a:latin typeface="ui-sans-serif"/>
              </a:rPr>
              <a:t> sample on a Mac (CPU only), with spatial clustering or cell type analysis.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9211CA-E2AC-CBE3-16BF-1E6501F75F35}"/>
              </a:ext>
            </a:extLst>
          </p:cNvPr>
          <p:cNvSpPr txBox="1"/>
          <p:nvPr/>
        </p:nvSpPr>
        <p:spPr>
          <a:xfrm>
            <a:off x="6828635" y="6193585"/>
            <a:ext cx="2408296" cy="171739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45720" rIns="0" bIns="45720" rtlCol="0" anchor="ctr">
            <a:spAutoFit/>
          </a:bodyPr>
          <a:lstStyle/>
          <a:p>
            <a:pPr marL="61913"/>
            <a:r>
              <a:rPr lang="en-US" sz="700" b="1" dirty="0">
                <a:solidFill>
                  <a:schemeClr val="tx1"/>
                </a:solidFill>
                <a:latin typeface="ui-sans-serif"/>
              </a:rPr>
              <a:t>✅ Information Collection Complete!</a:t>
            </a:r>
          </a:p>
          <a:p>
            <a:pPr marL="61913"/>
            <a:r>
              <a:rPr lang="en-US" sz="700" b="1" dirty="0">
                <a:solidFill>
                  <a:schemeClr val="tx1"/>
                </a:solidFill>
                <a:latin typeface="ui-sans-serif"/>
              </a:rPr>
              <a:t>Based on your inputs: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ST Technology: </a:t>
            </a:r>
            <a:r>
              <a:rPr lang="en-US" sz="70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sz="700" b="1" dirty="0">
                <a:solidFill>
                  <a:schemeClr val="tx1"/>
                </a:solidFill>
                <a:latin typeface="ui-sans-serif"/>
              </a:rPr>
              <a:t> (spot-based)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Disease: breast cancer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Species: human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Sample Count: 1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OS: Mac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Computing: CPU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endParaRPr lang="en-US" sz="700" b="1" dirty="0">
              <a:solidFill>
                <a:schemeClr val="tx1"/>
              </a:solidFill>
              <a:latin typeface="ui-sans-serif"/>
            </a:endParaRPr>
          </a:p>
          <a:p>
            <a:pPr marL="61913"/>
            <a:r>
              <a:rPr lang="en-US" sz="700" b="1" dirty="0">
                <a:solidFill>
                  <a:schemeClr val="tx1"/>
                </a:solidFill>
                <a:latin typeface="ui-sans-serif"/>
              </a:rPr>
              <a:t>I've generated the following default analysis pipeline:</a:t>
            </a:r>
          </a:p>
          <a:p>
            <a:pPr marL="61913"/>
            <a:endParaRPr lang="en-US" sz="700" b="1" dirty="0">
              <a:solidFill>
                <a:schemeClr val="tx1"/>
              </a:solidFill>
              <a:latin typeface="ui-sans-serif"/>
            </a:endParaRPr>
          </a:p>
          <a:p>
            <a:pPr marL="61913"/>
            <a:r>
              <a:rPr lang="en-US" sz="700" b="1" dirty="0">
                <a:solidFill>
                  <a:schemeClr val="tx1"/>
                </a:solidFill>
                <a:latin typeface="ui-sans-serif"/>
              </a:rPr>
              <a:t>📊 Pipeline Configuration: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Normalization: log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Cell Type Analysis: IRIS (deconvolution)</a:t>
            </a:r>
          </a:p>
          <a:p>
            <a:pPr marL="233363" indent="-114300">
              <a:buFont typeface="Arial" panose="020B0604020202020204" pitchFamily="34" charset="0"/>
              <a:buChar char="•"/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Spatial Clustering: IRIS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2BD922-CA22-C988-861D-98A09C483E22}"/>
              </a:ext>
            </a:extLst>
          </p:cNvPr>
          <p:cNvSpPr txBox="1"/>
          <p:nvPr/>
        </p:nvSpPr>
        <p:spPr>
          <a:xfrm>
            <a:off x="6826062" y="10667603"/>
            <a:ext cx="2413445" cy="479618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45720" rIns="0" bIns="45720" rtlCol="0" anchor="ctr">
            <a:spAutoFit/>
          </a:bodyPr>
          <a:lstStyle/>
          <a:p>
            <a:pPr marL="57150">
              <a:spcAft>
                <a:spcPts val="500"/>
              </a:spcAft>
            </a:pPr>
            <a:r>
              <a:rPr lang="en-US" sz="700" b="1" dirty="0">
                <a:solidFill>
                  <a:schemeClr val="tx1"/>
                </a:solidFill>
                <a:latin typeface="ui-sans-serif"/>
              </a:rPr>
              <a:t>Generate Query</a:t>
            </a:r>
          </a:p>
          <a:p>
            <a:pPr marL="114300"/>
            <a:r>
              <a:rPr lang="en-US" sz="700" b="1" dirty="0">
                <a:solidFill>
                  <a:schemeClr val="tx1"/>
                </a:solidFill>
                <a:latin typeface="ui-sans-serif"/>
              </a:rPr>
              <a:t>What are the best deconvolution tools for </a:t>
            </a:r>
            <a:r>
              <a:rPr lang="en-US" sz="70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sz="700" b="1" dirty="0">
                <a:solidFill>
                  <a:schemeClr val="tx1"/>
                </a:solidFill>
                <a:latin typeface="ui-sans-serif"/>
              </a:rPr>
              <a:t> spot-based spatial transcriptomics data analysis?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9DA3B3-3946-63A7-506C-47989F26E65B}"/>
              </a:ext>
            </a:extLst>
          </p:cNvPr>
          <p:cNvSpPr txBox="1"/>
          <p:nvPr/>
        </p:nvSpPr>
        <p:spPr>
          <a:xfrm>
            <a:off x="6826062" y="11192361"/>
            <a:ext cx="2413445" cy="125675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45720" rIns="0" bIns="45720" rtlCol="0" anchor="ctr">
            <a:spAutoFit/>
          </a:bodyPr>
          <a:lstStyle/>
          <a:p>
            <a:pPr marL="57150">
              <a:spcAft>
                <a:spcPts val="500"/>
              </a:spcAft>
            </a:pPr>
            <a:r>
              <a:rPr lang="en-US" altLang="ko-KR" sz="650" b="1" dirty="0">
                <a:solidFill>
                  <a:schemeClr val="tx1"/>
                </a:solidFill>
                <a:latin typeface="ui-sans-serif"/>
              </a:rPr>
              <a:t>Generate Multiple Queries</a:t>
            </a:r>
            <a:endParaRPr lang="en-US" sz="650" b="1" dirty="0">
              <a:solidFill>
                <a:schemeClr val="tx1"/>
              </a:solidFill>
              <a:latin typeface="ui-sans-serif"/>
            </a:endParaRPr>
          </a:p>
          <a:p>
            <a:pPr marL="228600" indent="-114300">
              <a:buFont typeface="+mj-lt"/>
              <a:buAutoNum type="arabicPeriod"/>
            </a:pPr>
            <a:r>
              <a:rPr lang="en-US" sz="650" b="1" dirty="0">
                <a:solidFill>
                  <a:schemeClr val="tx1"/>
                </a:solidFill>
                <a:latin typeface="ui-sans-serif"/>
              </a:rPr>
              <a:t>Which deconvolution methods are most effective for analyzing </a:t>
            </a:r>
            <a:r>
              <a:rPr lang="en-US" sz="65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sz="650" b="1" dirty="0">
                <a:solidFill>
                  <a:schemeClr val="tx1"/>
                </a:solidFill>
                <a:latin typeface="ui-sans-serif"/>
              </a:rPr>
              <a:t> spot-based spatial transcriptomics data?</a:t>
            </a:r>
          </a:p>
          <a:p>
            <a:pPr marL="228600" indent="-114300">
              <a:buFont typeface="+mj-lt"/>
              <a:buAutoNum type="arabicPeriod"/>
            </a:pPr>
            <a:r>
              <a:rPr lang="en-US" sz="650" b="1" dirty="0">
                <a:solidFill>
                  <a:schemeClr val="tx1"/>
                </a:solidFill>
                <a:latin typeface="ui-sans-serif"/>
              </a:rPr>
              <a:t>Can you recommend top deconvolution tools suitable for                          </a:t>
            </a:r>
            <a:r>
              <a:rPr lang="en-US" sz="65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sz="650" b="1" dirty="0">
                <a:solidFill>
                  <a:schemeClr val="tx1"/>
                </a:solidFill>
                <a:latin typeface="ui-sans-serif"/>
              </a:rPr>
              <a:t> spatial transcriptomics spot data?</a:t>
            </a:r>
          </a:p>
          <a:p>
            <a:pPr marL="228600" indent="-114300">
              <a:buFont typeface="+mj-lt"/>
              <a:buAutoNum type="arabicPeriod"/>
            </a:pPr>
            <a:r>
              <a:rPr lang="en-US" sz="650" b="1" dirty="0">
                <a:solidFill>
                  <a:schemeClr val="tx1"/>
                </a:solidFill>
                <a:latin typeface="ui-sans-serif"/>
              </a:rPr>
              <a:t>What are the leading software options for deconvolution in                      </a:t>
            </a:r>
            <a:r>
              <a:rPr lang="en-US" sz="65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sz="650" b="1" dirty="0">
                <a:solidFill>
                  <a:schemeClr val="tx1"/>
                </a:solidFill>
                <a:latin typeface="ui-sans-serif"/>
              </a:rPr>
              <a:t> spot-based spatial transcriptomics?</a:t>
            </a:r>
          </a:p>
          <a:p>
            <a:pPr marL="228600" indent="-114300">
              <a:buFont typeface="+mj-lt"/>
              <a:buAutoNum type="arabicPeriod"/>
            </a:pPr>
            <a:r>
              <a:rPr lang="en-US" sz="650" b="1" dirty="0">
                <a:solidFill>
                  <a:schemeClr val="tx1"/>
                </a:solidFill>
                <a:latin typeface="ui-sans-serif"/>
              </a:rPr>
              <a:t>Which algorithms perform best for deconvolution of                                  </a:t>
            </a:r>
            <a:r>
              <a:rPr lang="en-US" sz="65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sz="650" b="1" dirty="0">
                <a:solidFill>
                  <a:schemeClr val="tx1"/>
                </a:solidFill>
                <a:latin typeface="ui-sans-serif"/>
              </a:rPr>
              <a:t> spatial transcriptomics spot data?</a:t>
            </a:r>
          </a:p>
          <a:p>
            <a:pPr marL="228600" indent="-114300">
              <a:buFont typeface="+mj-lt"/>
              <a:buAutoNum type="arabicPeriod"/>
            </a:pPr>
            <a:r>
              <a:rPr lang="en-US" sz="650" b="1" dirty="0">
                <a:solidFill>
                  <a:schemeClr val="tx1"/>
                </a:solidFill>
                <a:latin typeface="ui-sans-serif"/>
              </a:rPr>
              <a:t>What tools are commonly used for deconvolution in the analysis of </a:t>
            </a:r>
            <a:r>
              <a:rPr lang="en-US" sz="650" b="1" dirty="0" err="1">
                <a:solidFill>
                  <a:schemeClr val="tx1"/>
                </a:solidFill>
                <a:latin typeface="ui-sans-serif"/>
              </a:rPr>
              <a:t>Visium</a:t>
            </a:r>
            <a:r>
              <a:rPr lang="en-US" sz="650" b="1" dirty="0">
                <a:solidFill>
                  <a:schemeClr val="tx1"/>
                </a:solidFill>
                <a:latin typeface="ui-sans-serif"/>
              </a:rPr>
              <a:t> spot-based spatial transcriptomics datasets?</a:t>
            </a:r>
          </a:p>
        </p:txBody>
      </p:sp>
      <p:sp>
        <p:nvSpPr>
          <p:cNvPr id="3" name="Oval Callout 2">
            <a:extLst>
              <a:ext uri="{FF2B5EF4-FFF2-40B4-BE49-F238E27FC236}">
                <a16:creationId xmlns:a16="http://schemas.microsoft.com/office/drawing/2014/main" id="{7C06BC2D-75FB-AB3E-E137-D5F51AC580F8}"/>
              </a:ext>
            </a:extLst>
          </p:cNvPr>
          <p:cNvSpPr/>
          <p:nvPr/>
        </p:nvSpPr>
        <p:spPr>
          <a:xfrm>
            <a:off x="7144463" y="10183369"/>
            <a:ext cx="1246445" cy="307777"/>
          </a:xfrm>
          <a:prstGeom prst="wedgeEllipseCallout">
            <a:avLst>
              <a:gd name="adj1" fmla="val -57054"/>
              <a:gd name="adj2" fmla="val 2755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800" b="1" dirty="0">
                <a:solidFill>
                  <a:schemeClr val="tx1"/>
                </a:solidFill>
                <a:latin typeface="ui-sans-serif"/>
              </a:rPr>
              <a:t>3.reference</a:t>
            </a:r>
          </a:p>
        </p:txBody>
      </p:sp>
      <p:pic>
        <p:nvPicPr>
          <p:cNvPr id="10" name="Graphic 9" descr="User outline">
            <a:extLst>
              <a:ext uri="{FF2B5EF4-FFF2-40B4-BE49-F238E27FC236}">
                <a16:creationId xmlns:a16="http://schemas.microsoft.com/office/drawing/2014/main" id="{60BC700C-15BF-ADC6-3E52-FEEC15B84B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10827" y="5574206"/>
            <a:ext cx="536657" cy="536657"/>
          </a:xfrm>
          <a:prstGeom prst="rect">
            <a:avLst/>
          </a:prstGeom>
        </p:spPr>
      </p:pic>
      <p:pic>
        <p:nvPicPr>
          <p:cNvPr id="13" name="Graphic 12" descr="User outline">
            <a:extLst>
              <a:ext uri="{FF2B5EF4-FFF2-40B4-BE49-F238E27FC236}">
                <a16:creationId xmlns:a16="http://schemas.microsoft.com/office/drawing/2014/main" id="{762EBDCB-5FB4-06A9-5BA0-857AE1634A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10827" y="10100991"/>
            <a:ext cx="536657" cy="536657"/>
          </a:xfrm>
          <a:prstGeom prst="rect">
            <a:avLst/>
          </a:prstGeom>
        </p:spPr>
      </p:pic>
      <p:pic>
        <p:nvPicPr>
          <p:cNvPr id="6" name="Graphic 5" descr="Artificial Intelligence outline">
            <a:extLst>
              <a:ext uri="{FF2B5EF4-FFF2-40B4-BE49-F238E27FC236}">
                <a16:creationId xmlns:a16="http://schemas.microsoft.com/office/drawing/2014/main" id="{27D22578-B8FB-7C06-CF1C-505F146113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01061" y="6224206"/>
            <a:ext cx="417467" cy="41746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4181A1E-3269-2638-C576-72C49DD5AB76}"/>
              </a:ext>
            </a:extLst>
          </p:cNvPr>
          <p:cNvSpPr txBox="1"/>
          <p:nvPr/>
        </p:nvSpPr>
        <p:spPr>
          <a:xfrm>
            <a:off x="3710905" y="5354133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0A1407-3857-35D5-87CD-AFA6BE0A2D20}"/>
              </a:ext>
            </a:extLst>
          </p:cNvPr>
          <p:cNvSpPr txBox="1"/>
          <p:nvPr/>
        </p:nvSpPr>
        <p:spPr>
          <a:xfrm>
            <a:off x="9544482" y="535413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884BCB-8C82-81DD-0335-8D84FB7069BC}"/>
              </a:ext>
            </a:extLst>
          </p:cNvPr>
          <p:cNvSpPr txBox="1"/>
          <p:nvPr/>
        </p:nvSpPr>
        <p:spPr>
          <a:xfrm>
            <a:off x="6248819" y="5354133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0746AEB-DF01-17A0-7E7B-71B931DEC506}"/>
              </a:ext>
            </a:extLst>
          </p:cNvPr>
          <p:cNvSpPr txBox="1"/>
          <p:nvPr/>
        </p:nvSpPr>
        <p:spPr>
          <a:xfrm>
            <a:off x="6248819" y="10717658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pic>
        <p:nvPicPr>
          <p:cNvPr id="8" name="Picture 7" descr="A diagram of a process&#10;&#10;AI-generated content may be incorrect.">
            <a:extLst>
              <a:ext uri="{FF2B5EF4-FFF2-40B4-BE49-F238E27FC236}">
                <a16:creationId xmlns:a16="http://schemas.microsoft.com/office/drawing/2014/main" id="{EE4981D0-333C-BB85-72F1-E8D33B27B0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9231" y="6110862"/>
            <a:ext cx="4501098" cy="6246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480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06220-3D9B-8608-6988-5D18409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diagram&#10;&#10;AI-generated content may be incorrect.">
            <a:extLst>
              <a:ext uri="{FF2B5EF4-FFF2-40B4-BE49-F238E27FC236}">
                <a16:creationId xmlns:a16="http://schemas.microsoft.com/office/drawing/2014/main" id="{BCB90428-2C8C-BDD1-B4C2-D9B529450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7531" y="5627335"/>
            <a:ext cx="4934052" cy="70989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B1E9D25-7371-C2CC-59CA-01AF46CE3588}"/>
              </a:ext>
            </a:extLst>
          </p:cNvPr>
          <p:cNvSpPr txBox="1"/>
          <p:nvPr/>
        </p:nvSpPr>
        <p:spPr>
          <a:xfrm>
            <a:off x="16566776" y="12711953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s2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7F6849-2128-A4E5-53C4-5A872DE403DE}"/>
              </a:ext>
            </a:extLst>
          </p:cNvPr>
          <p:cNvSpPr/>
          <p:nvPr/>
        </p:nvSpPr>
        <p:spPr>
          <a:xfrm>
            <a:off x="9177449" y="5968829"/>
            <a:ext cx="4820284" cy="22146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Sc reference selector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5B4834B-D9B0-1CEF-706C-D65A2FB54EE9}"/>
              </a:ext>
            </a:extLst>
          </p:cNvPr>
          <p:cNvSpPr txBox="1"/>
          <p:nvPr/>
        </p:nvSpPr>
        <p:spPr>
          <a:xfrm>
            <a:off x="5003678" y="5442669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B2912D9-8E1D-480C-1819-7390351E7F4C}"/>
              </a:ext>
            </a:extLst>
          </p:cNvPr>
          <p:cNvSpPr txBox="1"/>
          <p:nvPr/>
        </p:nvSpPr>
        <p:spPr>
          <a:xfrm>
            <a:off x="8797473" y="8430868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615DF0-973C-FF18-E512-6A3CCD3D522A}"/>
              </a:ext>
            </a:extLst>
          </p:cNvPr>
          <p:cNvSpPr txBox="1"/>
          <p:nvPr/>
        </p:nvSpPr>
        <p:spPr>
          <a:xfrm>
            <a:off x="8807892" y="5442669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33D61F-02C9-F25A-B699-869F92B62239}"/>
              </a:ext>
            </a:extLst>
          </p:cNvPr>
          <p:cNvSpPr/>
          <p:nvPr/>
        </p:nvSpPr>
        <p:spPr>
          <a:xfrm>
            <a:off x="9426101" y="10511707"/>
            <a:ext cx="4820284" cy="22146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Rmcpagnet</a:t>
            </a:r>
            <a:r>
              <a:rPr lang="en-US" dirty="0"/>
              <a:t> </a:t>
            </a:r>
            <a:r>
              <a:rPr lang="ko-KR" altLang="en-US" dirty="0"/>
              <a:t>실제결과 </a:t>
            </a:r>
            <a:endParaRPr lang="en-US" altLang="ko-KR" dirty="0"/>
          </a:p>
          <a:p>
            <a:pPr algn="ctr"/>
            <a:r>
              <a:rPr lang="en-US" dirty="0"/>
              <a:t>CARD </a:t>
            </a:r>
            <a:r>
              <a:rPr lang="ko-KR" altLang="en-US" dirty="0"/>
              <a:t>결과 추가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8322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C911D-E700-FF75-7459-140FC83A5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27B96F-3DD3-D133-D5DE-C29769BF721D}"/>
              </a:ext>
            </a:extLst>
          </p:cNvPr>
          <p:cNvSpPr txBox="1"/>
          <p:nvPr/>
        </p:nvSpPr>
        <p:spPr>
          <a:xfrm>
            <a:off x="16566777" y="12711953"/>
            <a:ext cx="835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</a:t>
            </a:r>
            <a:r>
              <a:rPr lang="en-US" altLang="ko-KR" dirty="0"/>
              <a:t>S1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770C85-5A06-F684-8A08-2CF0C38A3585}"/>
              </a:ext>
            </a:extLst>
          </p:cNvPr>
          <p:cNvSpPr txBox="1"/>
          <p:nvPr/>
        </p:nvSpPr>
        <p:spPr>
          <a:xfrm>
            <a:off x="7472709" y="8721180"/>
            <a:ext cx="334258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/>
              <a:t>Agentic RAG</a:t>
            </a:r>
          </a:p>
          <a:p>
            <a:pPr algn="ctr"/>
            <a:r>
              <a:rPr lang="en-US" sz="4400" b="1" dirty="0"/>
              <a:t>flow</a:t>
            </a:r>
          </a:p>
        </p:txBody>
      </p:sp>
    </p:spTree>
    <p:extLst>
      <p:ext uri="{BB962C8B-B14F-4D97-AF65-F5344CB8AC3E}">
        <p14:creationId xmlns:p14="http://schemas.microsoft.com/office/powerpoint/2010/main" val="772645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D0976-9199-9C83-181E-24CDAD98F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A820E5-96E0-BA94-E212-4CD0D666A9C1}"/>
              </a:ext>
            </a:extLst>
          </p:cNvPr>
          <p:cNvSpPr txBox="1"/>
          <p:nvPr/>
        </p:nvSpPr>
        <p:spPr>
          <a:xfrm>
            <a:off x="16566777" y="12711953"/>
            <a:ext cx="835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</a:t>
            </a:r>
            <a:r>
              <a:rPr lang="en-US" altLang="ko-KR" dirty="0"/>
              <a:t>S2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BF4C17-8DA2-717F-F0D2-15F3E8AD08B8}"/>
              </a:ext>
            </a:extLst>
          </p:cNvPr>
          <p:cNvSpPr txBox="1"/>
          <p:nvPr/>
        </p:nvSpPr>
        <p:spPr>
          <a:xfrm>
            <a:off x="7524010" y="8721180"/>
            <a:ext cx="323999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 err="1"/>
              <a:t>Rmcpagnet</a:t>
            </a:r>
            <a:r>
              <a:rPr lang="en-US" sz="4400" b="1" dirty="0"/>
              <a:t> </a:t>
            </a:r>
          </a:p>
          <a:p>
            <a:pPr algn="ctr"/>
            <a:r>
              <a:rPr lang="ko-KR" altLang="en-US" sz="4400" b="1" dirty="0"/>
              <a:t>디테일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1669769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7BCFC-B551-687B-9645-5E64A4EAF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22C6A6-3CB1-4163-CEB7-2D736D7873FD}"/>
              </a:ext>
            </a:extLst>
          </p:cNvPr>
          <p:cNvSpPr txBox="1"/>
          <p:nvPr/>
        </p:nvSpPr>
        <p:spPr>
          <a:xfrm>
            <a:off x="16566777" y="12711953"/>
            <a:ext cx="835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Fig. </a:t>
            </a:r>
            <a:r>
              <a:rPr lang="en-US" altLang="ko-KR" dirty="0"/>
              <a:t>S2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6FD7D2-E877-C11E-F230-BC70BB5098E3}"/>
              </a:ext>
            </a:extLst>
          </p:cNvPr>
          <p:cNvSpPr txBox="1"/>
          <p:nvPr/>
        </p:nvSpPr>
        <p:spPr>
          <a:xfrm>
            <a:off x="6726514" y="8721180"/>
            <a:ext cx="483497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/>
              <a:t>Dynamic</a:t>
            </a:r>
            <a:r>
              <a:rPr lang="ko-KR" altLang="en-US" sz="4400" b="1" dirty="0"/>
              <a:t> 논문검색</a:t>
            </a:r>
            <a:br>
              <a:rPr lang="en-US" sz="4400" b="1" dirty="0"/>
            </a:br>
            <a:r>
              <a:rPr lang="ko-KR" altLang="en-US" sz="4400" b="1" dirty="0"/>
              <a:t>검색 디테일</a:t>
            </a: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3273524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11119</TotalTime>
  <Words>1737</Words>
  <Application>Microsoft Macintosh PowerPoint</Application>
  <PresentationFormat>Custom</PresentationFormat>
  <Paragraphs>217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ui-sans-serif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Junghyun Jung</dc:creator>
  <cp:lastModifiedBy>Junghyun Jung</cp:lastModifiedBy>
  <cp:revision>103</cp:revision>
  <dcterms:created xsi:type="dcterms:W3CDTF">2025-12-16T12:54:14Z</dcterms:created>
  <dcterms:modified xsi:type="dcterms:W3CDTF">2026-03-17T08:44:21Z</dcterms:modified>
</cp:coreProperties>
</file>